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59.svg" ContentType="image/svg+xml"/>
  <Override PartName="/ppt/media/image78.svg" ContentType="image/svg+xml"/>
  <Override PartName="/ppt/media/image79.svg" ContentType="image/svg+xml"/>
  <Override PartName="/ppt/media/image80.svg" ContentType="image/svg+xml"/>
  <Override PartName="/ppt/media/image81.svg" ContentType="image/svg+xml"/>
  <Override PartName="/ppt/media/image86.svg" ContentType="image/svg+xml"/>
  <Override PartName="/ppt/media/image88.svg" ContentType="image/svg+xml"/>
  <Override PartName="/ppt/media/image9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82" r:id="rId14"/>
    <p:sldId id="283" r:id="rId15"/>
    <p:sldId id="284" r:id="rId16"/>
    <p:sldId id="267" r:id="rId17"/>
    <p:sldId id="266" r:id="rId18"/>
    <p:sldId id="331" r:id="rId19"/>
    <p:sldId id="269" r:id="rId20"/>
    <p:sldId id="270" r:id="rId21"/>
    <p:sldId id="332" r:id="rId22"/>
    <p:sldId id="271" r:id="rId23"/>
    <p:sldId id="329" r:id="rId24"/>
    <p:sldId id="333" r:id="rId25"/>
    <p:sldId id="334" r:id="rId26"/>
    <p:sldId id="335" r:id="rId27"/>
    <p:sldId id="338" r:id="rId28"/>
    <p:sldId id="303" r:id="rId29"/>
    <p:sldId id="272" r:id="rId30"/>
    <p:sldId id="273" r:id="rId31"/>
    <p:sldId id="274" r:id="rId32"/>
    <p:sldId id="275" r:id="rId33"/>
    <p:sldId id="276" r:id="rId34"/>
    <p:sldId id="277" r:id="rId35"/>
    <p:sldId id="278" r:id="rId36"/>
    <p:sldId id="279" r:id="rId37"/>
    <p:sldId id="280" r:id="rId38"/>
    <p:sldId id="341" r:id="rId39"/>
    <p:sldId id="342" r:id="rId40"/>
    <p:sldId id="281" r:id="rId41"/>
    <p:sldId id="285" r:id="rId42"/>
  </p:sldIdLst>
  <p:sldSz cx="9144000" cy="5143500" type="screen16x9"/>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64" userDrawn="1">
          <p15:clr>
            <a:srgbClr val="747775"/>
          </p15:clr>
        </p15:guide>
        <p15:guide id="2" pos="2773"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p:scale>
          <a:sx n="120" d="100"/>
          <a:sy n="120" d="100"/>
        </p:scale>
        <p:origin x="124" y="376"/>
      </p:cViewPr>
      <p:guideLst>
        <p:guide orient="horz" pos="1664"/>
        <p:guide pos="277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Hello everyone, today I'm excited to present our work titled "Federated Feature Selection with False Discovery Rate Control." This paper has been accepted for publication in the Journal of the Royal Statistical Society Series B, a leading journal in statistical methodology. Our research addresses a critical challenge in modern data science: how to perform effective feature selection across multiple institutions while strictly protecting data privacy and controlling the false discovery rate.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Let's start with the research background. Multi-center data holds immense value for scientific discovery, but it's often trapped in "data silos" due to privacy concerns. This creates a core problem: how to extract meaningful insights without sharing sensitive raw data? Existing methods either risk privacy or lack statistical rigor. Our study introduces Fed-FDR, a new method that breaks this deadlock. Theoretically, we propose a generalized mirror statistic for FDR control. Methodologically, we design an efficient feature support exchange mechanism. Practically, our method is robust to data heterogeneity and easy to implement.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Our work is built upon a federated high-dimensional GLM framework. We assume data is distributed across K sites, and our goal is to find the common set of important features.</a:t>
            </a:r>
            <a:endParaRPr lang="en-US" sz="1400" b="0" i="0" u="none" strike="noStrike">
              <a:solidFill>
                <a:srgbClr val="000000"/>
              </a:solidFill>
            </a:endParaRPr>
          </a:p>
          <a:p>
            <a:pPr indent="0" algn="l">
              <a:lnSpc>
                <a:spcPct val="100000"/>
              </a:lnSpc>
            </a:pPr>
            <a:r>
              <a:rPr lang="en-US" sz="1400" b="0" i="0" u="none" strike="noStrike">
                <a:solidFill>
                  <a:srgbClr val="000000"/>
                </a:solidFill>
              </a:rPr>
              <a:t>A key innovation is our heterogeneity assumption. Unlike traditional federated learning that assumes all sites have identical parameters, we relax this to allow for varying effect sizes across sites. This is crucial because real-world data from different hospitals or institutions is never perfectly homogeneous.</a:t>
            </a:r>
            <a:endParaRPr lang="en-US" sz="1400" b="0" i="0" u="none" strike="noStrike">
              <a:solidFill>
                <a:srgbClr val="000000"/>
              </a:solidFill>
            </a:endParaRPr>
          </a:p>
          <a:p>
            <a:pPr indent="0" algn="l">
              <a:lnSpc>
                <a:spcPct val="100000"/>
              </a:lnSpc>
            </a:pPr>
            <a:r>
              <a:rPr lang="en-US" sz="1400" b="0" i="0" u="none" strike="noStrike">
                <a:solidFill>
                  <a:srgbClr val="000000"/>
                </a:solidFill>
              </a:rPr>
              <a:t>This setting ensures that while effects may differ in strength, we are still identifying a core set of features that are relevant across all sites.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Our research objectives are clear and dual-faceted. We aim to maximize statistical power, which means identifying as many true signals as possible, while simultaneously controlling the False Discovery Rate (FDR), ensuring we don't make too many mistakes. This is a classic trade-off in statistics. Traditional methods often fail to balance both effectively. The core breakthrough of our work is the Generalized Mirror Statistic, which for the first time in a federated setting, achieves both strict FDR control and high statistical power, solving this fundamental dilemma.</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Our work builds upon the Mirror Statistic proposed by Dai et al. in 2023. This framework relies on two key properties: relevance and symmetry under the null hypothesis. The general form combines two independent estimates for each feature. While powerful, the original mirror statistic has two major limitations: it's designed for a single center and assumes data homogeneity. These limitations make it unsuitable for real-world multi-center federated learning scenarios, which is exactly the gap our work aims to fill.</a:t>
            </a:r>
            <a:endParaRPr 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We identified two main problems. First, in high-dimensional settings, Lasso introduces bias that breaks the normality assumption required for the mirror statistic. To fix this, we use a desparsified Lasso technique. Second, the original mirror statistic cannot handle the inherent heterogeneity and data isolation of federated learning. To address this, we propose a Generalized Mirror Statistic and a novel cross-site feature support exchange mechanism, which we will detail next.</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Here is the definition of our Generalized Mirror Statistic. It has two parts: a sign component and a fusion component. The sign component leverages the natural independence between different sites to ensure the crucial symmetry property for null features. The fusion component combines information from different sites, allowing us to handle heterogeneity. We choose a simple sum function for optimal performance. Critically, our method only exchanges model coefficients, not raw data, ensuring full compliance with privacy regulations.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To implement our method, we use the desparsified Lasso. Lasso is a standard tool for high-dimensional feature selection, but it introduces bias. The desparsified Lasso corrects this bias, restoring the normality needed for our mirror statistic. However, applying this in a federated setting presents new challenges: infeasible computation, loss of sparsity, and high communication costs. Our solution is a novel cross-site feature support exchange mechanism, which we will explain next, designed to overcome all three problems simultaneously.</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This slide illustrates our core algorithm, the cross-site local exchange, or "swap strategy." The key idea is simple yet powerful: each site uses features selected by other sites to perform its debiasing step. This cleverly separates the selection and inference steps, solving the statistical validity problem. As a side benefit, it drastically reduces both computational complexity and communication costs. Instead of dealing with the full high-dimensional space, we work in a much smaller space defined by the union of features selected across all sites.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This slide illustrates our core algorithm, the cross-site local exchange, or "swap strategy." The key idea is simple yet powerful: each site uses features selected by other sites to perform its debiasing step. This cleverly separates the selection and inference steps, solving the statistical validity problem. As a side benefit, it drastically reduces both computational complexity and communication costs. Instead of dealing with the full high-dimensional space, we work in a much smaller space defined by the union of features selected across all sites.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This slide illustrates our core algorithm, the cross-site local exchange, or "swap strategy." The key idea is simple yet powerful: each site uses features selected by other sites to perform its debiasing step. This cleverly separates the selection and inference steps, solving the statistical validity problem. As a side benefit, it drastically reduces both computational complexity and communication costs. Instead of dealing with the full high-dimensional space, we work in a much smaller space defined by the union of features selected across all sites.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This slide illustrates our core algorithm, the cross-site local exchange, or "swap strategy." The key idea is simple yet powerful: each site uses features selected by other sites to perform its debiasing step. This cleverly separates the selection and inference steps, solving the statistical validity problem. As a side benefit, it drastically reduces both computational complexity and communication costs. Instead of dealing with the full high-dimensional space, we work in a much smaller space defined by the union of features selected across all sites.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Let's recap the benefits of our swap strategy. First, it solves the fundamental statistical problem of selection bias by ensuring independence between the features used for selection and inference.</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Second, it drastically reduces computational complexity by working in a low-dimensional space, making the algorithm feasible even for very high p.</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Third, it minimizes communication costs by only sharing a small set of feature indices and coefficients, which is crucial for real-world deployment.</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8000"/>
              </a:lnSpc>
            </a:pPr>
            <a:r>
              <a:rPr lang="en-US" sz="1100" b="0" i="0" u="none" strike="noStrike">
                <a:solidFill>
                  <a:srgbClr val="000000"/>
                </a:solidFill>
                <a:latin typeface="Calibri" panose="020F0502020204030204"/>
                <a:ea typeface="Calibri" panose="020F0502020204030204"/>
                <a:cs typeface="Calibri" panose="020F0502020204030204"/>
                <a:sym typeface="Calibri" panose="020F0502020204030204"/>
              </a:rPr>
              <a:t>To prove the theoretical guarantees of our method, we rely on several standard assumptions. A2 ensures covariates are well-behaved. A3 ensures the mathematical operations in debiasing are valid. A4 is a regularity condition on the GLM link function. Finally, A5 is a sparsity condition, which is standard in high-dimensional statistics, ensuring that the true signals are strong enough to be detected by the initial Lasso step. These assumptions are mild and commonly used in the literature.</a:t>
            </a:r>
            <a:endParaRPr lang="en-US" sz="11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接下来我们看第一个核心命题，它回答了一个最基础的问题：我们第一步用Lasso做本地初筛，靠不靠谱？这个命题告诉我们两件事：第一，Lasso几乎不会漏掉任何真正相关的特征；第二，它也不会选出太多没用的噪声，选出的总数大概是真实特征数的几倍。这就为我们后面把高维问题降成低维问题打下了基础。</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Proposition 3 is the key to the validity of our entire method. It proves that our debiased estimates are asymptotically normal. This is essential because the mirror statistic relies on the symmetry of the null distribution around zero, which is a property of the normal distribution. This proposition provides the mathematical guarantee that our FDR control is valid. Additionally, it confirms the computational efficiency of our approach, as we only need to invert a low-dimensional matrix.</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Algorithm 1 describes the final aggregation step performed at the central server. It takes the debiased estimates from all sites as input. For every pair of sites, it calculates the generalized mirror statistic and determines a threshold to control FDR for that pair. It then calculates an "inclusion rate" for each feature, representing how often it was selected across all pairs. Finally, it uses this inclusion rate to select the final set of features that controls the overall FDR across all sites. This multi-pair aggregation strategy enhances the robustness and power of the final result.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Algorithm 1 describes the final aggregation step performed at the central server. It takes the debiased estimates from all sites as input. For every pair of sites, it calculates the generalized mirror statistic and determines a threshold to control FDR for that pair. It then calculates an "inclusion rate" for each feature, representing how often it was selected across all pairs. Finally, it uses this inclusion rate to select the final set of features that controls the overall FDR across all sites. This multi-pair aggregation strategy enhances the robustness and power of the final result.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The inclusion rate is a key concept in our aggregation step. It serves three main purposes: it smooths out random fluctuations from individual pairwise comparisons, it provides a clear measure to distinguish true signals from noise, and it allows us to apply a global FDR control criterion. The calculation involves counting how often each feature is selected across all pairs of sites and normalizing this count. Our theoretical guarantee (Proposition 1) ensures that this procedure achieves the desired FDR control and high power.</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一页是Fed-FDR能控全局FDR的理论核心。我们只需要两个条件：第一，零特征的系数估计关于0对称，这让我们能精准估算假阳性；第二，镜像统计量弱相关，避免假阳性扎堆。满足这两个条件，命题1就严格证明了：不管是单组站点配对，还是最终的全局纳入率截断，最终的错误发现率都会被控制在预设的α以内，这就是我们方法统计严谨性的根本保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就是我们整个论文最核心的主定理，它把前面所有的假设和命题都串起来了。它告诉我们：Fed-FDR这个方法，在理论上是完全站得住脚的。第一，它能严格控制假发现率，不会选出一堆假阳性特征；第二，它的统计功效会随着样本量增加趋近于1，也就是说几乎能找出所有真正相关的特征。这就解决了传统联邦方法要么控不住FDR，要么功效太低的两难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一页我们讨论一个非常现实的问题：如果不同医院的相关特征不完全一样，我们的方法还能用吗？首先我们定义两个概念：交集是所有医院都认可的共性特征，也是最稳健的核心信号；并集是所有可能相关的特征，包含了所有潜在信号。我们的方法可以灵活适配这两个不同的研究目标，但性能会有不同的变化。如果你想找最稳健的共性特征，那么我们的方法能保证100%找出这些特征，不会漏掉任何一个，只是假阳性会稍微增加一点；如果你想找出所有可能相关的风险因素，不想漏掉任何潜在信号，那么我们的方法依然能严格控制假阳性，只是会漏掉一些只在一两个医院出现的极弱信号。为什么会这样呢？这是因为我们是基于纳入率排序的。共性特征在几乎所有站点对都会被选中，纳入率接近1，所以肯定会排在最前面；而零特征的纳入率接近0，排在最后面；中间的就是那些只在部分站点出现的特有特征。所以不同的截断点，就对应了不同的研究目标和性能权衡。而且Fed-FDR在这个场景下有三个核心优势：第一，你不需要预先知道数据的异质性程度，方法会自动适配；第二，我们提供了明确的性能边界，结果是可解释、可验证的；第三，你只需要运行一次算法，就可以通过调整截断点，灵活切换两个不同的研究目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就是我们的定理2，我先给大家念一下论文里的完整表述：存在一个由所有站点的支持集和我们预设的FDR水平α共同决定的常数N*，它介于共性支持集的大小和全局支持集的大小之间。接下来我们分两个目标来看。如果你的目标是找出所有医院都认可的最稳健的共性特征，那么定理2告诉你：你的功效是100%，也就是说你绝对不会漏掉任何一个共性特征；而FDR等于零特征带来的基础FDRα，加上一个特有特征带来的额外FDR。这个额外FDR非常小，完全由异质性程度决定。如果你的目标是找出所有可能相关的特征，不想漏掉任何潜在的科学发现，那么定理2告诉你：你的FDR依然会严格控制在α以内，绝对不会出现假阳性泛滥的情况；只是功效会有一个小幅的损失，这个损失也完全由异质性程度决定，只会漏掉那些只在一两个医院出现的极弱信号。</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讨论另一个更贴近现实的挑战：模型误设。我们在做分析时，通常会假设数据服从某个完美的统计模型，比如广义线性模型GLM。但真实世界的数据往往是“脏乱差”的，可能存在异常值，或者真实的关系并非线性。很多传统方法在这种情况下就会失效，导致假阳性率飙升。那么，我们的Fed-FDR方法在面对模型误设时，是否依然稳健？这是我们这一部分要回答的核心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到这里，我们已经把Fed-FDR的算法设计、理论支撑全部介绍完了。接下来，我们进入实证验证部分，看看我们的方法在实际场景中，是不是真的能达到理论上的预期效果。我们的实证分为两大部分：第一部分是受控的仿真实验，我们在不同的参数设置下，量化对比Fed-FDR和各类基准方法的性能；第二部分是真实的临床数据应用，我们用34个临床站点的儿童新冠后遗症数据，验证方法的实际落地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To validate our method, we designed comprehensive experiments. We compared Fed-FDR against several baselines, including the centralized gold standard (BHq), a common meta-analysis approach (Meta-BHq), and a naive federated implementation (Fed-FDR-N). We also tested a variant with a different screening method (Fed-FDR-SCAD). Our evaluation focused on two key metrics: empirical FDR and statistical power. We generated data using a high-dimensional logistic regression model and systematically varied parameters like signal strength and correlation. All results are averaged over 50 repetitions to ensure robustness.</a:t>
            </a:r>
            <a:endParaRPr lang="en-US" sz="1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Our first simulation study examines performance as signal strength varies. The results are clear. First, all methods control FDR well, but Fed-FDR's FDR is nearly identical to the gold standard. Second, in terms of power, Fed-FDR is the clear leader among all federated methods and almost matches the centralized BHq. This advantage is most pronounced for weaker signals. The other methods show clear drawbacks: Fed-FDR-N is computationally expensive, Meta-BHq is too conservative, and Fed-FDR-SCAD struggles with weak signals.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Next, we tested performance under varying levels of feature correlation, a common challenge in real data. The results highlight the robustness of Fed-FDR. While other methods' FDR control starts to slip with high collinearity, Fed-FDR's FDR remains rock-solid. In terms of power, although all methods decline with increasing correlation, Fed-FDR maintains a significant lead over its competitors. This demonstrates that Fed-FDR is well-suited for the complex, correlated data found in real clinical settings.</a:t>
            </a:r>
            <a:endPar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We further investigated the impact of sample size, number of sites, and feature sparsity. The results consistently show that Fed-FDR maintains robust FDR control across all scenarios. Its power improves significantly with more samples and more sites, which is exactly what we expect from a federated method—it gets better as more data is added. This confirms that Fed-FDR is not just a theoretical construct but a practical and reliable tool for real-world multi-center studies.</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Beyond performance, we also verified two practical aspects: tuning robustness and communication cost. Our method is highly robust to the choice of tuning parameters, meaning users don't need to spend hours fine-tuning to get good results. More importantly, our communication cost is dramatically lower than traditional methods. In a typical high-dimensional scenario, Fed-FDR reduces communication by over 99%, transmitting only 0.5% of the data volume. This makes it not only effective but also extremely efficient and practical for real-world deployment.</a:t>
            </a:r>
            <a:endParaRPr lang="en-US" sz="14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To demonstrate real-world applicability, we applied Fed-FDR to a critical problem: identifying risk factors for pediatric long COVID (PASC). The setting perfectly illustrates the challenges of multi-center research: 34 sites with sensitive EHR data that cannot be shared. Our goal was to identify common risk factors across all sites without compromising privacy. We used a realistic dataset with 3990 children and 243 candidate features, focusing on allergic-related PASC as the outcome, with an FDR control level of 0.1.</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The results from the real data application are compelling. The centralized gold standard identified 8 significant features. Our Fed-FDR method identified 4 of these 8 features, and crucially, it had zero false positives. In contrast, other federated methods included several false positive features. The four features identified by Fed-FDR—obesity, allergies, asthma, and entry month—are all well-established risk factors for PASC in adults, demonstrating the clinical validity of our findings.</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We also evaluated the predictive performance using AUC. The gold standard achieved an AUC of 0.779. Fed-FDR achieved an AUC of 0.763, which is almost identical, despite using only 4 features and operating under strict privacy constraints. Other federated methods performed noticeably worse. This demonstrates the core clinical value of our approach: we can achieve results comparable to centralized analysis while fully protecting patient privacy, producing reliable and meaningful clinical insights.</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Let's summarize the empirical part. Our extensive simulations and real data application lead to four key conclusions. First, Fed-FDR provides stable and reliable FDR control. Second, it offers the highest statistical power among all federated methods tested. Third, it is highly practical, being robust to tuning and extremely efficient in terms of communication. Finally, and most importantly, it delivers clear clinical value by producing reliable, meaningful results in a real-world, privacy-preserving setting.</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To summarize our work, I'd like to highlight the three core technical innovations of Fed-FDR. First, we proposed the Generalized Mirror Statistic, which allows us to control FDR in a distributed manner. Second, our Inter-site Feature Exchange mechanism ensures privacy and efficiency by only sharing a minimal amount of information. Third, the Inclusion Rate Weighted Aggregation strategy provides an adaptive way to balance FDR and power, making the method robust to different levels of data heterogeneity. Together, these innovations are supported by a solid theoretical foundation.</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In conclusion, Fed-FDR stands out for its three key advantages: it is heterogeneity-adaptive, robust to model misspecification, and statistically rigorous. The key takeaway is that Fed-FDR offers a unified framework that is privacy-safe, statistically reliable, and computationally efficient, effectively bridging the gap between data privacy and rigorous analysis. Looking ahead, we plan to extend this work to vertical federated learning and nonlinear models. This method has broad applications in multi-center medical research, biomarker discovery, and beyond.</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Thank you for your attention. I am happy to take any questions.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Let's recap the benefits of our swap strategy. First, it solves the fundamental statistical problem of selection bias by ensuring independence between the features used for selection and inference.</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Second, it drastically reduces computational complexity by working in a low-dimensional space, making the algorithm feasible even for very high p.</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Third, it minimizes communication costs by only sharing a small set of feature indices and coefficients, which is crucial for real-world deployment.</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0" Type="http://schemas.openxmlformats.org/officeDocument/2006/relationships/notesSlide" Target="../notesSlides/notesSlide3.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2.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8" Type="http://schemas.openxmlformats.org/officeDocument/2006/relationships/notesSlide" Target="../notesSlides/notesSlide6.xml"/><Relationship Id="rId17" Type="http://schemas.openxmlformats.org/officeDocument/2006/relationships/slideLayout" Target="../slideLayouts/slideLayout12.xml"/><Relationship Id="rId16" Type="http://schemas.openxmlformats.org/officeDocument/2006/relationships/tags" Target="../tags/tag14.xml"/><Relationship Id="rId15" Type="http://schemas.openxmlformats.org/officeDocument/2006/relationships/image" Target="../media/image18.png"/><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12.xml"/><Relationship Id="rId7" Type="http://schemas.openxmlformats.org/officeDocument/2006/relationships/image" Target="../media/image24.png"/><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12.xml"/><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2.xml"/><Relationship Id="rId3" Type="http://schemas.openxmlformats.org/officeDocument/2006/relationships/image" Target="../media/image30.png"/><Relationship Id="rId2" Type="http://schemas.openxmlformats.org/officeDocument/2006/relationships/image" Target="../media/image2.jpeg"/><Relationship Id="rId1" Type="http://schemas.openxmlformats.org/officeDocument/2006/relationships/image" Target="../media/image29.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2.xml"/><Relationship Id="rId4" Type="http://schemas.openxmlformats.org/officeDocument/2006/relationships/image" Target="../media/image29.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2.xml"/><Relationship Id="rId3" Type="http://schemas.openxmlformats.org/officeDocument/2006/relationships/image" Target="../media/image33.png"/><Relationship Id="rId2" Type="http://schemas.openxmlformats.org/officeDocument/2006/relationships/image" Target="../media/image29.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2.xml"/><Relationship Id="rId3"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2.xml"/><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44.png"/><Relationship Id="rId7" Type="http://schemas.openxmlformats.org/officeDocument/2006/relationships/image" Target="../media/image43.png"/><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image" Target="../media/image38.png"/><Relationship Id="rId10" Type="http://schemas.openxmlformats.org/officeDocument/2006/relationships/notesSlide" Target="../notesSlides/notesSlide15.xml"/><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2.xml"/><Relationship Id="rId2" Type="http://schemas.openxmlformats.org/officeDocument/2006/relationships/image" Target="../media/image45.png"/><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2.xml"/><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2.xml"/><Relationship Id="rId3" Type="http://schemas.openxmlformats.org/officeDocument/2006/relationships/image" Target="../media/image48.png"/><Relationship Id="rId2" Type="http://schemas.openxmlformats.org/officeDocument/2006/relationships/image" Target="../media/image46.png"/><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55.png"/><Relationship Id="rId7" Type="http://schemas.openxmlformats.org/officeDocument/2006/relationships/image" Target="../media/image54.png"/><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0" Type="http://schemas.openxmlformats.org/officeDocument/2006/relationships/notesSlide" Target="../notesSlides/notesSlide19.xml"/><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61.png"/><Relationship Id="rId7" Type="http://schemas.openxmlformats.org/officeDocument/2006/relationships/image" Target="../media/image60.png"/><Relationship Id="rId6" Type="http://schemas.openxmlformats.org/officeDocument/2006/relationships/image" Target="../media/image59.svg"/><Relationship Id="rId5" Type="http://schemas.openxmlformats.org/officeDocument/2006/relationships/image" Target="../media/image18.png"/><Relationship Id="rId4" Type="http://schemas.openxmlformats.org/officeDocument/2006/relationships/image" Target="../media/image58.png"/><Relationship Id="rId3" Type="http://schemas.openxmlformats.org/officeDocument/2006/relationships/image" Target="../media/image57.png"/><Relationship Id="rId2" Type="http://schemas.openxmlformats.org/officeDocument/2006/relationships/image" Target="../media/image56.png"/><Relationship Id="rId10" Type="http://schemas.openxmlformats.org/officeDocument/2006/relationships/notesSlide" Target="../notesSlides/notesSlide20.xml"/><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12.xml"/><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12.xml"/><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image" Target="../media/image2.jpeg"/></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slideLayout" Target="../slideLayouts/slideLayout12.xml"/><Relationship Id="rId5" Type="http://schemas.openxmlformats.org/officeDocument/2006/relationships/image" Target="../media/image69.png"/><Relationship Id="rId4" Type="http://schemas.openxmlformats.org/officeDocument/2006/relationships/image" Target="../media/image68.png"/><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image" Target="../media/image2.jpeg"/></Relationships>
</file>

<file path=ppt/slides/_rels/slide24.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image" Target="../media/image70.png"/><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5" Type="http://schemas.openxmlformats.org/officeDocument/2006/relationships/notesSlide" Target="../notesSlides/notesSlide24.xml"/><Relationship Id="rId24" Type="http://schemas.openxmlformats.org/officeDocument/2006/relationships/slideLayout" Target="../slideLayouts/slideLayout12.xml"/><Relationship Id="rId23" Type="http://schemas.openxmlformats.org/officeDocument/2006/relationships/image" Target="../media/image72.png"/><Relationship Id="rId22" Type="http://schemas.openxmlformats.org/officeDocument/2006/relationships/tags" Target="../tags/tag32.xml"/><Relationship Id="rId21" Type="http://schemas.openxmlformats.org/officeDocument/2006/relationships/tags" Target="../tags/tag31.xml"/><Relationship Id="rId20" Type="http://schemas.openxmlformats.org/officeDocument/2006/relationships/tags" Target="../tags/tag30.xml"/><Relationship Id="rId2" Type="http://schemas.openxmlformats.org/officeDocument/2006/relationships/tags" Target="../tags/tag15.xml"/><Relationship Id="rId19" Type="http://schemas.openxmlformats.org/officeDocument/2006/relationships/tags" Target="../tags/tag29.xml"/><Relationship Id="rId18" Type="http://schemas.openxmlformats.org/officeDocument/2006/relationships/tags" Target="../tags/tag28.xml"/><Relationship Id="rId17" Type="http://schemas.openxmlformats.org/officeDocument/2006/relationships/image" Target="../media/image18.png"/><Relationship Id="rId16" Type="http://schemas.openxmlformats.org/officeDocument/2006/relationships/image" Target="../media/image71.png"/><Relationship Id="rId15" Type="http://schemas.openxmlformats.org/officeDocument/2006/relationships/tags" Target="../tags/tag27.xml"/><Relationship Id="rId14" Type="http://schemas.openxmlformats.org/officeDocument/2006/relationships/tags" Target="../tags/tag26.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tags" Target="../tags/tag22.xml"/><Relationship Id="rId1" Type="http://schemas.openxmlformats.org/officeDocument/2006/relationships/image" Target="../media/image2.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2.xml"/><Relationship Id="rId2" Type="http://schemas.openxmlformats.org/officeDocument/2006/relationships/image" Target="../media/image2.jpeg"/><Relationship Id="rId1" Type="http://schemas.openxmlformats.org/officeDocument/2006/relationships/image" Target="../media/image73.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2.xml"/><Relationship Id="rId2" Type="http://schemas.openxmlformats.org/officeDocument/2006/relationships/image" Target="../media/image74.png"/><Relationship Id="rId1" Type="http://schemas.openxmlformats.org/officeDocument/2006/relationships/image" Target="../media/image2.jpe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2.xml"/><Relationship Id="rId2" Type="http://schemas.openxmlformats.org/officeDocument/2006/relationships/image" Target="../media/image2.jpeg"/><Relationship Id="rId1" Type="http://schemas.openxmlformats.org/officeDocument/2006/relationships/image" Target="../media/image75.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2.xml"/><Relationship Id="rId2" Type="http://schemas.openxmlformats.org/officeDocument/2006/relationships/image" Target="../media/image76.png"/><Relationship Id="rId1" Type="http://schemas.openxmlformats.org/officeDocument/2006/relationships/image" Target="../media/image2.jpeg"/></Relationships>
</file>

<file path=ppt/slides/_rels/slide31.xml.rels><?xml version="1.0" encoding="UTF-8" standalone="yes"?>
<Relationships xmlns="http://schemas.openxmlformats.org/package/2006/relationships"><Relationship Id="rId8" Type="http://schemas.openxmlformats.org/officeDocument/2006/relationships/notesSlide" Target="../notesSlides/notesSlide31.xml"/><Relationship Id="rId7" Type="http://schemas.openxmlformats.org/officeDocument/2006/relationships/slideLayout" Target="../slideLayouts/slideLayout12.xml"/><Relationship Id="rId6" Type="http://schemas.openxmlformats.org/officeDocument/2006/relationships/image" Target="../media/image81.svg"/><Relationship Id="rId5" Type="http://schemas.openxmlformats.org/officeDocument/2006/relationships/image" Target="../media/image80.svg"/><Relationship Id="rId4" Type="http://schemas.openxmlformats.org/officeDocument/2006/relationships/image" Target="../media/image79.svg"/><Relationship Id="rId3" Type="http://schemas.openxmlformats.org/officeDocument/2006/relationships/image" Target="../media/image78.svg"/><Relationship Id="rId2" Type="http://schemas.openxmlformats.org/officeDocument/2006/relationships/image" Target="../media/image77.png"/><Relationship Id="rId1" Type="http://schemas.openxmlformats.org/officeDocument/2006/relationships/image" Target="../media/image2.jpe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2.xml"/><Relationship Id="rId2" Type="http://schemas.openxmlformats.org/officeDocument/2006/relationships/image" Target="../media/image82.png"/><Relationship Id="rId1" Type="http://schemas.openxmlformats.org/officeDocument/2006/relationships/image" Target="../media/image2.jpeg"/></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12.xml"/><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image" Target="../media/image2.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5.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9" Type="http://schemas.openxmlformats.org/officeDocument/2006/relationships/notesSlide" Target="../notesSlides/notesSlide35.xml"/><Relationship Id="rId18" Type="http://schemas.openxmlformats.org/officeDocument/2006/relationships/slideLayout" Target="../slideLayouts/slideLayout12.xml"/><Relationship Id="rId17" Type="http://schemas.openxmlformats.org/officeDocument/2006/relationships/tags" Target="../tags/tag48.xml"/><Relationship Id="rId16" Type="http://schemas.openxmlformats.org/officeDocument/2006/relationships/tags" Target="../tags/tag47.xml"/><Relationship Id="rId15" Type="http://schemas.openxmlformats.org/officeDocument/2006/relationships/tags" Target="../tags/tag46.xml"/><Relationship Id="rId14" Type="http://schemas.openxmlformats.org/officeDocument/2006/relationships/tags" Target="../tags/tag45.xml"/><Relationship Id="rId13" Type="http://schemas.openxmlformats.org/officeDocument/2006/relationships/tags" Target="../tags/tag44.xml"/><Relationship Id="rId12" Type="http://schemas.openxmlformats.org/officeDocument/2006/relationships/tags" Target="../tags/tag43.xml"/><Relationship Id="rId11" Type="http://schemas.openxmlformats.org/officeDocument/2006/relationships/tags" Target="../tags/tag42.xml"/><Relationship Id="rId10" Type="http://schemas.openxmlformats.org/officeDocument/2006/relationships/tags" Target="../tags/tag41.xml"/><Relationship Id="rId1" Type="http://schemas.openxmlformats.org/officeDocument/2006/relationships/image" Target="../media/image2.jpeg"/></Relationships>
</file>

<file path=ppt/slides/_rels/slide36.xml.rels><?xml version="1.0" encoding="UTF-8" standalone="yes"?>
<Relationships xmlns="http://schemas.openxmlformats.org/package/2006/relationships"><Relationship Id="rId9" Type="http://schemas.openxmlformats.org/officeDocument/2006/relationships/notesSlide" Target="../notesSlides/notesSlide36.xml"/><Relationship Id="rId8" Type="http://schemas.openxmlformats.org/officeDocument/2006/relationships/slideLayout" Target="../slideLayouts/slideLayout12.xml"/><Relationship Id="rId7" Type="http://schemas.openxmlformats.org/officeDocument/2006/relationships/image" Target="../media/image90.svg"/><Relationship Id="rId6" Type="http://schemas.openxmlformats.org/officeDocument/2006/relationships/image" Target="../media/image89.png"/><Relationship Id="rId5" Type="http://schemas.openxmlformats.org/officeDocument/2006/relationships/image" Target="../media/image88.svg"/><Relationship Id="rId4" Type="http://schemas.openxmlformats.org/officeDocument/2006/relationships/image" Target="../media/image87.png"/><Relationship Id="rId3" Type="http://schemas.openxmlformats.org/officeDocument/2006/relationships/image" Target="../media/image86.svg"/><Relationship Id="rId2" Type="http://schemas.openxmlformats.org/officeDocument/2006/relationships/image" Target="../media/image85.png"/><Relationship Id="rId1" Type="http://schemas.openxmlformats.org/officeDocument/2006/relationships/image" Target="../media/image2.jpe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2.xml"/><Relationship Id="rId2" Type="http://schemas.openxmlformats.org/officeDocument/2006/relationships/image" Target="../media/image91.png"/><Relationship Id="rId1" Type="http://schemas.openxmlformats.org/officeDocument/2006/relationships/image" Target="../media/image1.jpeg"/></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38.xml"/><Relationship Id="rId4" Type="http://schemas.openxmlformats.org/officeDocument/2006/relationships/slideLayout" Target="../slideLayouts/slideLayout12.xml"/><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9144000" cy="5143500"/>
          </a:xfrm>
          <a:prstGeom prst="rect">
            <a:avLst/>
          </a:prstGeom>
          <a:noFill/>
          <a:ln w="25400" cap="flat" cmpd="sng">
            <a:noFill/>
            <a:prstDash val="solid"/>
            <a:round/>
          </a:ln>
        </p:spPr>
      </p:pic>
      <p:sp>
        <p:nvSpPr>
          <p:cNvPr id="3" name="AutoShape 3"/>
          <p:cNvSpPr/>
          <p:nvPr/>
        </p:nvSpPr>
        <p:spPr>
          <a:xfrm>
            <a:off x="508000" y="1270000"/>
            <a:ext cx="8128000" cy="1524000"/>
          </a:xfrm>
          <a:prstGeom prst="rect">
            <a:avLst/>
          </a:prstGeom>
          <a:noFill/>
          <a:ln w="9525" cap="flat" cmpd="sng">
            <a:noFill/>
            <a:prstDash val="solid"/>
            <a:round/>
          </a:ln>
        </p:spPr>
        <p:txBody>
          <a:bodyPr vert="horz" wrap="square" lIns="0" tIns="0" rIns="0" bIns="0" rtlCol="0" anchor="ctr" anchorCtr="0"/>
          <a:lstStyle/>
          <a:p>
            <a:pPr indent="0" algn="ctr">
              <a:lnSpc>
                <a:spcPct val="92000"/>
              </a:lnSpc>
              <a:defRPr/>
            </a:pPr>
            <a:r>
              <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rPr>
              <a:t>Federated Feature Selection with</a:t>
            </a:r>
            <a:endParaRPr lang="en-US" sz="1100"/>
          </a:p>
          <a:p>
            <a:pPr indent="0" algn="ctr">
              <a:lnSpc>
                <a:spcPct val="92000"/>
              </a:lnSpc>
            </a:pPr>
            <a:r>
              <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rPr>
              <a:t>False Discovery Rate Control</a:t>
            </a:r>
            <a:endPar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nvSpPr>
        <p:spPr>
          <a:xfrm>
            <a:off x="508000" y="3048000"/>
            <a:ext cx="8128000" cy="1905000"/>
          </a:xfrm>
          <a:prstGeom prst="rect">
            <a:avLst/>
          </a:prstGeom>
          <a:noFill/>
          <a:ln w="9525"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Published in:</a:t>
            </a:r>
            <a:r>
              <a:rPr lang="en-US" sz="1600" b="0" i="0" u="none" strike="noStrike">
                <a:solidFill>
                  <a:srgbClr val="1F2329"/>
                </a:solidFill>
                <a:latin typeface="Calibri" panose="020F0502020204030204"/>
                <a:ea typeface="Calibri" panose="020F0502020204030204"/>
                <a:cs typeface="Calibri" panose="020F0502020204030204"/>
                <a:sym typeface="Calibri" panose="020F0502020204030204"/>
              </a:rPr>
              <a:t>Journal of the Royal Statistical Society Series B: Statistical Methodology (2025)</a:t>
            </a:r>
            <a:endParaRPr lang="en-US" sz="1100"/>
          </a:p>
          <a:p>
            <a:pPr indent="0" algn="ctr">
              <a:lnSpc>
                <a:spcPct val="125000"/>
              </a:lnSpc>
              <a:spcBef>
                <a:spcPts val="1500"/>
              </a:spcBef>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Authors:</a:t>
            </a:r>
            <a:r>
              <a:rPr lang="en-US" sz="1500" b="0" i="0" u="none" strike="noStrike">
                <a:solidFill>
                  <a:srgbClr val="1F2329"/>
                </a:solidFill>
                <a:latin typeface="Calibri" panose="020F0502020204030204"/>
                <a:ea typeface="Calibri" panose="020F0502020204030204"/>
                <a:cs typeface="Calibri" panose="020F0502020204030204"/>
                <a:sym typeface="Calibri" panose="020F0502020204030204"/>
              </a:rPr>
              <a:t>Jie Hu, Jiayi Tong, Yang Ning, Cheng Yong Tang, Jason H. Moore, Runze Li, Yong Chen</a:t>
            </a:r>
            <a:endParaRPr lang="en-US" sz="1500" b="0" i="0" u="none" strike="noStrike">
              <a:solidFill>
                <a:srgbClr val="1F2329"/>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11428" b="11428"/>
          <a:stretch>
            <a:fillRect/>
          </a:stretch>
        </p:blipFill>
        <p:spPr>
          <a:xfrm>
            <a:off x="0" y="0"/>
            <a:ext cx="9144000" cy="1028700"/>
          </a:xfrm>
          <a:prstGeom prst="rect">
            <a:avLst/>
          </a:prstGeom>
          <a:noFill/>
          <a:ln w="25400" cap="flat" cmpd="sng">
            <a:noFill/>
            <a:prstDash val="solid"/>
            <a:round/>
          </a:ln>
        </p:spPr>
      </p:pic>
      <p:sp>
        <p:nvSpPr>
          <p:cNvPr id="3" name="AutoShape 3"/>
          <p:cNvSpPr/>
          <p:nvPr/>
        </p:nvSpPr>
        <p:spPr>
          <a:xfrm>
            <a:off x="571500" y="139700"/>
            <a:ext cx="8001000" cy="800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ts val="3150"/>
              </a:lnSpc>
              <a:defRPr/>
            </a:pPr>
            <a:r>
              <a:rPr lang="en-US" sz="2300" b="1" i="0" u="none" strike="noStrike">
                <a:solidFill>
                  <a:srgbClr val="333333"/>
                </a:solidFill>
                <a:latin typeface="Arial" panose="020B0604020202020204"/>
                <a:ea typeface="Arial" panose="020B0604020202020204"/>
                <a:cs typeface="Arial" panose="020B0604020202020204"/>
                <a:sym typeface="Arial" panose="020B0604020202020204"/>
              </a:rPr>
              <a:t>Research Background and Motivation</a:t>
            </a:r>
            <a:endParaRPr lang="en-US" sz="1100"/>
          </a:p>
        </p:txBody>
      </p:sp>
      <p:sp>
        <p:nvSpPr>
          <p:cNvPr id="4" name="AutoShape 4"/>
          <p:cNvSpPr/>
          <p:nvPr/>
        </p:nvSpPr>
        <p:spPr>
          <a:xfrm>
            <a:off x="292100" y="1130300"/>
            <a:ext cx="3949700" cy="1816100"/>
          </a:xfrm>
          <a:prstGeom prst="roundRect">
            <a:avLst>
              <a:gd name="adj" fmla="val 4895"/>
            </a:avLst>
          </a:prstGeom>
          <a:solidFill>
            <a:srgbClr val="FFFFFF">
              <a:alpha val="100000"/>
            </a:srgbClr>
          </a:solidFill>
          <a:ln w="25400" cap="flat" cmpd="sng">
            <a:noFill/>
            <a:prstDash val="solid"/>
            <a:round/>
          </a:ln>
          <a:effectLst>
            <a:outerShdw blurRad="101600" dist="38100" dir="2700000" algn="tl" rotWithShape="0">
              <a:srgbClr val="000000">
                <a:alpha val="6000"/>
              </a:srgbClr>
            </a:outerShdw>
          </a:effectLst>
        </p:spPr>
        <p:txBody>
          <a:bodyPr vert="horz" wrap="square" lIns="63500" tIns="63500" rIns="63500" bIns="63500" rtlCol="0" anchor="ctr"/>
          <a:lstStyle/>
          <a:p>
            <a:pPr algn="ctr">
              <a:defRPr/>
            </a:pPr>
          </a:p>
        </p:txBody>
      </p:sp>
      <p:sp>
        <p:nvSpPr>
          <p:cNvPr id="5" name="AutoShape 5"/>
          <p:cNvSpPr/>
          <p:nvPr/>
        </p:nvSpPr>
        <p:spPr>
          <a:xfrm>
            <a:off x="482600" y="1206500"/>
            <a:ext cx="3619500" cy="292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CC0000"/>
                </a:solidFill>
                <a:latin typeface="Arial" panose="020B0604020202020204"/>
                <a:ea typeface="Arial" panose="020B0604020202020204"/>
                <a:cs typeface="Arial" panose="020B0604020202020204"/>
                <a:sym typeface="Arial" panose="020B0604020202020204"/>
              </a:rPr>
              <a:t>01 Research Background</a:t>
            </a:r>
            <a:endParaRPr lang="en-US" sz="1100"/>
          </a:p>
        </p:txBody>
      </p:sp>
      <p:sp>
        <p:nvSpPr>
          <p:cNvPr id="6" name="AutoShape 6"/>
          <p:cNvSpPr/>
          <p:nvPr/>
        </p:nvSpPr>
        <p:spPr>
          <a:xfrm>
            <a:off x="482600" y="1528445"/>
            <a:ext cx="1854200" cy="1265555"/>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1" i="0" u="none" strike="noStrike">
                <a:solidFill>
                  <a:srgbClr val="333333"/>
                </a:solidFill>
                <a:latin typeface="Arial" panose="020B0604020202020204"/>
                <a:ea typeface="Arial" panose="020B0604020202020204"/>
                <a:cs typeface="Arial" panose="020B0604020202020204"/>
                <a:sym typeface="Arial" panose="020B0604020202020204"/>
              </a:rPr>
              <a:t>Research Value</a:t>
            </a:r>
            <a:endParaRPr lang="en-US" sz="1000" b="1" i="0" u="none" strike="noStrike">
              <a:solidFill>
                <a:srgbClr val="333333"/>
              </a:solidFill>
              <a:latin typeface="Arial" panose="020B0604020202020204"/>
              <a:ea typeface="Arial" panose="020B0604020202020204"/>
              <a:cs typeface="Arial" panose="020B0604020202020204"/>
              <a:sym typeface="Arial" panose="020B0604020202020204"/>
            </a:endParaRPr>
          </a:p>
          <a:p>
            <a:pPr indent="0" algn="l">
              <a:lnSpc>
                <a:spcPct val="100000"/>
              </a:lnSpc>
              <a:defRPr/>
            </a:pPr>
            <a:endParaRPr lang="en-US" sz="1100"/>
          </a:p>
          <a:p>
            <a:pPr indent="0" algn="l">
              <a:lnSpc>
                <a:spcPct val="100000"/>
              </a:lnSpc>
            </a:pPr>
            <a:r>
              <a:rPr lang="en-US" sz="900" b="0" i="0" u="none" strike="noStrike">
                <a:solidFill>
                  <a:srgbClr val="525252"/>
                </a:solidFill>
                <a:latin typeface="Arial" panose="020B0604020202020204"/>
                <a:ea typeface="Arial" panose="020B0604020202020204"/>
                <a:cs typeface="Arial" panose="020B0604020202020204"/>
                <a:sym typeface="Arial" panose="020B0604020202020204"/>
              </a:rPr>
              <a:t>Multi-center data can significantly expand sample sizes, enhance statistical power, and help discover more robust scientific laws. It is a key pathway to overcome small-sample study bottlenecks.</a:t>
            </a:r>
            <a:endParaRPr lang="en-US" sz="900" b="0" i="0" u="none" strike="noStrike">
              <a:solidFill>
                <a:srgbClr val="525252"/>
              </a:solidFill>
              <a:latin typeface="Arial" panose="020B0604020202020204"/>
              <a:ea typeface="Arial" panose="020B0604020202020204"/>
              <a:cs typeface="Arial" panose="020B0604020202020204"/>
              <a:sym typeface="Arial" panose="020B0604020202020204"/>
            </a:endParaRPr>
          </a:p>
        </p:txBody>
      </p:sp>
      <p:sp>
        <p:nvSpPr>
          <p:cNvPr id="7" name="AutoShape 7"/>
          <p:cNvSpPr/>
          <p:nvPr/>
        </p:nvSpPr>
        <p:spPr>
          <a:xfrm>
            <a:off x="2476500" y="1435735"/>
            <a:ext cx="1574800" cy="1358265"/>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1" i="0" u="none" strike="noStrike">
                <a:solidFill>
                  <a:srgbClr val="333333"/>
                </a:solidFill>
                <a:latin typeface="Arial" panose="020B0604020202020204"/>
                <a:ea typeface="Arial" panose="020B0604020202020204"/>
                <a:cs typeface="Arial" panose="020B0604020202020204"/>
                <a:sym typeface="Arial" panose="020B0604020202020204"/>
              </a:rPr>
              <a:t>Research Challenges</a:t>
            </a:r>
            <a:endParaRPr lang="en-US" sz="1000" b="1" i="0" u="none" strike="noStrike">
              <a:solidFill>
                <a:srgbClr val="333333"/>
              </a:solidFill>
              <a:latin typeface="Arial" panose="020B0604020202020204"/>
              <a:ea typeface="Arial" panose="020B0604020202020204"/>
              <a:cs typeface="Arial" panose="020B0604020202020204"/>
              <a:sym typeface="Arial" panose="020B0604020202020204"/>
            </a:endParaRPr>
          </a:p>
          <a:p>
            <a:pPr indent="0" algn="l">
              <a:lnSpc>
                <a:spcPct val="100000"/>
              </a:lnSpc>
              <a:defRPr/>
            </a:pPr>
            <a:endParaRPr lang="en-US" sz="1100"/>
          </a:p>
          <a:p>
            <a:pPr indent="0" algn="l">
              <a:lnSpc>
                <a:spcPct val="100000"/>
              </a:lnSpc>
            </a:pPr>
            <a:r>
              <a:rPr lang="en-US" altLang="zh-CN" sz="900" b="0" i="0" u="none" strike="noStrike">
                <a:solidFill>
                  <a:srgbClr val="525252"/>
                </a:solidFill>
                <a:latin typeface="Arial" panose="020B0604020202020204"/>
                <a:ea typeface="Arial" panose="020B0604020202020204"/>
                <a:cs typeface="Arial" panose="020B0604020202020204"/>
                <a:sym typeface="Arial" panose="020B0604020202020204"/>
              </a:rPr>
              <a:t>Data silos are prevalent. Due to privacy regulations and commercial barriers, raw data cannot be directly centralized and shared.</a:t>
            </a:r>
            <a:endParaRPr lang="en-US" altLang="zh-CN" sz="900" b="0" i="0" u="none" strike="noStrike">
              <a:solidFill>
                <a:srgbClr val="525252"/>
              </a:solidFill>
              <a:latin typeface="Arial" panose="020B0604020202020204"/>
              <a:ea typeface="Arial" panose="020B0604020202020204"/>
              <a:cs typeface="Arial" panose="020B0604020202020204"/>
              <a:sym typeface="Arial" panose="020B0604020202020204"/>
            </a:endParaRPr>
          </a:p>
        </p:txBody>
      </p:sp>
      <p:sp>
        <p:nvSpPr>
          <p:cNvPr id="8" name="AutoShape 8"/>
          <p:cNvSpPr/>
          <p:nvPr/>
        </p:nvSpPr>
        <p:spPr>
          <a:xfrm>
            <a:off x="4318000" y="1130300"/>
            <a:ext cx="4737100" cy="1816100"/>
          </a:xfrm>
          <a:prstGeom prst="roundRect">
            <a:avLst>
              <a:gd name="adj" fmla="val 4895"/>
            </a:avLst>
          </a:prstGeom>
          <a:solidFill>
            <a:srgbClr val="FFFFFF">
              <a:alpha val="100000"/>
            </a:srgbClr>
          </a:solidFill>
          <a:ln w="25400" cap="flat" cmpd="sng">
            <a:noFill/>
            <a:prstDash val="solid"/>
            <a:round/>
          </a:ln>
          <a:effectLst>
            <a:outerShdw blurRad="101600" dist="38100" dir="2700000" algn="tl" rotWithShape="0">
              <a:srgbClr val="000000">
                <a:alpha val="6000"/>
              </a:srgbClr>
            </a:outerShdw>
          </a:effectLst>
        </p:spPr>
        <p:txBody>
          <a:bodyPr vert="horz" wrap="square" lIns="63500" tIns="63500" rIns="63500" bIns="63500" rtlCol="0" anchor="ctr"/>
          <a:lstStyle/>
          <a:p>
            <a:pPr algn="ctr">
              <a:defRPr/>
            </a:pPr>
          </a:p>
        </p:txBody>
      </p:sp>
      <p:sp>
        <p:nvSpPr>
          <p:cNvPr id="9" name="AutoShape 9"/>
          <p:cNvSpPr/>
          <p:nvPr/>
        </p:nvSpPr>
        <p:spPr>
          <a:xfrm>
            <a:off x="4572000" y="1143635"/>
            <a:ext cx="4241800" cy="292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CC0000"/>
                </a:solidFill>
                <a:latin typeface="Arial" panose="020B0604020202020204"/>
                <a:ea typeface="Arial" panose="020B0604020202020204"/>
                <a:cs typeface="Arial" panose="020B0604020202020204"/>
                <a:sym typeface="Arial" panose="020B0604020202020204"/>
              </a:rPr>
              <a:t>02 Core Problem</a:t>
            </a:r>
            <a:endParaRPr lang="en-US" sz="1100"/>
          </a:p>
        </p:txBody>
      </p:sp>
      <p:sp>
        <p:nvSpPr>
          <p:cNvPr id="10" name="AutoShape 10"/>
          <p:cNvSpPr/>
          <p:nvPr/>
        </p:nvSpPr>
        <p:spPr>
          <a:xfrm>
            <a:off x="4572000" y="1330960"/>
            <a:ext cx="4318000" cy="165354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altLang="zh-CN" sz="900" b="0" i="0" u="none" strike="noStrike">
                <a:solidFill>
                  <a:srgbClr val="525252"/>
                </a:solidFill>
                <a:latin typeface="Arial" panose="020B0604020202020204"/>
                <a:ea typeface="Arial" panose="020B0604020202020204"/>
                <a:cs typeface="Arial" panose="020B0604020202020204"/>
                <a:sym typeface="Arial" panose="020B0604020202020204"/>
              </a:rPr>
              <a:t>Under a federated learning framework where raw data cannot be shared, how to accurately screen out universally effective features across sites from high-dimensional distributed data is a leading challenge. It must simultaneously satisfy three core constraints:</a:t>
            </a:r>
            <a:endParaRPr lang="en-US" altLang="zh-CN" sz="900" b="0" i="0" u="none" strike="noStrike">
              <a:solidFill>
                <a:srgbClr val="525252"/>
              </a:solidFill>
              <a:latin typeface="Arial" panose="020B0604020202020204"/>
              <a:ea typeface="Arial" panose="020B0604020202020204"/>
              <a:cs typeface="Arial" panose="020B0604020202020204"/>
              <a:sym typeface="Arial" panose="020B0604020202020204"/>
            </a:endParaRPr>
          </a:p>
          <a:p>
            <a:pPr indent="0" algn="l">
              <a:lnSpc>
                <a:spcPct val="100000"/>
              </a:lnSpc>
              <a:defRPr/>
            </a:pPr>
            <a:r>
              <a:rPr lang="en-US" sz="900" b="0" i="0" u="none" strike="noStrike">
                <a:solidFill>
                  <a:srgbClr val="525252"/>
                </a:solidFill>
                <a:latin typeface="Arial" panose="020B0604020202020204"/>
                <a:ea typeface="Arial" panose="020B0604020202020204"/>
                <a:cs typeface="Arial" panose="020B0604020202020204"/>
                <a:sym typeface="Arial" panose="020B0604020202020204"/>
              </a:rPr>
              <a:t>•</a:t>
            </a:r>
            <a:r>
              <a:rPr lang="en-US" sz="900" b="1" i="0" u="none" strike="noStrike">
                <a:solidFill>
                  <a:srgbClr val="525252"/>
                </a:solidFill>
                <a:latin typeface="Arial" panose="020B0604020202020204"/>
                <a:ea typeface="Arial" panose="020B0604020202020204"/>
                <a:cs typeface="Arial" panose="020B0604020202020204"/>
                <a:sym typeface="Arial" panose="020B0604020202020204"/>
              </a:rPr>
              <a:t>Privacy &amp; Security:</a:t>
            </a:r>
            <a:r>
              <a:rPr lang="en-US" altLang="zh-CN" sz="900" b="0" i="0" u="none" strike="noStrike">
                <a:solidFill>
                  <a:srgbClr val="525252"/>
                </a:solidFill>
                <a:latin typeface="Arial" panose="020B0604020202020204"/>
                <a:ea typeface="Arial" panose="020B0604020202020204"/>
                <a:cs typeface="Arial" panose="020B0604020202020204"/>
                <a:sym typeface="Arial" panose="020B0604020202020204"/>
              </a:rPr>
              <a:t>Absolutely no leakage of sensitive, individual-level raw data throughout the process.</a:t>
            </a:r>
            <a:endParaRPr lang="en-US" altLang="zh-CN" sz="900" b="0" i="0" u="none" strike="noStrike">
              <a:solidFill>
                <a:srgbClr val="525252"/>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900" b="0" i="0" u="none" strike="noStrike">
                <a:solidFill>
                  <a:srgbClr val="525252"/>
                </a:solidFill>
                <a:latin typeface="Arial" panose="020B0604020202020204"/>
                <a:ea typeface="Arial" panose="020B0604020202020204"/>
                <a:cs typeface="Arial" panose="020B0604020202020204"/>
                <a:sym typeface="Arial" panose="020B0604020202020204"/>
              </a:rPr>
              <a:t>•</a:t>
            </a:r>
            <a:r>
              <a:rPr lang="en-US" sz="900" b="1" i="0" u="none" strike="noStrike">
                <a:solidFill>
                  <a:srgbClr val="525252"/>
                </a:solidFill>
                <a:latin typeface="Arial" panose="020B0604020202020204"/>
                <a:ea typeface="Arial" panose="020B0604020202020204"/>
                <a:cs typeface="Arial" panose="020B0604020202020204"/>
                <a:sym typeface="Arial" panose="020B0604020202020204"/>
              </a:rPr>
              <a:t>Validity:</a:t>
            </a:r>
            <a:r>
              <a:rPr lang="en-US" altLang="zh-CN" sz="900" b="0" i="0" u="none" strike="noStrike">
                <a:solidFill>
                  <a:srgbClr val="525252"/>
                </a:solidFill>
                <a:latin typeface="Arial" panose="020B0604020202020204"/>
                <a:ea typeface="Arial" panose="020B0604020202020204"/>
                <a:cs typeface="Arial" panose="020B0604020202020204"/>
                <a:sym typeface="Arial" panose="020B0604020202020204"/>
              </a:rPr>
              <a:t>Must strictly control the False Discovery Rate (FDR) to avoid screening out massive false-positive features, ensuring reliable conclusions.</a:t>
            </a:r>
            <a:endParaRPr lang="en-US" altLang="zh-CN" sz="900" b="0" i="0" u="none" strike="noStrike">
              <a:solidFill>
                <a:srgbClr val="525252"/>
              </a:solidFill>
              <a:latin typeface="Arial" panose="020B0604020202020204"/>
              <a:ea typeface="Arial" panose="020B0604020202020204"/>
              <a:cs typeface="Arial" panose="020B0604020202020204"/>
              <a:sym typeface="Arial" panose="020B0604020202020204"/>
            </a:endParaRPr>
          </a:p>
          <a:p>
            <a:pPr indent="0" algn="l">
              <a:lnSpc>
                <a:spcPct val="100000"/>
              </a:lnSpc>
            </a:pPr>
            <a:r>
              <a:rPr lang="en-US" sz="900" b="1" i="0" u="none" strike="noStrike">
                <a:solidFill>
                  <a:srgbClr val="525252"/>
                </a:solidFill>
                <a:latin typeface="Arial" panose="020B0604020202020204"/>
                <a:ea typeface="Arial" panose="020B0604020202020204"/>
                <a:cs typeface="Arial" panose="020B0604020202020204"/>
                <a:sym typeface="Arial" panose="020B0604020202020204"/>
              </a:rPr>
              <a:t>•</a:t>
            </a:r>
            <a:r>
              <a:rPr lang="en-US" altLang="zh-CN" sz="900" b="1" i="0" u="none" strike="noStrike">
                <a:solidFill>
                  <a:srgbClr val="525252"/>
                </a:solidFill>
                <a:latin typeface="Arial" panose="020B0604020202020204"/>
                <a:ea typeface="Arial" panose="020B0604020202020204"/>
                <a:cs typeface="Arial" panose="020B0604020202020204"/>
                <a:sym typeface="Arial" panose="020B0604020202020204"/>
              </a:rPr>
              <a:t>High Efficiency &amp; Practicality:</a:t>
            </a:r>
            <a:r>
              <a:rPr lang="en-US" altLang="zh-CN" sz="900" b="0" i="0" u="none" strike="noStrike">
                <a:solidFill>
                  <a:srgbClr val="525252"/>
                </a:solidFill>
                <a:latin typeface="Arial" panose="020B0604020202020204"/>
                <a:ea typeface="Arial" panose="020B0604020202020204"/>
                <a:cs typeface="Arial" panose="020B0604020202020204"/>
                <a:sym typeface="Arial" panose="020B0604020202020204"/>
              </a:rPr>
              <a:t> Must balance computational complexity and communication costs for easy deployment in real-world multi-center collaborative scenarios.</a:t>
            </a:r>
            <a:endParaRPr lang="en-US" altLang="zh-CN" sz="900" b="0" i="0" u="none" strike="noStrike">
              <a:solidFill>
                <a:srgbClr val="525252"/>
              </a:solidFill>
              <a:latin typeface="Arial" panose="020B0604020202020204"/>
              <a:ea typeface="Arial" panose="020B0604020202020204"/>
              <a:cs typeface="Arial" panose="020B0604020202020204"/>
              <a:sym typeface="Arial" panose="020B0604020202020204"/>
            </a:endParaRPr>
          </a:p>
        </p:txBody>
      </p:sp>
      <p:sp>
        <p:nvSpPr>
          <p:cNvPr id="11" name="AutoShape 11"/>
          <p:cNvSpPr/>
          <p:nvPr/>
        </p:nvSpPr>
        <p:spPr>
          <a:xfrm>
            <a:off x="292100" y="3048000"/>
            <a:ext cx="3949700" cy="2095500"/>
          </a:xfrm>
          <a:prstGeom prst="roundRect">
            <a:avLst>
              <a:gd name="adj" fmla="val 4242"/>
            </a:avLst>
          </a:prstGeom>
          <a:solidFill>
            <a:srgbClr val="FFFFFF">
              <a:alpha val="100000"/>
            </a:srgbClr>
          </a:solidFill>
          <a:ln w="25400" cap="flat" cmpd="sng">
            <a:noFill/>
            <a:prstDash val="solid"/>
            <a:round/>
          </a:ln>
          <a:effectLst>
            <a:outerShdw blurRad="101600" dist="38100" dir="2700000" algn="tl" rotWithShape="0">
              <a:srgbClr val="000000">
                <a:alpha val="6000"/>
              </a:srgbClr>
            </a:outerShdw>
          </a:effectLst>
        </p:spPr>
        <p:txBody>
          <a:bodyPr vert="horz" wrap="square" lIns="63500" tIns="63500" rIns="63500" bIns="63500" rtlCol="0" anchor="ctr"/>
          <a:lstStyle/>
          <a:p>
            <a:pPr algn="ctr">
              <a:defRPr/>
            </a:pPr>
          </a:p>
        </p:txBody>
      </p:sp>
      <p:sp>
        <p:nvSpPr>
          <p:cNvPr id="12" name="AutoShape 12"/>
          <p:cNvSpPr/>
          <p:nvPr/>
        </p:nvSpPr>
        <p:spPr>
          <a:xfrm>
            <a:off x="482600" y="3018790"/>
            <a:ext cx="3619500" cy="292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CC0000"/>
                </a:solidFill>
                <a:latin typeface="Arial" panose="020B0604020202020204"/>
                <a:ea typeface="Arial" panose="020B0604020202020204"/>
                <a:cs typeface="Arial" panose="020B0604020202020204"/>
                <a:sym typeface="Arial" panose="020B0604020202020204"/>
              </a:rPr>
              <a:t>03 Limitations of Existing Methods</a:t>
            </a:r>
            <a:endParaRPr lang="en-US" sz="1100"/>
          </a:p>
        </p:txBody>
      </p:sp>
      <p:sp>
        <p:nvSpPr>
          <p:cNvPr id="13" name="AutoShape 13"/>
          <p:cNvSpPr/>
          <p:nvPr/>
        </p:nvSpPr>
        <p:spPr>
          <a:xfrm>
            <a:off x="482600" y="3382645"/>
            <a:ext cx="3689985" cy="52578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1" i="0" u="none" strike="noStrike">
                <a:solidFill>
                  <a:srgbClr val="333333"/>
                </a:solidFill>
                <a:latin typeface="Arial" panose="020B0604020202020204"/>
                <a:ea typeface="Arial" panose="020B0604020202020204"/>
                <a:cs typeface="Arial" panose="020B0604020202020204"/>
                <a:sym typeface="Arial" panose="020B0604020202020204"/>
              </a:rPr>
              <a:t>Traditional Centralized Methods (e.g., BHq):</a:t>
            </a:r>
            <a:endParaRPr lang="en-US" sz="1100"/>
          </a:p>
          <a:p>
            <a:pPr indent="0" algn="l">
              <a:lnSpc>
                <a:spcPct val="100000"/>
              </a:lnSpc>
            </a:pPr>
            <a:r>
              <a:rPr lang="en-US" altLang="zh-CN" sz="900" b="0" i="0" u="none" strike="noStrike">
                <a:solidFill>
                  <a:srgbClr val="525252"/>
                </a:solidFill>
                <a:latin typeface="Arial" panose="020B0604020202020204"/>
                <a:ea typeface="Arial" panose="020B0604020202020204"/>
                <a:cs typeface="Arial" panose="020B0604020202020204"/>
                <a:sym typeface="Arial" panose="020B0604020202020204"/>
              </a:rPr>
              <a:t>While they can strictly control FDR, they rely on centralizing all raw data, posing extreme privacy leakage risks.</a:t>
            </a:r>
            <a:endParaRPr lang="en-US" altLang="zh-CN" sz="900" b="0" i="0" u="none" strike="noStrike">
              <a:solidFill>
                <a:srgbClr val="525252"/>
              </a:solidFill>
              <a:latin typeface="Arial" panose="020B0604020202020204"/>
              <a:ea typeface="Arial" panose="020B0604020202020204"/>
              <a:cs typeface="Arial" panose="020B0604020202020204"/>
              <a:sym typeface="Arial" panose="020B0604020202020204"/>
            </a:endParaRPr>
          </a:p>
        </p:txBody>
      </p:sp>
      <p:sp>
        <p:nvSpPr>
          <p:cNvPr id="14" name="AutoShape 14"/>
          <p:cNvSpPr/>
          <p:nvPr/>
        </p:nvSpPr>
        <p:spPr>
          <a:xfrm>
            <a:off x="482600" y="4158615"/>
            <a:ext cx="3619500" cy="70739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1" i="0" u="none" strike="noStrike">
                <a:solidFill>
                  <a:srgbClr val="333333"/>
                </a:solidFill>
                <a:latin typeface="Arial" panose="020B0604020202020204"/>
                <a:ea typeface="Arial" panose="020B0604020202020204"/>
                <a:cs typeface="Arial" panose="020B0604020202020204"/>
                <a:sym typeface="Arial" panose="020B0604020202020204"/>
              </a:rPr>
              <a:t>Existing Federated Methods (e.g., Meta-BHq):</a:t>
            </a:r>
            <a:endParaRPr lang="en-US" sz="1100"/>
          </a:p>
          <a:p>
            <a:pPr indent="0" algn="l">
              <a:lnSpc>
                <a:spcPct val="100000"/>
              </a:lnSpc>
            </a:pPr>
            <a:r>
              <a:rPr lang="en-US" altLang="zh-CN" sz="900" b="0" i="0" u="none" strike="noStrike">
                <a:solidFill>
                  <a:srgbClr val="525252"/>
                </a:solidFill>
                <a:latin typeface="Arial" panose="020B0604020202020204"/>
                <a:ea typeface="Arial" panose="020B0604020202020204"/>
                <a:cs typeface="Arial" panose="020B0604020202020204"/>
                <a:sym typeface="Arial" panose="020B0604020202020204"/>
              </a:rPr>
              <a:t>They are either overly conservative to control false positives (sacrificing significant screening power), fail to provide strict statistical guarantees, or have computational/communication costs too high for real-world applications.</a:t>
            </a:r>
            <a:endParaRPr lang="en-US" altLang="zh-CN" sz="900" b="0" i="0" u="none" strike="noStrike">
              <a:solidFill>
                <a:srgbClr val="525252"/>
              </a:solidFill>
              <a:latin typeface="Arial" panose="020B0604020202020204"/>
              <a:ea typeface="Arial" panose="020B0604020202020204"/>
              <a:cs typeface="Arial" panose="020B0604020202020204"/>
              <a:sym typeface="Arial" panose="020B0604020202020204"/>
            </a:endParaRPr>
          </a:p>
        </p:txBody>
      </p:sp>
      <p:sp>
        <p:nvSpPr>
          <p:cNvPr id="15" name="AutoShape 15"/>
          <p:cNvSpPr/>
          <p:nvPr/>
        </p:nvSpPr>
        <p:spPr>
          <a:xfrm>
            <a:off x="4318000" y="3048000"/>
            <a:ext cx="4737100" cy="2095500"/>
          </a:xfrm>
          <a:prstGeom prst="roundRect">
            <a:avLst>
              <a:gd name="adj" fmla="val 4242"/>
            </a:avLst>
          </a:prstGeom>
          <a:solidFill>
            <a:srgbClr val="FFFFFF">
              <a:alpha val="100000"/>
            </a:srgbClr>
          </a:solidFill>
          <a:ln w="25400" cap="flat" cmpd="sng">
            <a:noFill/>
            <a:prstDash val="solid"/>
            <a:round/>
          </a:ln>
          <a:effectLst>
            <a:outerShdw blurRad="101600" dist="38100" dir="2700000" algn="tl" rotWithShape="0">
              <a:srgbClr val="000000">
                <a:alpha val="6000"/>
              </a:srgbClr>
            </a:outerShdw>
          </a:effectLst>
        </p:spPr>
        <p:txBody>
          <a:bodyPr vert="horz" wrap="square" lIns="63500" tIns="63500" rIns="63500" bIns="63500" rtlCol="0" anchor="ctr"/>
          <a:lstStyle/>
          <a:p>
            <a:pPr algn="ctr">
              <a:defRPr/>
            </a:pPr>
          </a:p>
        </p:txBody>
      </p:sp>
      <p:sp>
        <p:nvSpPr>
          <p:cNvPr id="16" name="AutoShape 16"/>
          <p:cNvSpPr/>
          <p:nvPr/>
        </p:nvSpPr>
        <p:spPr>
          <a:xfrm>
            <a:off x="4572000" y="3018790"/>
            <a:ext cx="4241800" cy="292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CC0000"/>
                </a:solidFill>
                <a:latin typeface="Arial" panose="020B0604020202020204"/>
                <a:ea typeface="Arial" panose="020B0604020202020204"/>
                <a:cs typeface="Arial" panose="020B0604020202020204"/>
                <a:sym typeface="Arial" panose="020B0604020202020204"/>
              </a:rPr>
              <a:t>04 </a:t>
            </a:r>
            <a:r>
              <a:rPr lang="en-US" sz="1200" b="1">
                <a:solidFill>
                  <a:srgbClr val="CC0000"/>
                </a:solidFill>
              </a:rPr>
              <a:t>Our Study: Objectives &amp; Contributions</a:t>
            </a:r>
            <a:endParaRPr lang="en-US" sz="1200" b="1">
              <a:solidFill>
                <a:srgbClr val="CC0000"/>
              </a:solidFill>
            </a:endParaRPr>
          </a:p>
        </p:txBody>
      </p:sp>
      <p:sp>
        <p:nvSpPr>
          <p:cNvPr id="17" name="AutoShape 17"/>
          <p:cNvSpPr/>
          <p:nvPr/>
        </p:nvSpPr>
        <p:spPr>
          <a:xfrm>
            <a:off x="4533900" y="3331845"/>
            <a:ext cx="4318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altLang="zh-CN" sz="1100" b="1"/>
              <a:t>Research Objective:</a:t>
            </a:r>
            <a:r>
              <a:rPr lang="en-US" altLang="zh-CN" sz="1100"/>
              <a:t> </a:t>
            </a:r>
            <a:r>
              <a:rPr lang="en-US" altLang="zh-CN" sz="1100">
                <a:latin typeface="Times New Roman" panose="02020603050405020304" pitchFamily="18" charset="0"/>
                <a:cs typeface="Times New Roman" panose="02020603050405020304" pitchFamily="18" charset="0"/>
              </a:rPr>
              <a:t>To propose a novel federated feature selection method—Fed-FDR which </a:t>
            </a:r>
            <a:r>
              <a:rPr lang="en-US" altLang="zh-CN" sz="1100" b="1">
                <a:latin typeface="Times New Roman" panose="02020603050405020304" pitchFamily="18" charset="0"/>
                <a:cs typeface="Times New Roman" panose="02020603050405020304" pitchFamily="18" charset="0"/>
              </a:rPr>
              <a:t>achieves precise FDR control under strict privacy protection, solving the dilemma of existing methods.</a:t>
            </a:r>
            <a:endParaRPr lang="en-US" altLang="zh-CN" sz="1100" b="1">
              <a:latin typeface="Times New Roman" panose="02020603050405020304" pitchFamily="18" charset="0"/>
              <a:cs typeface="Times New Roman" panose="02020603050405020304" pitchFamily="18" charset="0"/>
            </a:endParaRPr>
          </a:p>
        </p:txBody>
      </p:sp>
      <p:sp>
        <p:nvSpPr>
          <p:cNvPr id="18" name="AutoShape 18"/>
          <p:cNvSpPr/>
          <p:nvPr/>
        </p:nvSpPr>
        <p:spPr>
          <a:xfrm>
            <a:off x="4533900" y="3874770"/>
            <a:ext cx="4488815" cy="1146810"/>
          </a:xfrm>
          <a:prstGeom prst="roundRect">
            <a:avLst>
              <a:gd name="adj" fmla="val 0"/>
            </a:avLst>
          </a:prstGeom>
          <a:noFill/>
          <a:ln w="25400" cap="flat" cmpd="sng">
            <a:noFill/>
            <a:prstDash val="solid"/>
            <a:round/>
          </a:ln>
        </p:spPr>
        <p:txBody>
          <a:bodyPr vert="horz" wrap="square" lIns="0" tIns="0" rIns="0" bIns="0" rtlCol="0" anchor="ctr" anchorCtr="0"/>
          <a:lstStyle/>
          <a:p>
            <a:pPr indent="0" algn="l" eaLnBrk="1" fontAlgn="auto" latinLnBrk="0" hangingPunct="1">
              <a:lnSpc>
                <a:spcPct val="100000"/>
              </a:lnSpc>
              <a:defRPr/>
            </a:pPr>
            <a:r>
              <a:rPr lang="en-US" sz="1000" b="1" i="0" u="none" strike="noStrike">
                <a:solidFill>
                  <a:srgbClr val="333333"/>
                </a:solidFill>
                <a:latin typeface="Arial" panose="020B0604020202020204"/>
                <a:ea typeface="Arial" panose="020B0604020202020204"/>
                <a:cs typeface="Arial" panose="020B0604020202020204"/>
                <a:sym typeface="Arial" panose="020B0604020202020204"/>
              </a:rPr>
              <a:t>Core Breakthroughs:</a:t>
            </a:r>
            <a:endParaRPr lang="en-US" sz="1100"/>
          </a:p>
          <a:p>
            <a:pPr indent="0" algn="l" eaLnBrk="1" fontAlgn="auto" latinLnBrk="0" hangingPunct="1">
              <a:lnSpc>
                <a:spcPct val="100000"/>
              </a:lnSpc>
            </a:pPr>
            <a:r>
              <a:rPr lang="en-US" sz="900" b="1" i="0" u="none" strike="noStrike">
                <a:solidFill>
                  <a:srgbClr val="525252"/>
                </a:solidFill>
                <a:latin typeface="Arial" panose="020B0604020202020204"/>
                <a:ea typeface="Arial" panose="020B0604020202020204"/>
                <a:cs typeface="Arial" panose="020B0604020202020204"/>
                <a:sym typeface="Arial" panose="020B0604020202020204"/>
              </a:rPr>
              <a:t>1.</a:t>
            </a:r>
            <a:r>
              <a:rPr lang="en-US" altLang="zh-CN" sz="1000" b="1" i="0" u="none" strike="noStrike">
                <a:solidFill>
                  <a:srgbClr val="525252"/>
                </a:solidFill>
                <a:latin typeface="Times New Roman" panose="02020603050405020304" pitchFamily="18" charset="0"/>
                <a:ea typeface="Arial" panose="020B0604020202020204"/>
                <a:cs typeface="Times New Roman" panose="02020603050405020304" pitchFamily="18" charset="0"/>
                <a:sym typeface="Arial" panose="020B0604020202020204"/>
              </a:rPr>
              <a:t>Theoretically: </a:t>
            </a:r>
            <a:r>
              <a:rPr lang="en-US" altLang="zh-CN" sz="1000" b="0" i="0" u="none" strike="noStrike">
                <a:solidFill>
                  <a:srgbClr val="525252"/>
                </a:solidFill>
                <a:latin typeface="Times New Roman" panose="02020603050405020304" pitchFamily="18" charset="0"/>
                <a:ea typeface="Arial" panose="020B0604020202020204"/>
                <a:cs typeface="Times New Roman" panose="02020603050405020304" pitchFamily="18" charset="0"/>
                <a:sym typeface="Arial" panose="020B0604020202020204"/>
              </a:rPr>
              <a:t>Proposes the Generalized Mirror Statistic, achieving strict FDR control in a federated framework for the first time.</a:t>
            </a:r>
            <a:endParaRPr lang="en-US" altLang="zh-CN" sz="1000" b="0" i="0" u="none" strike="noStrike">
              <a:solidFill>
                <a:srgbClr val="525252"/>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indent="0" algn="l" eaLnBrk="1" fontAlgn="auto" latinLnBrk="0" hangingPunct="1">
              <a:lnSpc>
                <a:spcPct val="100000"/>
              </a:lnSpc>
            </a:pPr>
            <a:r>
              <a:rPr lang="en-US" sz="1000" b="1" i="0" u="none" strike="noStrike">
                <a:solidFill>
                  <a:srgbClr val="525252"/>
                </a:solidFill>
                <a:latin typeface="Times New Roman" panose="02020603050405020304" pitchFamily="18" charset="0"/>
                <a:ea typeface="Arial" panose="020B0604020202020204"/>
                <a:cs typeface="Times New Roman" panose="02020603050405020304" pitchFamily="18" charset="0"/>
                <a:sym typeface="Arial" panose="020B0604020202020204"/>
              </a:rPr>
              <a:t>2.</a:t>
            </a:r>
            <a:r>
              <a:rPr lang="en-US" altLang="zh-CN" sz="1000" b="1" i="0" u="none" strike="noStrike">
                <a:solidFill>
                  <a:srgbClr val="525252"/>
                </a:solidFill>
                <a:latin typeface="Times New Roman" panose="02020603050405020304" pitchFamily="18" charset="0"/>
                <a:ea typeface="Arial" panose="020B0604020202020204"/>
                <a:cs typeface="Times New Roman" panose="02020603050405020304" pitchFamily="18" charset="0"/>
                <a:sym typeface="Arial" panose="020B0604020202020204"/>
              </a:rPr>
              <a:t>Methodologically:</a:t>
            </a:r>
            <a:r>
              <a:rPr lang="en-US" altLang="zh-CN" sz="1000" b="0" i="0" u="none" strike="noStrike">
                <a:solidFill>
                  <a:srgbClr val="525252"/>
                </a:solidFill>
                <a:latin typeface="Times New Roman" panose="02020603050405020304" pitchFamily="18" charset="0"/>
                <a:ea typeface="Arial" panose="020B0604020202020204"/>
                <a:cs typeface="Times New Roman" panose="02020603050405020304" pitchFamily="18" charset="0"/>
                <a:sym typeface="Arial" panose="020B0604020202020204"/>
              </a:rPr>
              <a:t> Designs a cross-site feature support swap mechanism, reducing communication costs to theoretical minimums.</a:t>
            </a:r>
            <a:endParaRPr lang="en-US" altLang="zh-CN" sz="1000" b="0" i="0" u="none" strike="noStrike">
              <a:solidFill>
                <a:srgbClr val="525252"/>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indent="0" algn="l" eaLnBrk="1" fontAlgn="auto" latinLnBrk="0" hangingPunct="1">
              <a:lnSpc>
                <a:spcPct val="100000"/>
              </a:lnSpc>
            </a:pPr>
            <a:r>
              <a:rPr lang="en-US" sz="1000" b="1" i="0" u="none" strike="noStrike">
                <a:solidFill>
                  <a:srgbClr val="525252"/>
                </a:solidFill>
                <a:latin typeface="Times New Roman" panose="02020603050405020304" pitchFamily="18" charset="0"/>
                <a:ea typeface="Arial" panose="020B0604020202020204"/>
                <a:cs typeface="Times New Roman" panose="02020603050405020304" pitchFamily="18" charset="0"/>
                <a:sym typeface="Arial" panose="020B0604020202020204"/>
              </a:rPr>
              <a:t>3.</a:t>
            </a:r>
            <a:r>
              <a:rPr lang="en-US" altLang="zh-CN" sz="1000" b="1" i="0" u="none" strike="noStrike">
                <a:solidFill>
                  <a:srgbClr val="525252"/>
                </a:solidFill>
                <a:latin typeface="Times New Roman" panose="02020603050405020304" pitchFamily="18" charset="0"/>
                <a:ea typeface="Arial" panose="020B0604020202020204"/>
                <a:cs typeface="Times New Roman" panose="02020603050405020304" pitchFamily="18" charset="0"/>
                <a:sym typeface="Arial" panose="020B0604020202020204"/>
              </a:rPr>
              <a:t>Practically:</a:t>
            </a:r>
            <a:r>
              <a:rPr lang="en-US" altLang="zh-CN" sz="1000" b="0" i="0" u="none" strike="noStrike">
                <a:solidFill>
                  <a:srgbClr val="525252"/>
                </a:solidFill>
                <a:latin typeface="Times New Roman" panose="02020603050405020304" pitchFamily="18" charset="0"/>
                <a:ea typeface="Arial" panose="020B0604020202020204"/>
                <a:cs typeface="Times New Roman" panose="02020603050405020304" pitchFamily="18" charset="0"/>
                <a:sym typeface="Arial" panose="020B0604020202020204"/>
              </a:rPr>
              <a:t> Perfectly compatible with cross-site data heterogeneity; computationally efficient and seamlessly deployable in real-world scenarios.</a:t>
            </a:r>
            <a:endParaRPr lang="en-US" altLang="zh-CN" sz="1000" b="0" i="0" u="none" strike="noStrike">
              <a:solidFill>
                <a:srgbClr val="525252"/>
              </a:solidFill>
              <a:latin typeface="Times New Roman" panose="02020603050405020304" pitchFamily="18" charset="0"/>
              <a:ea typeface="Arial" panose="020B0604020202020204"/>
              <a:cs typeface="Times New Roman" panose="02020603050405020304" pitchFamily="18" charset="0"/>
              <a:sym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9276" r="9276"/>
          <a:stretch>
            <a:fillRect/>
          </a:stretch>
        </p:blipFill>
        <p:spPr>
          <a:xfrm>
            <a:off x="0" y="0"/>
            <a:ext cx="9144000" cy="1028700"/>
          </a:xfrm>
          <a:prstGeom prst="rect">
            <a:avLst/>
          </a:prstGeom>
          <a:noFill/>
          <a:ln w="25400" cap="flat" cmpd="sng">
            <a:noFill/>
            <a:prstDash val="solid"/>
            <a:round/>
          </a:ln>
        </p:spPr>
      </p:pic>
      <p:sp>
        <p:nvSpPr>
          <p:cNvPr id="3" name="AutoShape 3"/>
          <p:cNvSpPr/>
          <p:nvPr/>
        </p:nvSpPr>
        <p:spPr>
          <a:xfrm>
            <a:off x="381000" y="292100"/>
            <a:ext cx="615188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Federated High-Dimensional Generalized Linear Model and Heterogeneity Assumption</a:t>
            </a:r>
            <a:endParaRPr lang="en-US" sz="1100"/>
          </a:p>
        </p:txBody>
      </p:sp>
      <p:sp>
        <p:nvSpPr>
          <p:cNvPr id="4" name="AutoShape 4"/>
          <p:cNvSpPr/>
          <p:nvPr/>
        </p:nvSpPr>
        <p:spPr>
          <a:xfrm>
            <a:off x="190500" y="889000"/>
            <a:ext cx="6311900" cy="1168400"/>
          </a:xfrm>
          <a:prstGeom prst="roundRect">
            <a:avLst>
              <a:gd name="adj" fmla="val 8695"/>
            </a:avLst>
          </a:prstGeom>
          <a:solidFill>
            <a:srgbClr val="FFFFFF">
              <a:alpha val="100000"/>
            </a:srgbClr>
          </a:solidFill>
          <a:ln w="12700" cap="flat" cmpd="sng">
            <a:solidFill>
              <a:srgbClr val="E6CFCF">
                <a:alpha val="100000"/>
              </a:srgbClr>
            </a:solidFill>
            <a:prstDash val="solid"/>
            <a:round/>
          </a:ln>
          <a:effectLst>
            <a:outerShdw blurRad="101600" dist="38100" dir="2700000" algn="tl" rotWithShape="0">
              <a:srgbClr val="000000">
                <a:alpha val="5000"/>
              </a:srgbClr>
            </a:outerShdw>
          </a:effectLst>
        </p:spPr>
        <p:txBody>
          <a:bodyPr vert="horz" wrap="square" lIns="63500" tIns="63500" rIns="63500" bIns="63500" rtlCol="0" anchor="ctr"/>
          <a:lstStyle/>
          <a:p>
            <a:pPr algn="ctr">
              <a:defRPr/>
            </a:pPr>
          </a:p>
        </p:txBody>
      </p:sp>
      <p:sp>
        <p:nvSpPr>
          <p:cNvPr id="5" name="AutoShape 5"/>
          <p:cNvSpPr/>
          <p:nvPr/>
        </p:nvSpPr>
        <p:spPr>
          <a:xfrm>
            <a:off x="330200" y="1041400"/>
            <a:ext cx="2806700" cy="977265"/>
          </a:xfrm>
          <a:prstGeom prst="roundRect">
            <a:avLst>
              <a:gd name="adj" fmla="val 5633"/>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431800" y="1054100"/>
            <a:ext cx="2667000" cy="2286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Federated Setup</a:t>
            </a:r>
            <a:endParaRPr lang="en-US" sz="1100"/>
          </a:p>
        </p:txBody>
      </p:sp>
      <mc:AlternateContent xmlns:mc="http://schemas.openxmlformats.org/markup-compatibility/2006">
        <mc:Choice xmlns:a14="http://schemas.microsoft.com/office/drawing/2010/main" Requires="a14">
          <p:sp>
            <p:nvSpPr>
              <p:cNvPr id="7" name="AutoShape 7"/>
              <p:cNvSpPr/>
              <p:nvPr/>
            </p:nvSpPr>
            <p:spPr>
              <a:xfrm>
                <a:off x="394970" y="1352550"/>
                <a:ext cx="2703830" cy="60325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altLang="zh-CN" sz="1000"/>
                  <a:t>Assume data is distributed across K sites. Each site k observes n independent and identically distributed samples </a:t>
                </a:r>
                <a:r>
                  <a:rPr lang="zh-CN" altLang="en-US" sz="1000" dirty="0">
                    <a:sym typeface="+mn-ea"/>
                  </a:rPr>
                  <a:t> </a:t>
                </a:r>
                <a:r>
                  <a:rPr lang="en-US" altLang="zh-CN" sz="1000" dirty="0">
                    <a:sym typeface="+mn-ea"/>
                  </a:rPr>
                  <a:t>(</a:t>
                </a:r>
                <a14:m>
                  <m:oMath xmlns:m="http://schemas.openxmlformats.org/officeDocument/2006/math">
                    <m:sSub>
                      <m:sSubPr>
                        <m:ctrlPr>
                          <a:rPr lang="en-US" altLang="zh-CN" sz="1000" i="1" dirty="0">
                            <a:latin typeface="Cambria Math" panose="02040503050406030204" pitchFamily="18" charset="0"/>
                          </a:rPr>
                        </m:ctrlPr>
                      </m:sSubPr>
                      <m:e>
                        <m:r>
                          <a:rPr lang="en-US" altLang="zh-CN" sz="1000" i="1" dirty="0">
                            <a:latin typeface="Cambria Math" panose="02040503050406030204" pitchFamily="18" charset="0"/>
                          </a:rPr>
                          <m:t>𝑦</m:t>
                        </m:r>
                      </m:e>
                      <m:sub>
                        <m:r>
                          <a:rPr lang="en-US" altLang="zh-CN" sz="1000" i="1" dirty="0">
                            <a:latin typeface="Cambria Math" panose="02040503050406030204" pitchFamily="18" charset="0"/>
                          </a:rPr>
                          <m:t>𝑘𝑖</m:t>
                        </m:r>
                        <m:r>
                          <a:rPr lang="zh-CN" altLang="en-US" sz="1000" i="1" dirty="0">
                            <a:latin typeface="Cambria Math" panose="02040503050406030204" pitchFamily="18" charset="0"/>
                          </a:rPr>
                          <m:t>​</m:t>
                        </m:r>
                      </m:sub>
                    </m:sSub>
                    <m:r>
                      <a:rPr lang="en-US" altLang="zh-CN" sz="1000" i="1" dirty="0">
                        <a:latin typeface="Cambria Math" panose="02040503050406030204" pitchFamily="18" charset="0"/>
                      </a:rPr>
                      <m:t>,</m:t>
                    </m:r>
                    <m:sSub>
                      <m:sSubPr>
                        <m:ctrlPr>
                          <a:rPr lang="en-US" altLang="zh-CN" sz="1000" i="1" dirty="0">
                            <a:latin typeface="Cambria Math" panose="02040503050406030204" pitchFamily="18" charset="0"/>
                          </a:rPr>
                        </m:ctrlPr>
                      </m:sSubPr>
                      <m:e>
                        <m:r>
                          <m:rPr>
                            <m:nor/>
                          </m:rPr>
                          <a:rPr lang="en-US" altLang="zh-CN" sz="1000" dirty="0">
                            <a:latin typeface="Cambria Math" panose="02040503050406030204" pitchFamily="18" charset="0"/>
                          </a:rPr>
                          <m:t>x</m:t>
                        </m:r>
                      </m:e>
                      <m:sub>
                        <m:r>
                          <m:rPr>
                            <m:sty m:val="p"/>
                          </m:rPr>
                          <a:rPr lang="en-US" altLang="zh-CN" sz="1000" i="1" dirty="0">
                            <a:latin typeface="Cambria Math" panose="02040503050406030204" pitchFamily="18" charset="0"/>
                          </a:rPr>
                          <m:t>ki</m:t>
                        </m:r>
                      </m:sub>
                    </m:sSub>
                  </m:oMath>
                </a14:m>
                <a:r>
                  <a:rPr lang="zh-CN" altLang="en-US" sz="1000" dirty="0">
                    <a:sym typeface="+mn-ea"/>
                  </a:rPr>
                  <a:t>​</a:t>
                </a:r>
                <a:r>
                  <a:rPr lang="en-US" altLang="zh-CN" sz="1000" dirty="0">
                    <a:sym typeface="+mn-ea"/>
                  </a:rPr>
                  <a:t>)</a:t>
                </a:r>
                <a:r>
                  <a:rPr lang="en-US" altLang="zh-CN" sz="1000"/>
                  <a:t>, where the feature dimension is high-dimensional </a:t>
                </a:r>
                <a14:m>
                  <m:oMath xmlns:m="http://schemas.openxmlformats.org/officeDocument/2006/math">
                    <m:sSub>
                      <m:sSubPr>
                        <m:ctrlPr>
                          <a:rPr lang="en-US" altLang="zh-CN" sz="1000" i="1" dirty="0">
                            <a:latin typeface="Cambria Math" panose="02040503050406030204" pitchFamily="18" charset="0"/>
                          </a:rPr>
                        </m:ctrlPr>
                      </m:sSubPr>
                      <m:e>
                        <m:r>
                          <m:rPr>
                            <m:nor/>
                          </m:rPr>
                          <a:rPr lang="en-US" altLang="zh-CN" sz="1000" dirty="0">
                            <a:latin typeface="Cambria Math" panose="02040503050406030204" pitchFamily="18" charset="0"/>
                          </a:rPr>
                          <m:t>x</m:t>
                        </m:r>
                      </m:e>
                      <m:sub>
                        <m:r>
                          <m:rPr>
                            <m:sty m:val="p"/>
                          </m:rPr>
                          <a:rPr lang="en-US" altLang="zh-CN" sz="1000" i="1" dirty="0">
                            <a:latin typeface="Cambria Math" panose="02040503050406030204" pitchFamily="18" charset="0"/>
                          </a:rPr>
                          <m:t>ki</m:t>
                        </m:r>
                      </m:sub>
                    </m:sSub>
                    <m:r>
                      <a:rPr lang="zh-CN" altLang="en-US" sz="1000" i="1" dirty="0">
                        <a:latin typeface="Cambria Math" panose="02040503050406030204" pitchFamily="18" charset="0"/>
                      </a:rPr>
                      <m:t>​∈</m:t>
                    </m:r>
                    <m:sSup>
                      <m:sSupPr>
                        <m:ctrlPr>
                          <a:rPr lang="en-US" altLang="zh-CN" sz="1000" i="1" dirty="0">
                            <a:latin typeface="Cambria Math" panose="02040503050406030204" pitchFamily="18" charset="0"/>
                          </a:rPr>
                        </m:ctrlPr>
                      </m:sSupPr>
                      <m:e>
                        <m:r>
                          <a:rPr lang="en-US" altLang="zh-CN" sz="1000" i="1" dirty="0">
                            <a:latin typeface="Cambria Math" panose="02040503050406030204" pitchFamily="18" charset="0"/>
                          </a:rPr>
                          <m:t>𝑅</m:t>
                        </m:r>
                      </m:e>
                      <m:sup>
                        <m:r>
                          <a:rPr lang="en-US" altLang="zh-CN" sz="1000" i="1" dirty="0">
                            <a:latin typeface="Cambria Math" panose="02040503050406030204" pitchFamily="18" charset="0"/>
                          </a:rPr>
                          <m:t>𝑝</m:t>
                        </m:r>
                      </m:sup>
                    </m:sSup>
                    <m:r>
                      <a:rPr lang="en-US" altLang="zh-CN" sz="1000" i="1" dirty="0">
                        <a:latin typeface="Cambria Math" panose="02040503050406030204" pitchFamily="18" charset="0"/>
                      </a:rPr>
                      <m:t>.</m:t>
                    </m:r>
                  </m:oMath>
                </a14:m>
                <a:endParaRPr lang="zh-CN" altLang="en-US" sz="1000" dirty="0">
                  <a:latin typeface="Cambria Math" panose="02040503050406030204" pitchFamily="18" charset="0"/>
                  <a:ea typeface="宋体" panose="02010600030101010101" pitchFamily="2" charset="-122"/>
                </a:endParaRPr>
              </a:p>
            </p:txBody>
          </p:sp>
        </mc:Choice>
        <mc:Fallback>
          <p:sp>
            <p:nvSpPr>
              <p:cNvPr id="7" name="AutoShape 7"/>
              <p:cNvSpPr>
                <a:spLocks noRot="1" noChangeAspect="1" noMove="1" noResize="1" noEditPoints="1" noAdjustHandles="1" noChangeArrowheads="1" noChangeShapeType="1" noTextEdit="1"/>
              </p:cNvSpPr>
              <p:nvPr/>
            </p:nvSpPr>
            <p:spPr>
              <a:xfrm>
                <a:off x="394970" y="1352550"/>
                <a:ext cx="2703830" cy="603250"/>
              </a:xfrm>
              <a:prstGeom prst="roundRect">
                <a:avLst>
                  <a:gd name="adj" fmla="val 0"/>
                </a:avLst>
              </a:prstGeom>
              <a:blipFill rotWithShape="1">
                <a:blip r:embed="rId2"/>
                <a:stretch>
                  <a:fillRect t="-421" b="-632"/>
                </a:stretch>
              </a:blipFill>
              <a:ln w="25400" cap="flat" cmpd="sng">
                <a:noFill/>
                <a:prstDash val="solid"/>
                <a:round/>
              </a:ln>
            </p:spPr>
            <p:txBody>
              <a:bodyPr/>
              <a:lstStyle/>
              <a:p>
                <a:r>
                  <a:rPr lang="zh-CN" altLang="en-US">
                    <a:noFill/>
                  </a:rPr>
                  <a:t> </a:t>
                </a:r>
              </a:p>
            </p:txBody>
          </p:sp>
        </mc:Fallback>
      </mc:AlternateContent>
      <p:sp>
        <p:nvSpPr>
          <p:cNvPr id="8" name="AutoShape 8"/>
          <p:cNvSpPr/>
          <p:nvPr/>
        </p:nvSpPr>
        <p:spPr>
          <a:xfrm>
            <a:off x="3352800" y="1054100"/>
            <a:ext cx="3063875" cy="965200"/>
          </a:xfrm>
          <a:prstGeom prst="roundRect">
            <a:avLst>
              <a:gd name="adj" fmla="val 5633"/>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3454400" y="1058545"/>
            <a:ext cx="2806700" cy="2286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Core Research Objective</a:t>
            </a:r>
            <a:endParaRPr lang="en-US" sz="1100"/>
          </a:p>
        </p:txBody>
      </p:sp>
      <p:sp>
        <p:nvSpPr>
          <p:cNvPr id="10" name="AutoShape 10"/>
          <p:cNvSpPr/>
          <p:nvPr/>
        </p:nvSpPr>
        <p:spPr>
          <a:xfrm>
            <a:off x="3454400" y="1397000"/>
            <a:ext cx="2961640" cy="558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altLang="zh-CN" sz="1000"/>
              <a:t>Without leaking raw data, accurately screen out the significant feature support set shared across all sites through federated collaboration, and conduct valid statistical inference and hypothesis testing.</a:t>
            </a:r>
            <a:endParaRPr lang="en-US" altLang="zh-CN" sz="1000"/>
          </a:p>
        </p:txBody>
      </p:sp>
      <p:sp>
        <p:nvSpPr>
          <p:cNvPr id="11" name="AutoShape 11"/>
          <p:cNvSpPr/>
          <p:nvPr/>
        </p:nvSpPr>
        <p:spPr>
          <a:xfrm>
            <a:off x="190500" y="2146300"/>
            <a:ext cx="8763000" cy="952500"/>
          </a:xfrm>
          <a:prstGeom prst="roundRect">
            <a:avLst>
              <a:gd name="adj" fmla="val 10666"/>
            </a:avLst>
          </a:prstGeom>
          <a:solidFill>
            <a:srgbClr val="F0F9FF">
              <a:alpha val="100000"/>
            </a:srgbClr>
          </a:solidFill>
          <a:ln w="12700" cap="flat" cmpd="sng">
            <a:solidFill>
              <a:srgbClr val="C1D7E6">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330200" y="2209800"/>
            <a:ext cx="8382000" cy="2413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rPr>
              <a:t>High-Dimensional Generalized Linear Model for Each Site</a:t>
            </a:r>
            <a:endParaRPr lang="en-US" sz="1100"/>
          </a:p>
        </p:txBody>
      </p:sp>
      <mc:AlternateContent xmlns:mc="http://schemas.openxmlformats.org/markup-compatibility/2006">
        <mc:Choice xmlns:a14="http://schemas.microsoft.com/office/drawing/2010/main" Requires="a14">
          <p:sp>
            <p:nvSpPr>
              <p:cNvPr id="14" name="AutoShape 14"/>
              <p:cNvSpPr/>
              <p:nvPr/>
            </p:nvSpPr>
            <p:spPr>
              <a:xfrm>
                <a:off x="4517390" y="2433955"/>
                <a:ext cx="4385310" cy="6096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2000"/>
                  </a:lnSpc>
                  <a:defRPr/>
                </a:pPr>
                <a:r>
                  <a:rPr lang="en-US" altLang="zh-CN" sz="1000"/>
                  <a:t>Where </a:t>
                </a:r>
                <a14:m>
                  <m:oMath xmlns:m="http://schemas.openxmlformats.org/officeDocument/2006/math">
                    <m:sSup>
                      <m:sSupPr>
                        <m:ctrlPr>
                          <a:rPr lang="en-US" altLang="zh-CN" sz="1000" i="1" dirty="0">
                            <a:latin typeface="Cambria Math" panose="02040503050406030204" pitchFamily="18" charset="0"/>
                          </a:rPr>
                        </m:ctrlPr>
                      </m:sSupPr>
                      <m:e>
                        <m:r>
                          <a:rPr lang="en-US" altLang="zh-CN" sz="1000" dirty="0">
                            <a:latin typeface="Cambria Math" panose="02040503050406030204" pitchFamily="18" charset="0"/>
                          </a:rPr>
                          <m:t>𝛽</m:t>
                        </m:r>
                      </m:e>
                      <m:sup>
                        <m:r>
                          <a:rPr lang="en-US" altLang="zh-CN" sz="1000" dirty="0">
                            <a:latin typeface="Cambria Math" panose="02040503050406030204" pitchFamily="18" charset="0"/>
                          </a:rPr>
                          <m:t>(</m:t>
                        </m:r>
                        <m:r>
                          <a:rPr lang="en-US" altLang="zh-CN" sz="1000" dirty="0">
                            <a:latin typeface="Cambria Math" panose="02040503050406030204" pitchFamily="18" charset="0"/>
                          </a:rPr>
                          <m:t>𝐾</m:t>
                        </m:r>
                        <m:r>
                          <a:rPr lang="en-US" altLang="zh-CN" sz="1000" dirty="0">
                            <a:latin typeface="Cambria Math" panose="02040503050406030204" pitchFamily="18" charset="0"/>
                          </a:rPr>
                          <m:t>∗)</m:t>
                        </m:r>
                      </m:sup>
                    </m:sSup>
                    <m:r>
                      <a:rPr lang="en-US" altLang="zh-CN" sz="1000" dirty="0">
                        <a:latin typeface="Cambria Math" panose="02040503050406030204" pitchFamily="18" charset="0"/>
                      </a:rPr>
                      <m:t> </m:t>
                    </m:r>
                  </m:oMath>
                </a14:m>
                <a:r>
                  <a:rPr lang="en-US" altLang="zh-CN" sz="1000"/>
                  <a:t> is the true parameter vector for site k;  </a:t>
                </a:r>
                <a14:m>
                  <m:oMath xmlns:m="http://schemas.openxmlformats.org/officeDocument/2006/math">
                    <m:r>
                      <a:rPr lang="en-US" altLang="zh-CN" sz="1000" dirty="0">
                        <a:latin typeface="Cambria Math" panose="02040503050406030204" pitchFamily="18" charset="0"/>
                        <a:sym typeface="Noto Sans SC" panose="020B0200000000000000" charset="-122"/>
                      </a:rPr>
                      <m:t>𝜌</m:t>
                    </m:r>
                    <m:r>
                      <a:rPr lang="en-US" altLang="zh-CN" sz="1000" dirty="0">
                        <a:latin typeface="Cambria Math" panose="02040503050406030204" pitchFamily="18" charset="0"/>
                        <a:sym typeface="Noto Sans SC" panose="020B0200000000000000" charset="-122"/>
                      </a:rPr>
                      <m:t>(·) </m:t>
                    </m:r>
                  </m:oMath>
                </a14:m>
                <a:r>
                  <a:rPr lang="en-US" altLang="zh-CN" sz="1000"/>
                  <a:t>is a strictly convex function covering mainstream models like linear and logistic regression.</a:t>
                </a:r>
                <a:endParaRPr lang="en-US" altLang="zh-CN" sz="1000"/>
              </a:p>
              <a:p>
                <a:pPr indent="0" algn="l">
                  <a:lnSpc>
                    <a:spcPct val="102000"/>
                  </a:lnSpc>
                  <a:defRPr/>
                </a:pPr>
                <a:r>
                  <a:rPr lang="en-US" altLang="zh-CN" sz="1000"/>
                  <a:t> GLMs model different types of response variables more flexibly than simple linear models.  </a:t>
                </a:r>
                <a:r>
                  <a:rPr lang="en-US" altLang="zh-CN" sz="1100"/>
                  <a:t> </a:t>
                </a:r>
                <a:endParaRPr lang="en-US" altLang="zh-CN" sz="1100"/>
              </a:p>
            </p:txBody>
          </p:sp>
        </mc:Choice>
        <mc:Fallback>
          <p:sp>
            <p:nvSpPr>
              <p:cNvPr id="14" name="AutoShape 14"/>
              <p:cNvSpPr>
                <a:spLocks noRot="1" noChangeAspect="1" noMove="1" noResize="1" noEditPoints="1" noAdjustHandles="1" noChangeArrowheads="1" noChangeShapeType="1" noTextEdit="1"/>
              </p:cNvSpPr>
              <p:nvPr/>
            </p:nvSpPr>
            <p:spPr>
              <a:xfrm>
                <a:off x="4517390" y="2433955"/>
                <a:ext cx="4385310" cy="609600"/>
              </a:xfrm>
              <a:prstGeom prst="roundRect">
                <a:avLst>
                  <a:gd name="adj" fmla="val 0"/>
                </a:avLst>
              </a:prstGeom>
              <a:blipFill rotWithShape="1">
                <a:blip r:embed="rId3"/>
                <a:stretch>
                  <a:fillRect t="-2917" b="-3021"/>
                </a:stretch>
              </a:blipFill>
              <a:ln w="25400" cap="flat" cmpd="sng">
                <a:noFill/>
                <a:prstDash val="solid"/>
                <a:round/>
              </a:ln>
            </p:spPr>
            <p:txBody>
              <a:bodyPr/>
              <a:lstStyle/>
              <a:p>
                <a:r>
                  <a:rPr lang="zh-CN" altLang="en-US">
                    <a:noFill/>
                  </a:rPr>
                  <a:t> </a:t>
                </a:r>
              </a:p>
            </p:txBody>
          </p:sp>
        </mc:Fallback>
      </mc:AlternateContent>
      <p:sp>
        <p:nvSpPr>
          <p:cNvPr id="15" name="AutoShape 15"/>
          <p:cNvSpPr/>
          <p:nvPr/>
        </p:nvSpPr>
        <p:spPr>
          <a:xfrm>
            <a:off x="190500" y="3149600"/>
            <a:ext cx="8763000" cy="1282700"/>
          </a:xfrm>
          <a:prstGeom prst="roundRect">
            <a:avLst>
              <a:gd name="adj" fmla="val 6930"/>
            </a:avLst>
          </a:prstGeom>
          <a:solidFill>
            <a:srgbClr val="FFFFFF">
              <a:alpha val="100000"/>
            </a:srgbClr>
          </a:solidFill>
          <a:ln w="12700" cap="flat" cmpd="sng">
            <a:solidFill>
              <a:srgbClr val="E6CFCF">
                <a:alpha val="100000"/>
              </a:srgbClr>
            </a:solidFill>
            <a:prstDash val="solid"/>
            <a:round/>
          </a:ln>
          <a:effectLst>
            <a:outerShdw blurRad="762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16" name="AutoShape 16"/>
          <p:cNvSpPr/>
          <p:nvPr/>
        </p:nvSpPr>
        <p:spPr>
          <a:xfrm>
            <a:off x="330200" y="3225800"/>
            <a:ext cx="8483600" cy="2286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100" b="1">
                <a:solidFill>
                  <a:srgbClr val="B91C1C"/>
                </a:solidFill>
                <a:latin typeface="微软雅黑" panose="020B0503020204020204" charset="-122"/>
                <a:ea typeface="微软雅黑" panose="020B0503020204020204" charset="-122"/>
                <a:cs typeface="微软雅黑" panose="020B0503020204020204" charset="-122"/>
              </a:rPr>
              <a:t>Breakthrough: Assumption A1 (Heterogeneity)</a:t>
            </a:r>
            <a:endParaRPr lang="en-US" sz="1100" b="1">
              <a:solidFill>
                <a:srgbClr val="B91C1C"/>
              </a:solidFill>
              <a:latin typeface="微软雅黑" panose="020B0503020204020204" charset="-122"/>
              <a:ea typeface="微软雅黑" panose="020B0503020204020204" charset="-122"/>
              <a:cs typeface="微软雅黑" panose="020B0503020204020204" charset="-122"/>
            </a:endParaRPr>
          </a:p>
        </p:txBody>
      </p:sp>
      <p:sp>
        <p:nvSpPr>
          <p:cNvPr id="17" name="AutoShape 17"/>
          <p:cNvSpPr/>
          <p:nvPr/>
        </p:nvSpPr>
        <p:spPr>
          <a:xfrm>
            <a:off x="330200" y="3505200"/>
            <a:ext cx="3949700" cy="812800"/>
          </a:xfrm>
          <a:prstGeom prst="roundRect">
            <a:avLst>
              <a:gd name="adj" fmla="val 625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mc:AlternateContent xmlns:mc="http://schemas.openxmlformats.org/markup-compatibility/2006">
        <mc:Choice xmlns:a14="http://schemas.microsoft.com/office/drawing/2010/main" Requires="a14">
          <p:sp>
            <p:nvSpPr>
              <p:cNvPr id="18" name="AutoShape 18"/>
              <p:cNvSpPr/>
              <p:nvPr/>
            </p:nvSpPr>
            <p:spPr>
              <a:xfrm>
                <a:off x="431800" y="3556000"/>
                <a:ext cx="3810000" cy="73025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92000"/>
                  </a:lnSpc>
                  <a:defRPr/>
                </a:pPr>
                <a:r>
                  <a:rPr lang="en-US" sz="1200" b="1">
                    <a:solidFill>
                      <a:srgbClr val="4B5563"/>
                    </a:solidFill>
                    <a:latin typeface="Calibri" panose="020F0502020204030204"/>
                    <a:ea typeface="Calibri" panose="020F0502020204030204"/>
                    <a:cs typeface="Calibri" panose="020F0502020204030204"/>
                  </a:rPr>
                  <a:t>Traditional Federated Assumption: Homogeneity</a:t>
                </a:r>
                <a:endParaRPr lang="en-US" altLang="zh-CN" sz="1200"/>
              </a:p>
              <a:p>
                <a:pPr indent="0" algn="l">
                  <a:lnSpc>
                    <a:spcPct val="102000"/>
                  </a:lnSpc>
                </a:pPr>
                <a:r>
                  <a:rPr lang="en-US" altLang="zh-CN" sz="1000" b="0" i="0" u="none" strike="noStrike">
                    <a:solidFill>
                      <a:srgbClr val="333333"/>
                    </a:solidFill>
                    <a:latin typeface="Calibri" panose="020F0502020204030204"/>
                    <a:ea typeface="Calibri" panose="020F0502020204030204"/>
                    <a:cs typeface="Calibri" panose="020F0502020204030204"/>
                    <a:sym typeface="Calibri" panose="020F0502020204030204"/>
                  </a:rPr>
                  <a:t>Strictly requires </a:t>
                </a:r>
                <a14:m>
                  <m:oMath xmlns:m="http://schemas.openxmlformats.org/officeDocument/2006/math">
                    <m:sSup>
                      <m:sSupPr>
                        <m:ctrlPr>
                          <a:rPr lang="en-US" altLang="zh-CN" sz="1000" b="1" i="1">
                            <a:latin typeface="Cambria Math" panose="02040503050406030204" pitchFamily="18" charset="0"/>
                            <a:sym typeface="Noto Sans SC" panose="020B0200000000000000" charset="-122"/>
                          </a:rPr>
                        </m:ctrlPr>
                      </m:sSupPr>
                      <m:e>
                        <m:r>
                          <a:rPr lang="zh-CN" altLang="en-US" sz="1000" b="1" i="1">
                            <a:latin typeface="Cambria Math" panose="02040503050406030204" pitchFamily="18" charset="0"/>
                            <a:sym typeface="Noto Sans SC" panose="020B0200000000000000" charset="-122"/>
                          </a:rPr>
                          <m:t>𝛃</m:t>
                        </m:r>
                      </m:e>
                      <m:sup>
                        <m:r>
                          <a:rPr lang="en-US" altLang="zh-CN" sz="1000" b="1">
                            <a:latin typeface="Cambria Math" panose="02040503050406030204" pitchFamily="18" charset="0"/>
                            <a:sym typeface="Noto Sans SC" panose="020B0200000000000000" charset="-122"/>
                          </a:rPr>
                          <m:t>(</m:t>
                        </m:r>
                        <m:r>
                          <a:rPr lang="en-US" altLang="zh-CN" sz="1000" b="1" i="1">
                            <a:latin typeface="Cambria Math" panose="02040503050406030204" pitchFamily="18" charset="0"/>
                            <a:sym typeface="Noto Sans SC" panose="020B0200000000000000" charset="-122"/>
                          </a:rPr>
                          <m:t>𝟏</m:t>
                        </m:r>
                        <m:r>
                          <a:rPr lang="en-US" altLang="zh-CN" sz="1000" b="1">
                            <a:latin typeface="Cambria Math" panose="02040503050406030204" pitchFamily="18" charset="0"/>
                            <a:sym typeface="Noto Sans SC" panose="020B0200000000000000" charset="-122"/>
                          </a:rPr>
                          <m:t>∗)</m:t>
                        </m:r>
                      </m:sup>
                    </m:sSup>
                    <m:r>
                      <a:rPr lang="en-US" altLang="zh-CN" sz="1000" b="1">
                        <a:latin typeface="Cambria Math" panose="02040503050406030204" pitchFamily="18" charset="0"/>
                        <a:sym typeface="Noto Sans SC" panose="020B0200000000000000" charset="-122"/>
                      </a:rPr>
                      <m:t>=⋯=</m:t>
                    </m:r>
                    <m:sSup>
                      <m:sSupPr>
                        <m:ctrlPr>
                          <a:rPr lang="en-US" altLang="zh-CN" sz="1000" b="1" i="1">
                            <a:latin typeface="Cambria Math" panose="02040503050406030204" pitchFamily="18" charset="0"/>
                            <a:sym typeface="Noto Sans SC" panose="020B0200000000000000" charset="-122"/>
                          </a:rPr>
                        </m:ctrlPr>
                      </m:sSupPr>
                      <m:e>
                        <m:r>
                          <a:rPr lang="zh-CN" altLang="en-US" sz="1000" b="1" i="1">
                            <a:latin typeface="Cambria Math" panose="02040503050406030204" pitchFamily="18" charset="0"/>
                            <a:sym typeface="Noto Sans SC" panose="020B0200000000000000" charset="-122"/>
                          </a:rPr>
                          <m:t>𝛃</m:t>
                        </m:r>
                      </m:e>
                      <m:sup>
                        <m:d>
                          <m:dPr>
                            <m:ctrlPr>
                              <a:rPr lang="en-US" altLang="zh-CN" sz="1000" b="1" i="1">
                                <a:latin typeface="Cambria Math" panose="02040503050406030204" pitchFamily="18" charset="0"/>
                                <a:sym typeface="Noto Sans SC" panose="020B0200000000000000" charset="-122"/>
                              </a:rPr>
                            </m:ctrlPr>
                          </m:dPr>
                          <m:e>
                            <m:r>
                              <a:rPr lang="en-US" altLang="zh-CN" sz="1000" b="1" i="1">
                                <a:latin typeface="Cambria Math" panose="02040503050406030204" pitchFamily="18" charset="0"/>
                                <a:sym typeface="Noto Sans SC" panose="020B0200000000000000" charset="-122"/>
                              </a:rPr>
                              <m:t>𝐊</m:t>
                            </m:r>
                            <m:r>
                              <a:rPr lang="en-US" altLang="zh-CN" sz="1000" b="1">
                                <a:latin typeface="Cambria Math" panose="02040503050406030204" pitchFamily="18" charset="0"/>
                                <a:sym typeface="Noto Sans SC" panose="020B0200000000000000" charset="-122"/>
                              </a:rPr>
                              <m:t>∗</m:t>
                            </m:r>
                          </m:e>
                        </m:d>
                      </m:sup>
                    </m:sSup>
                    <m:box>
                      <m:boxPr>
                        <m:ctrlPr>
                          <a:rPr lang="en-US" altLang="zh-CN" sz="1000" b="1" i="1">
                            <a:latin typeface="Cambria Math" panose="02040503050406030204" pitchFamily="18" charset="0"/>
                            <a:sym typeface="Noto Sans SC" panose="020B0200000000000000" charset="-122"/>
                          </a:rPr>
                        </m:ctrlPr>
                      </m:boxPr>
                      <m:e>
                        <m:r>
                          <a:rPr lang="en-US" altLang="zh-CN" sz="1000" b="1">
                            <a:latin typeface="Cambria Math" panose="02040503050406030204" pitchFamily="18" charset="0"/>
                            <a:sym typeface="Noto Sans SC" panose="020B0200000000000000" charset="-122"/>
                          </a:rPr>
                          <m:t>≔</m:t>
                        </m:r>
                      </m:e>
                    </m:box>
                    <m:r>
                      <a:rPr lang="zh-CN" altLang="en-US" sz="1000" b="1" i="1">
                        <a:latin typeface="Cambria Math" panose="02040503050406030204" pitchFamily="18" charset="0"/>
                        <a:sym typeface="Noto Sans SC" panose="020B0200000000000000" charset="-122"/>
                      </a:rPr>
                      <m:t>𝛃</m:t>
                    </m:r>
                  </m:oMath>
                </a14:m>
                <a:r>
                  <a:rPr lang="en-US" altLang="zh-CN" sz="1000" b="0" i="0" u="none" strike="noStrike">
                    <a:solidFill>
                      <a:srgbClr val="333333"/>
                    </a:solidFill>
                    <a:latin typeface="Calibri" panose="020F0502020204030204"/>
                    <a:ea typeface="Calibri" panose="020F0502020204030204"/>
                    <a:cs typeface="Calibri" panose="020F0502020204030204"/>
                    <a:sym typeface="Calibri" panose="020F0502020204030204"/>
                  </a:rPr>
                  <a:t>. This assumption is overly stringent and ignores covariate and model shifts in multi-center data, leading to severely biased inference in real-world scenarios.   </a:t>
                </a:r>
                <a:endParaRPr lang="en-US" altLang="zh-CN" sz="1000" b="0" i="0" u="none" strike="noStrike">
                  <a:solidFill>
                    <a:srgbClr val="333333"/>
                  </a:solidFill>
                  <a:latin typeface="Calibri" panose="020F0502020204030204"/>
                  <a:ea typeface="Calibri" panose="020F0502020204030204"/>
                  <a:cs typeface="Calibri" panose="020F0502020204030204"/>
                  <a:sym typeface="Calibri" panose="020F0502020204030204"/>
                </a:endParaRPr>
              </a:p>
            </p:txBody>
          </p:sp>
        </mc:Choice>
        <mc:Fallback>
          <p:sp>
            <p:nvSpPr>
              <p:cNvPr id="18" name="AutoShape 18"/>
              <p:cNvSpPr>
                <a:spLocks noRot="1" noChangeAspect="1" noMove="1" noResize="1" noEditPoints="1" noAdjustHandles="1" noChangeArrowheads="1" noChangeShapeType="1" noTextEdit="1"/>
              </p:cNvSpPr>
              <p:nvPr/>
            </p:nvSpPr>
            <p:spPr>
              <a:xfrm>
                <a:off x="431800" y="3556000"/>
                <a:ext cx="3810000" cy="730250"/>
              </a:xfrm>
              <a:prstGeom prst="roundRect">
                <a:avLst>
                  <a:gd name="adj" fmla="val 0"/>
                </a:avLst>
              </a:prstGeom>
              <a:blipFill rotWithShape="1">
                <a:blip r:embed="rId4"/>
                <a:stretch>
                  <a:fillRect/>
                </a:stretch>
              </a:blipFill>
              <a:ln w="25400" cap="flat" cmpd="sng">
                <a:noFill/>
                <a:prstDash val="solid"/>
                <a:round/>
              </a:ln>
            </p:spPr>
            <p:txBody>
              <a:bodyPr/>
              <a:lstStyle/>
              <a:p>
                <a:r>
                  <a:rPr lang="zh-CN" altLang="en-US">
                    <a:noFill/>
                  </a:rPr>
                  <a:t> </a:t>
                </a:r>
              </a:p>
            </p:txBody>
          </p:sp>
        </mc:Fallback>
      </mc:AlternateContent>
      <p:sp>
        <p:nvSpPr>
          <p:cNvPr id="19" name="AutoShape 19"/>
          <p:cNvSpPr/>
          <p:nvPr/>
        </p:nvSpPr>
        <p:spPr>
          <a:xfrm>
            <a:off x="4470400" y="3454400"/>
            <a:ext cx="4368800" cy="894080"/>
          </a:xfrm>
          <a:prstGeom prst="roundRect">
            <a:avLst>
              <a:gd name="adj" fmla="val 9375"/>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p>
        </p:txBody>
      </p:sp>
      <mc:AlternateContent xmlns:mc="http://schemas.openxmlformats.org/markup-compatibility/2006">
        <mc:Choice xmlns:a14="http://schemas.microsoft.com/office/drawing/2010/main" Requires="a14">
          <p:sp>
            <p:nvSpPr>
              <p:cNvPr id="20" name="AutoShape 20"/>
              <p:cNvSpPr/>
              <p:nvPr/>
            </p:nvSpPr>
            <p:spPr>
              <a:xfrm>
                <a:off x="4572000" y="3289300"/>
                <a:ext cx="4241800" cy="9779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92000"/>
                  </a:lnSpc>
                  <a:defRPr/>
                </a:pPr>
                <a:r>
                  <a:rPr lang="en-US" altLang="zh-CN" b="1" i="0" u="none" strike="noStrike">
                    <a:solidFill>
                      <a:srgbClr val="047857"/>
                    </a:solidFill>
                    <a:latin typeface="Calibri" panose="020F0502020204030204"/>
                    <a:ea typeface="Calibri" panose="020F0502020204030204"/>
                    <a:cs typeface="Calibri" panose="020F0502020204030204"/>
                    <a:sym typeface="Calibri" panose="020F0502020204030204"/>
                  </a:rPr>
                  <a:t>Our Improvement: Heterogeneity Assumption</a:t>
                </a:r>
                <a:endParaRPr lang="en-US" altLang="zh-CN" b="1" i="0" u="none" strike="noStrike">
                  <a:solidFill>
                    <a:srgbClr val="047857"/>
                  </a:solidFill>
                  <a:latin typeface="Calibri" panose="020F0502020204030204"/>
                  <a:ea typeface="Calibri" panose="020F0502020204030204"/>
                  <a:cs typeface="Calibri" panose="020F0502020204030204"/>
                  <a:sym typeface="Calibri" panose="020F0502020204030204"/>
                </a:endParaRPr>
              </a:p>
              <a:p>
                <a:pPr indent="0" algn="l">
                  <a:lnSpc>
                    <a:spcPct val="92000"/>
                  </a:lnSpc>
                  <a:defRPr/>
                </a:pPr>
                <a14:m>
                  <m:oMathPara xmlns:m="http://schemas.openxmlformats.org/officeDocument/2006/math">
                    <m:oMathParaPr>
                      <m:jc m:val="centerGroup"/>
                    </m:oMathParaPr>
                    <m:oMath xmlns:m="http://schemas.openxmlformats.org/officeDocument/2006/math">
                      <m:sSubSup>
                        <m:sSubSupPr>
                          <m:ctrlPr>
                            <a:rPr lang="en-US" altLang="zh-CN" sz="1100" b="1" i="1">
                              <a:solidFill>
                                <a:srgbClr val="333333"/>
                              </a:solidFill>
                              <a:latin typeface="Cambria Math" panose="02040503050406030204" pitchFamily="18" charset="0"/>
                              <a:ea typeface="微软雅黑" panose="020B0503020204020204" charset="-122"/>
                              <a:sym typeface="Noto Sans SC" panose="020B0200000000000000" charset="-122"/>
                            </a:rPr>
                          </m:ctrlPr>
                        </m:sSubSupPr>
                        <m:e>
                          <m:r>
                            <a:rPr lang="zh-CN" altLang="en-US" sz="1100" b="1">
                              <a:solidFill>
                                <a:srgbClr val="333333"/>
                              </a:solidFill>
                              <a:latin typeface="Cambria Math" panose="02040503050406030204" pitchFamily="18" charset="0"/>
                              <a:ea typeface="微软雅黑" panose="020B0503020204020204" charset="-122"/>
                              <a:sym typeface="Noto Sans SC" panose="020B0200000000000000" charset="-122"/>
                            </a:rPr>
                            <m:t>𝜷</m:t>
                          </m:r>
                        </m:e>
                        <m:sub>
                          <m:r>
                            <a:rPr lang="en-US" altLang="zh-CN" sz="1100" b="1">
                              <a:solidFill>
                                <a:srgbClr val="333333"/>
                              </a:solidFill>
                              <a:latin typeface="Cambria Math" panose="02040503050406030204" pitchFamily="18" charset="0"/>
                              <a:ea typeface="微软雅黑" panose="020B0503020204020204" charset="-122"/>
                              <a:sym typeface="Noto Sans SC" panose="020B0200000000000000" charset="-122"/>
                            </a:rPr>
                            <m:t>𝒋</m:t>
                          </m:r>
                        </m:sub>
                        <m:sup>
                          <m:r>
                            <a:rPr lang="en-US" altLang="zh-CN" sz="1100" b="1">
                              <a:solidFill>
                                <a:srgbClr val="333333"/>
                              </a:solidFill>
                              <a:latin typeface="Cambria Math" panose="02040503050406030204" pitchFamily="18" charset="0"/>
                              <a:ea typeface="微软雅黑" panose="020B0503020204020204" charset="-122"/>
                              <a:sym typeface="Noto Sans SC" panose="020B0200000000000000" charset="-122"/>
                            </a:rPr>
                            <m:t>(</m:t>
                          </m:r>
                          <m:r>
                            <a:rPr lang="en-US" altLang="zh-CN" sz="1100" b="1">
                              <a:solidFill>
                                <a:srgbClr val="333333"/>
                              </a:solidFill>
                              <a:latin typeface="Cambria Math" panose="02040503050406030204" pitchFamily="18" charset="0"/>
                              <a:ea typeface="微软雅黑" panose="020B0503020204020204" charset="-122"/>
                              <a:sym typeface="Noto Sans SC" panose="020B0200000000000000" charset="-122"/>
                            </a:rPr>
                            <m:t>𝒌</m:t>
                          </m:r>
                          <m:r>
                            <a:rPr lang="en-US" altLang="zh-CN" sz="1100" b="1">
                              <a:solidFill>
                                <a:srgbClr val="333333"/>
                              </a:solidFill>
                              <a:latin typeface="Cambria Math" panose="02040503050406030204" pitchFamily="18" charset="0"/>
                              <a:ea typeface="微软雅黑" panose="020B0503020204020204" charset="-122"/>
                              <a:sym typeface="Noto Sans SC" panose="020B0200000000000000" charset="-122"/>
                            </a:rPr>
                            <m:t>∗)</m:t>
                          </m:r>
                        </m:sup>
                      </m:sSubSup>
                      <m:r>
                        <a:rPr lang="en-US" altLang="zh-CN" sz="1100" b="1">
                          <a:solidFill>
                            <a:srgbClr val="333333"/>
                          </a:solidFill>
                          <a:latin typeface="Cambria Math" panose="02040503050406030204" pitchFamily="18" charset="0"/>
                          <a:ea typeface="微软雅黑" panose="020B0503020204020204" charset="-122"/>
                          <a:sym typeface="Noto Sans SC" panose="020B0200000000000000" charset="-122"/>
                        </a:rPr>
                        <m:t>=</m:t>
                      </m:r>
                      <m:sSubSup>
                        <m:sSubSupPr>
                          <m:ctrlPr>
                            <a:rPr lang="en-US" altLang="zh-CN" sz="1100" b="1" i="1">
                              <a:solidFill>
                                <a:srgbClr val="333333"/>
                              </a:solidFill>
                              <a:latin typeface="Cambria Math" panose="02040503050406030204" pitchFamily="18" charset="0"/>
                              <a:ea typeface="微软雅黑" panose="020B0503020204020204" charset="-122"/>
                              <a:sym typeface="Noto Sans SC" panose="020B0200000000000000" charset="-122"/>
                            </a:rPr>
                          </m:ctrlPr>
                        </m:sSubSupPr>
                        <m:e>
                          <m:r>
                            <a:rPr lang="zh-CN" altLang="en-US" sz="1100" b="1">
                              <a:solidFill>
                                <a:srgbClr val="333333"/>
                              </a:solidFill>
                              <a:latin typeface="Cambria Math" panose="02040503050406030204" pitchFamily="18" charset="0"/>
                              <a:ea typeface="微软雅黑" panose="020B0503020204020204" charset="-122"/>
                              <a:sym typeface="Noto Sans SC" panose="020B0200000000000000" charset="-122"/>
                            </a:rPr>
                            <m:t>𝝈</m:t>
                          </m:r>
                        </m:e>
                        <m:sub>
                          <m:r>
                            <a:rPr lang="en-US" altLang="zh-CN" sz="1100" b="1">
                              <a:solidFill>
                                <a:srgbClr val="333333"/>
                              </a:solidFill>
                              <a:latin typeface="Cambria Math" panose="02040503050406030204" pitchFamily="18" charset="0"/>
                              <a:ea typeface="微软雅黑" panose="020B0503020204020204" charset="-122"/>
                              <a:sym typeface="Noto Sans SC" panose="020B0200000000000000" charset="-122"/>
                            </a:rPr>
                            <m:t>𝒋</m:t>
                          </m:r>
                        </m:sub>
                        <m:sup>
                          <m:r>
                            <a:rPr lang="en-US" altLang="zh-CN" sz="1100" b="1">
                              <a:solidFill>
                                <a:srgbClr val="333333"/>
                              </a:solidFill>
                              <a:latin typeface="Cambria Math" panose="02040503050406030204" pitchFamily="18" charset="0"/>
                              <a:ea typeface="微软雅黑" panose="020B0503020204020204" charset="-122"/>
                              <a:sym typeface="Noto Sans SC" panose="020B0200000000000000" charset="-122"/>
                            </a:rPr>
                            <m:t>𝒌</m:t>
                          </m:r>
                        </m:sup>
                      </m:sSubSup>
                      <m:sSub>
                        <m:sSubPr>
                          <m:ctrlPr>
                            <a:rPr lang="en-US" altLang="zh-CN" sz="1100" b="1" i="1">
                              <a:solidFill>
                                <a:srgbClr val="333333"/>
                              </a:solidFill>
                              <a:latin typeface="Cambria Math" panose="02040503050406030204" pitchFamily="18" charset="0"/>
                              <a:ea typeface="微软雅黑" panose="020B0503020204020204" charset="-122"/>
                              <a:sym typeface="Noto Sans SC" panose="020B0200000000000000" charset="-122"/>
                            </a:rPr>
                          </m:ctrlPr>
                        </m:sSubPr>
                        <m:e>
                          <m:r>
                            <a:rPr lang="zh-CN" altLang="en-US" sz="1100" b="1">
                              <a:solidFill>
                                <a:srgbClr val="333333"/>
                              </a:solidFill>
                              <a:latin typeface="Cambria Math" panose="02040503050406030204" pitchFamily="18" charset="0"/>
                              <a:ea typeface="微软雅黑" panose="020B0503020204020204" charset="-122"/>
                              <a:sym typeface="Noto Sans SC" panose="020B0200000000000000" charset="-122"/>
                            </a:rPr>
                            <m:t>𝜷</m:t>
                          </m:r>
                        </m:e>
                        <m:sub>
                          <m:r>
                            <a:rPr lang="en-US" altLang="zh-CN" sz="1100" b="1">
                              <a:solidFill>
                                <a:srgbClr val="333333"/>
                              </a:solidFill>
                              <a:latin typeface="Cambria Math" panose="02040503050406030204" pitchFamily="18" charset="0"/>
                              <a:ea typeface="微软雅黑" panose="020B0503020204020204" charset="-122"/>
                              <a:sym typeface="Noto Sans SC" panose="020B0200000000000000" charset="-122"/>
                            </a:rPr>
                            <m:t>𝒋</m:t>
                          </m:r>
                        </m:sub>
                      </m:sSub>
                      <m:r>
                        <a:rPr lang="en-US" altLang="zh-CN" sz="1100" b="1">
                          <a:solidFill>
                            <a:srgbClr val="333333"/>
                          </a:solidFill>
                          <a:latin typeface="Cambria Math" panose="02040503050406030204" pitchFamily="18" charset="0"/>
                          <a:ea typeface="微软雅黑" panose="020B0503020204020204" charset="-122"/>
                          <a:sym typeface="Noto Sans SC" panose="020B0200000000000000" charset="-122"/>
                        </a:rPr>
                        <m:t> </m:t>
                      </m:r>
                    </m:oMath>
                  </m:oMathPara>
                </a14:m>
                <a:endParaRPr lang="en-US" sz="1100"/>
              </a:p>
              <a:p>
                <a:pPr indent="0" algn="l">
                  <a:lnSpc>
                    <a:spcPct val="92000"/>
                  </a:lnSpc>
                </a:pPr>
                <a14:m>
                  <m:oMath xmlns:m="http://schemas.openxmlformats.org/officeDocument/2006/math">
                    <m:sSub>
                      <m:sSubPr>
                        <m:ctrlPr>
                          <a:rPr lang="en-US" altLang="zh-CN" sz="1000" b="1" i="1">
                            <a:solidFill>
                              <a:srgbClr val="4B5563"/>
                            </a:solidFill>
                            <a:latin typeface="Cambria Math" panose="02040503050406030204" pitchFamily="18" charset="0"/>
                            <a:ea typeface="Noto Sans SC" panose="020B0200000000000000" charset="-122"/>
                            <a:sym typeface="Noto Sans SC" panose="020B0200000000000000" charset="-122"/>
                          </a:rPr>
                        </m:ctrlPr>
                      </m:sSubPr>
                      <m:e>
                        <m:r>
                          <a:rPr lang="zh-CN" altLang="en-US" sz="1000" b="1" i="1">
                            <a:solidFill>
                              <a:srgbClr val="4B5563"/>
                            </a:solidFill>
                            <a:latin typeface="Cambria Math" panose="02040503050406030204" pitchFamily="18" charset="0"/>
                            <a:ea typeface="Noto Sans SC" panose="020B0200000000000000" charset="-122"/>
                            <a:sym typeface="Noto Sans SC" panose="020B0200000000000000" charset="-122"/>
                          </a:rPr>
                          <m:t>𝜷</m:t>
                        </m:r>
                      </m:e>
                      <m:sub>
                        <m:r>
                          <a:rPr lang="en-US" altLang="zh-CN" sz="1000" b="1" i="1">
                            <a:solidFill>
                              <a:srgbClr val="4B5563"/>
                            </a:solidFill>
                            <a:latin typeface="Cambria Math" panose="02040503050406030204" pitchFamily="18" charset="0"/>
                            <a:ea typeface="Noto Sans SC" panose="020B0200000000000000" charset="-122"/>
                            <a:sym typeface="Noto Sans SC" panose="020B0200000000000000" charset="-122"/>
                          </a:rPr>
                          <m:t>𝒋</m:t>
                        </m:r>
                      </m:sub>
                    </m:sSub>
                    <m:r>
                      <a:rPr lang="en-US" altLang="zh-CN" sz="1000" b="1" i="1">
                        <a:solidFill>
                          <a:srgbClr val="4B5563"/>
                        </a:solidFill>
                        <a:latin typeface="Cambria Math" panose="02040503050406030204" pitchFamily="18" charset="0"/>
                        <a:ea typeface="Noto Sans SC" panose="020B0200000000000000" charset="-122"/>
                        <a:sym typeface="Noto Sans SC" panose="020B0200000000000000" charset="-122"/>
                      </a:rPr>
                      <m:t>∈</m:t>
                    </m:r>
                    <m:d>
                      <m:dPr>
                        <m:begChr m:val="{"/>
                        <m:endChr m:val="}"/>
                        <m:ctrlPr>
                          <a:rPr lang="en-US" altLang="zh-CN" sz="1000" b="1" i="1" smtClean="0">
                            <a:solidFill>
                              <a:srgbClr val="4B5563"/>
                            </a:solidFill>
                            <a:latin typeface="Cambria Math" panose="02040503050406030204" pitchFamily="18" charset="0"/>
                            <a:ea typeface="Noto Sans SC" panose="020B0200000000000000" charset="-122"/>
                            <a:sym typeface="Noto Sans SC" panose="020B0200000000000000" charset="-122"/>
                          </a:rPr>
                        </m:ctrlPr>
                      </m:dPr>
                      <m:e>
                        <m:r>
                          <a:rPr lang="en-US" altLang="zh-CN" sz="1000" b="1" i="1">
                            <a:solidFill>
                              <a:srgbClr val="4B5563"/>
                            </a:solidFill>
                            <a:latin typeface="Cambria Math" panose="02040503050406030204" pitchFamily="18" charset="0"/>
                            <a:ea typeface="Noto Sans SC" panose="020B0200000000000000" charset="-122"/>
                            <a:sym typeface="Noto Sans SC" panose="020B0200000000000000" charset="-122"/>
                          </a:rPr>
                          <m:t>−</m:t>
                        </m:r>
                        <m:r>
                          <a:rPr lang="en-US" altLang="zh-CN" sz="1000" b="1" i="1" smtClean="0">
                            <a:solidFill>
                              <a:srgbClr val="4B5563"/>
                            </a:solidFill>
                            <a:latin typeface="Cambria Math" panose="02040503050406030204" pitchFamily="18" charset="0"/>
                            <a:ea typeface="Noto Sans SC" panose="020B0200000000000000" charset="-122"/>
                            <a:sym typeface="Noto Sans SC" panose="020B0200000000000000" charset="-122"/>
                          </a:rPr>
                          <m:t>𝟏</m:t>
                        </m:r>
                        <m:r>
                          <a:rPr lang="zh-CN" altLang="en-US" sz="1000" b="1" i="1">
                            <a:solidFill>
                              <a:srgbClr val="4B5563"/>
                            </a:solidFill>
                            <a:latin typeface="Cambria Math" panose="02040503050406030204" pitchFamily="18" charset="0"/>
                            <a:ea typeface="Noto Sans SC" panose="020B0200000000000000" charset="-122"/>
                            <a:sym typeface="Noto Sans SC" panose="020B0200000000000000" charset="-122"/>
                          </a:rPr>
                          <m:t>，</m:t>
                        </m:r>
                        <m:r>
                          <a:rPr lang="en-US" altLang="zh-CN" sz="1000" b="1" i="1" smtClean="0">
                            <a:solidFill>
                              <a:srgbClr val="4B5563"/>
                            </a:solidFill>
                            <a:latin typeface="Cambria Math" panose="02040503050406030204" pitchFamily="18" charset="0"/>
                            <a:ea typeface="Noto Sans SC" panose="020B0200000000000000" charset="-122"/>
                            <a:sym typeface="Noto Sans SC" panose="020B0200000000000000" charset="-122"/>
                          </a:rPr>
                          <m:t>𝟎</m:t>
                        </m:r>
                        <m:r>
                          <a:rPr lang="zh-CN" altLang="en-US" sz="1000" b="1" i="1">
                            <a:solidFill>
                              <a:srgbClr val="4B5563"/>
                            </a:solidFill>
                            <a:latin typeface="Cambria Math" panose="02040503050406030204" pitchFamily="18" charset="0"/>
                            <a:ea typeface="Noto Sans SC" panose="020B0200000000000000" charset="-122"/>
                            <a:sym typeface="Noto Sans SC" panose="020B0200000000000000" charset="-122"/>
                          </a:rPr>
                          <m:t>，</m:t>
                        </m:r>
                        <m:r>
                          <a:rPr lang="en-US" altLang="zh-CN" sz="1000" b="1" i="1" smtClean="0">
                            <a:solidFill>
                              <a:srgbClr val="4B5563"/>
                            </a:solidFill>
                            <a:latin typeface="Cambria Math" panose="02040503050406030204" pitchFamily="18" charset="0"/>
                            <a:ea typeface="Noto Sans SC" panose="020B0200000000000000" charset="-122"/>
                            <a:sym typeface="Noto Sans SC" panose="020B0200000000000000" charset="-122"/>
                          </a:rPr>
                          <m:t>𝟏</m:t>
                        </m:r>
                      </m:e>
                    </m:d>
                  </m:oMath>
                </a14:m>
                <a:r>
                  <a:rPr lang="zh-CN" altLang="en-US" sz="1000" b="1" dirty="0">
                    <a:sym typeface="+mn-ea"/>
                  </a:rPr>
                  <a:t>：</a:t>
                </a:r>
                <a:r>
                  <a:rPr lang="en-US" altLang="zh-CN" sz="1000" b="0" i="0" u="none" strike="noStrike">
                    <a:solidFill>
                      <a:srgbClr val="333333"/>
                    </a:solidFill>
                    <a:latin typeface="Calibri" panose="020F0502020204030204"/>
                    <a:ea typeface="Calibri" panose="020F0502020204030204"/>
                    <a:cs typeface="Calibri" panose="020F0502020204030204"/>
                    <a:sym typeface="Calibri" panose="020F0502020204030204"/>
                  </a:rPr>
                  <a:t> The baseline parameter shared across all sites, representing the direction of feature j (negative correlation, no effect, positive correlation).  </a:t>
                </a:r>
                <a:endParaRPr lang="en-US" altLang="zh-CN" sz="1000" b="0" i="0" u="none" strike="noStrike">
                  <a:solidFill>
                    <a:srgbClr val="333333"/>
                  </a:solidFill>
                  <a:latin typeface="Calibri" panose="020F0502020204030204"/>
                  <a:ea typeface="Calibri" panose="020F0502020204030204"/>
                  <a:cs typeface="Calibri" panose="020F0502020204030204"/>
                  <a:sym typeface="Calibri" panose="020F0502020204030204"/>
                </a:endParaRPr>
              </a:p>
              <a:p>
                <a:pPr indent="0" algn="l">
                  <a:lnSpc>
                    <a:spcPct val="92000"/>
                  </a:lnSpc>
                </a:pPr>
                <a14:m>
                  <m:oMath xmlns:m="http://schemas.openxmlformats.org/officeDocument/2006/math">
                    <m:sSubSup>
                      <m:sSubSupPr>
                        <m:ctrlPr>
                          <a:rPr lang="en-US" altLang="zh-CN" sz="1000" b="1" i="1">
                            <a:latin typeface="Cambria Math" panose="02040503050406030204" pitchFamily="18" charset="0"/>
                          </a:rPr>
                        </m:ctrlPr>
                      </m:sSubSupPr>
                      <m:e>
                        <m:r>
                          <a:rPr lang="zh-CN" altLang="en-US" sz="1000" b="1" i="1">
                            <a:latin typeface="Cambria Math" panose="02040503050406030204" pitchFamily="18" charset="0"/>
                          </a:rPr>
                          <m:t>𝝈</m:t>
                        </m:r>
                      </m:e>
                      <m:sub>
                        <m:r>
                          <a:rPr lang="en-US" altLang="zh-CN" sz="1000" b="1" i="1">
                            <a:latin typeface="Cambria Math" panose="02040503050406030204" pitchFamily="18" charset="0"/>
                          </a:rPr>
                          <m:t>𝒋</m:t>
                        </m:r>
                      </m:sub>
                      <m:sup>
                        <m:r>
                          <a:rPr lang="en-US" altLang="zh-CN" sz="1000" b="1" i="1">
                            <a:latin typeface="Cambria Math" panose="02040503050406030204" pitchFamily="18" charset="0"/>
                          </a:rPr>
                          <m:t>𝒌</m:t>
                        </m:r>
                      </m:sup>
                    </m:sSubSup>
                    <m:r>
                      <a:rPr lang="en-US" altLang="zh-CN" sz="1000" b="1" i="1">
                        <a:latin typeface="Cambria Math" panose="02040503050406030204" pitchFamily="18" charset="0"/>
                      </a:rPr>
                      <m:t>&gt;</m:t>
                    </m:r>
                    <m:r>
                      <a:rPr lang="en-US" altLang="zh-CN" sz="1000" b="1" i="1">
                        <a:latin typeface="Cambria Math" panose="02040503050406030204" pitchFamily="18" charset="0"/>
                      </a:rPr>
                      <m:t>𝟎</m:t>
                    </m:r>
                  </m:oMath>
                </a14:m>
                <a:r>
                  <a:rPr lang="zh-CN" altLang="en-US" sz="1000" b="1" dirty="0">
                    <a:sym typeface="+mn-ea"/>
                  </a:rPr>
                  <a:t>：</a:t>
                </a:r>
                <a:r>
                  <a:rPr lang="en-US" altLang="zh-CN" sz="1000" b="0" i="0" u="none" strike="noStrike">
                    <a:solidFill>
                      <a:srgbClr val="333333"/>
                    </a:solidFill>
                    <a:latin typeface="Calibri" panose="020F0502020204030204"/>
                    <a:ea typeface="Calibri" panose="020F0502020204030204"/>
                    <a:cs typeface="Calibri" panose="020F0502020204030204"/>
                    <a:sym typeface="Calibri" panose="020F0502020204030204"/>
                  </a:rPr>
                  <a:t>The signal strength of feature j at specific site k, representing varying effect sizes across sites.</a:t>
                </a:r>
                <a:endParaRPr lang="en-US" altLang="zh-CN" sz="1000" b="0" i="0" u="none" strike="noStrike">
                  <a:solidFill>
                    <a:srgbClr val="333333"/>
                  </a:solidFill>
                  <a:latin typeface="Calibri" panose="020F0502020204030204"/>
                  <a:ea typeface="Calibri" panose="020F0502020204030204"/>
                  <a:cs typeface="Calibri" panose="020F0502020204030204"/>
                  <a:sym typeface="Calibri" panose="020F0502020204030204"/>
                </a:endParaRPr>
              </a:p>
            </p:txBody>
          </p:sp>
        </mc:Choice>
        <mc:Fallback>
          <p:sp>
            <p:nvSpPr>
              <p:cNvPr id="20" name="AutoShape 20"/>
              <p:cNvSpPr>
                <a:spLocks noRot="1" noChangeAspect="1" noMove="1" noResize="1" noEditPoints="1" noAdjustHandles="1" noChangeArrowheads="1" noChangeShapeType="1" noTextEdit="1"/>
              </p:cNvSpPr>
              <p:nvPr/>
            </p:nvSpPr>
            <p:spPr>
              <a:xfrm>
                <a:off x="4572000" y="3289300"/>
                <a:ext cx="4241800" cy="977900"/>
              </a:xfrm>
              <a:prstGeom prst="roundRect">
                <a:avLst>
                  <a:gd name="adj" fmla="val 0"/>
                </a:avLst>
              </a:prstGeom>
              <a:blipFill rotWithShape="1">
                <a:blip r:embed="rId5"/>
                <a:stretch>
                  <a:fillRect t="-4481" b="-1299"/>
                </a:stretch>
              </a:blipFill>
              <a:ln w="25400" cap="flat" cmpd="sng">
                <a:noFill/>
                <a:prstDash val="solid"/>
                <a:round/>
              </a:ln>
            </p:spPr>
            <p:txBody>
              <a:bodyPr/>
              <a:lstStyle/>
              <a:p>
                <a:r>
                  <a:rPr lang="zh-CN" altLang="en-US">
                    <a:noFill/>
                  </a:rPr>
                  <a:t> </a:t>
                </a:r>
              </a:p>
            </p:txBody>
          </p:sp>
        </mc:Fallback>
      </mc:AlternateContent>
      <p:sp>
        <p:nvSpPr>
          <p:cNvPr id="21" name="AutoShape 21"/>
          <p:cNvSpPr/>
          <p:nvPr/>
        </p:nvSpPr>
        <p:spPr>
          <a:xfrm>
            <a:off x="190500" y="4483100"/>
            <a:ext cx="8763000" cy="520700"/>
          </a:xfrm>
          <a:prstGeom prst="roundRect">
            <a:avLst>
              <a:gd name="adj" fmla="val 9756"/>
            </a:avLst>
          </a:prstGeom>
          <a:solidFill>
            <a:srgbClr val="DBEAFE">
              <a:alpha val="100000"/>
            </a:srgbClr>
          </a:solidFill>
          <a:ln w="25400" cap="flat" cmpd="sng">
            <a:noFill/>
            <a:prstDash val="solid"/>
            <a:round/>
          </a:ln>
        </p:spPr>
        <p:txBody>
          <a:bodyPr vert="horz" wrap="square" lIns="63500" tIns="63500" rIns="63500" bIns="63500" rtlCol="0" anchor="ctr"/>
          <a:lstStyle/>
          <a:p>
            <a:pPr algn="ctr">
              <a:defRPr/>
            </a:pPr>
          </a:p>
        </p:txBody>
      </p:sp>
      <mc:AlternateContent xmlns:mc="http://schemas.openxmlformats.org/markup-compatibility/2006">
        <mc:Choice xmlns:a14="http://schemas.microsoft.com/office/drawing/2010/main" Requires="a14">
          <p:sp>
            <p:nvSpPr>
              <p:cNvPr id="22" name="AutoShape 22"/>
              <p:cNvSpPr/>
              <p:nvPr/>
            </p:nvSpPr>
            <p:spPr>
              <a:xfrm>
                <a:off x="330200" y="4572000"/>
                <a:ext cx="84836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1000" b="1">
                    <a:solidFill>
                      <a:srgbClr val="1E3A8A"/>
                    </a:solidFill>
                    <a:latin typeface="Calibri" panose="020F0502020204030204"/>
                    <a:ea typeface="Calibri" panose="020F0502020204030204"/>
                    <a:cs typeface="Calibri" panose="020F0502020204030204"/>
                  </a:rPr>
                  <a:t>It assumes all sites share a baseline "direction" (a feature is either important everywhere or nowhere), but each site can have its own unique "intensity."  This allows for varying effect sizes across sites while ensuring all sites share a common feature support set </a:t>
                </a:r>
                <a14:m>
                  <m:oMath xmlns:m="http://schemas.openxmlformats.org/officeDocument/2006/math">
                    <m:sSub>
                      <m:sSubPr>
                        <m:ctrlPr>
                          <a:rPr lang="en-US" altLang="zh-CN" sz="1000" b="1" i="1" smtClean="0">
                            <a:solidFill>
                              <a:srgbClr val="1E3A8A"/>
                            </a:solidFill>
                            <a:latin typeface="Cambria Math" panose="02040503050406030204" pitchFamily="18" charset="0"/>
                            <a:ea typeface="Noto Sans SC" panose="020B0200000000000000" charset="-122"/>
                            <a:sym typeface="Noto Sans SC" panose="020B0200000000000000" charset="-122"/>
                          </a:rPr>
                        </m:ctrlPr>
                      </m:sSubPr>
                      <m:e>
                        <m:r>
                          <a:rPr lang="en-US" altLang="zh-CN" sz="1000" b="1" i="1" smtClean="0">
                            <a:solidFill>
                              <a:srgbClr val="1E3A8A"/>
                            </a:solidFill>
                            <a:latin typeface="Cambria Math" panose="02040503050406030204" pitchFamily="18" charset="0"/>
                            <a:ea typeface="Noto Sans SC" panose="020B0200000000000000" charset="-122"/>
                            <a:sym typeface="Noto Sans SC" panose="020B0200000000000000" charset="-122"/>
                          </a:rPr>
                          <m:t>𝑺</m:t>
                        </m:r>
                      </m:e>
                      <m:sub>
                        <m:r>
                          <a:rPr lang="en-US" altLang="zh-CN" sz="1000" b="1" i="1" smtClean="0">
                            <a:solidFill>
                              <a:srgbClr val="1E3A8A"/>
                            </a:solidFill>
                            <a:latin typeface="Cambria Math" panose="02040503050406030204" pitchFamily="18" charset="0"/>
                            <a:ea typeface="Noto Sans SC" panose="020B0200000000000000" charset="-122"/>
                            <a:sym typeface="Noto Sans SC" panose="020B0200000000000000" charset="-122"/>
                          </a:rPr>
                          <m:t>𝟏</m:t>
                        </m:r>
                      </m:sub>
                    </m:sSub>
                    <m:r>
                      <a:rPr lang="en-US" altLang="zh-CN" sz="1000" b="1" i="1" smtClean="0">
                        <a:solidFill>
                          <a:srgbClr val="1E3A8A"/>
                        </a:solidFill>
                        <a:latin typeface="Cambria Math" panose="02040503050406030204" pitchFamily="18" charset="0"/>
                        <a:ea typeface="Noto Sans SC" panose="020B0200000000000000" charset="-122"/>
                        <a:sym typeface="Noto Sans SC" panose="020B0200000000000000" charset="-122"/>
                      </a:rPr>
                      <m:t>={</m:t>
                    </m:r>
                    <m:r>
                      <a:rPr lang="en-US" altLang="zh-CN" sz="1000" b="1" i="1" smtClean="0">
                        <a:solidFill>
                          <a:srgbClr val="1E3A8A"/>
                        </a:solidFill>
                        <a:latin typeface="Cambria Math" panose="02040503050406030204" pitchFamily="18" charset="0"/>
                        <a:ea typeface="Noto Sans SC" panose="020B0200000000000000" charset="-122"/>
                        <a:sym typeface="Noto Sans SC" panose="020B0200000000000000" charset="-122"/>
                      </a:rPr>
                      <m:t>𝒋</m:t>
                    </m:r>
                    <m:r>
                      <a:rPr lang="en-US" altLang="zh-CN" sz="1000" b="1" i="1" smtClean="0">
                        <a:solidFill>
                          <a:srgbClr val="1E3A8A"/>
                        </a:solidFill>
                        <a:latin typeface="Cambria Math" panose="02040503050406030204" pitchFamily="18" charset="0"/>
                        <a:ea typeface="Cambria Math" panose="02040503050406030204" pitchFamily="18" charset="0"/>
                        <a:sym typeface="Noto Sans SC" panose="020B0200000000000000" charset="-122"/>
                      </a:rPr>
                      <m:t>∈</m:t>
                    </m:r>
                    <m:d>
                      <m:dPr>
                        <m:begChr m:val="{"/>
                        <m:endChr m:val="}"/>
                        <m:ctrlPr>
                          <a:rPr lang="en-US" altLang="zh-CN" sz="1000" b="1" i="1" smtClean="0">
                            <a:solidFill>
                              <a:srgbClr val="1E3A8A"/>
                            </a:solidFill>
                            <a:latin typeface="Cambria Math" panose="02040503050406030204" pitchFamily="18" charset="0"/>
                            <a:ea typeface="Noto Sans SC" panose="020B0200000000000000" charset="-122"/>
                            <a:sym typeface="Noto Sans SC" panose="020B0200000000000000" charset="-122"/>
                          </a:rPr>
                        </m:ctrlPr>
                      </m:dPr>
                      <m:e>
                        <m:r>
                          <a:rPr lang="en-US" altLang="zh-CN" sz="1000" b="1" i="1" smtClean="0">
                            <a:solidFill>
                              <a:srgbClr val="1E3A8A"/>
                            </a:solidFill>
                            <a:latin typeface="Cambria Math" panose="02040503050406030204" pitchFamily="18" charset="0"/>
                            <a:ea typeface="Noto Sans SC" panose="020B0200000000000000" charset="-122"/>
                            <a:sym typeface="Noto Sans SC" panose="020B0200000000000000" charset="-122"/>
                          </a:rPr>
                          <m:t>𝟏</m:t>
                        </m:r>
                        <m:r>
                          <a:rPr lang="en-US" altLang="zh-CN" sz="1000" b="1" i="1" smtClean="0">
                            <a:solidFill>
                              <a:srgbClr val="1E3A8A"/>
                            </a:solidFill>
                            <a:latin typeface="Cambria Math" panose="02040503050406030204" pitchFamily="18" charset="0"/>
                            <a:ea typeface="Noto Sans SC" panose="020B0200000000000000" charset="-122"/>
                            <a:sym typeface="Noto Sans SC" panose="020B0200000000000000" charset="-122"/>
                          </a:rPr>
                          <m:t>,⋯,</m:t>
                        </m:r>
                        <m:r>
                          <a:rPr lang="en-US" altLang="zh-CN" sz="1000" b="1" i="1" smtClean="0">
                            <a:solidFill>
                              <a:srgbClr val="1E3A8A"/>
                            </a:solidFill>
                            <a:latin typeface="Cambria Math" panose="02040503050406030204" pitchFamily="18" charset="0"/>
                            <a:ea typeface="Cambria Math" panose="02040503050406030204" pitchFamily="18" charset="0"/>
                            <a:sym typeface="Noto Sans SC" panose="020B0200000000000000" charset="-122"/>
                          </a:rPr>
                          <m:t>𝒑</m:t>
                        </m:r>
                      </m:e>
                    </m:d>
                    <m:d>
                      <m:dPr>
                        <m:begChr m:val="|"/>
                        <m:endChr m:val=""/>
                        <m:ctrlPr>
                          <a:rPr lang="en-US" altLang="zh-CN" sz="1000" b="1" i="1" smtClean="0">
                            <a:solidFill>
                              <a:srgbClr val="1E3A8A"/>
                            </a:solidFill>
                            <a:latin typeface="Cambria Math" panose="02040503050406030204" pitchFamily="18" charset="0"/>
                            <a:ea typeface="Cambria Math" panose="02040503050406030204" pitchFamily="18" charset="0"/>
                            <a:sym typeface="Noto Sans SC" panose="020B0200000000000000" charset="-122"/>
                          </a:rPr>
                        </m:ctrlPr>
                      </m:dPr>
                      <m:e>
                        <m:sSub>
                          <m:sSubPr>
                            <m:ctrlPr>
                              <a:rPr lang="en-US" altLang="zh-CN" sz="1000" b="1" i="1" smtClean="0">
                                <a:solidFill>
                                  <a:srgbClr val="1E3A8A"/>
                                </a:solidFill>
                                <a:latin typeface="Cambria Math" panose="02040503050406030204" pitchFamily="18" charset="0"/>
                                <a:ea typeface="Cambria Math" panose="02040503050406030204" pitchFamily="18" charset="0"/>
                                <a:sym typeface="Noto Sans SC" panose="020B0200000000000000" charset="-122"/>
                              </a:rPr>
                            </m:ctrlPr>
                          </m:sSubPr>
                          <m:e>
                            <m:r>
                              <a:rPr lang="zh-CN" altLang="en-US" sz="1000" b="1" i="1" smtClean="0">
                                <a:solidFill>
                                  <a:srgbClr val="1E3A8A"/>
                                </a:solidFill>
                                <a:latin typeface="Cambria Math" panose="02040503050406030204" pitchFamily="18" charset="0"/>
                                <a:ea typeface="Cambria Math" panose="02040503050406030204" pitchFamily="18" charset="0"/>
                                <a:sym typeface="Noto Sans SC" panose="020B0200000000000000" charset="-122"/>
                              </a:rPr>
                              <m:t>𝜷</m:t>
                            </m:r>
                          </m:e>
                          <m:sub>
                            <m:r>
                              <a:rPr lang="en-US" altLang="zh-CN" sz="1000" b="1" i="1" smtClean="0">
                                <a:solidFill>
                                  <a:srgbClr val="1E3A8A"/>
                                </a:solidFill>
                                <a:latin typeface="Cambria Math" panose="02040503050406030204" pitchFamily="18" charset="0"/>
                                <a:ea typeface="Cambria Math" panose="02040503050406030204" pitchFamily="18" charset="0"/>
                                <a:sym typeface="Noto Sans SC" panose="020B0200000000000000" charset="-122"/>
                              </a:rPr>
                              <m:t>𝒋</m:t>
                            </m:r>
                          </m:sub>
                        </m:sSub>
                        <m:r>
                          <a:rPr lang="en-US" altLang="zh-CN" sz="1000" b="1" i="1" smtClean="0">
                            <a:solidFill>
                              <a:srgbClr val="1E3A8A"/>
                            </a:solidFill>
                            <a:latin typeface="Cambria Math" panose="02040503050406030204" pitchFamily="18" charset="0"/>
                            <a:ea typeface="Cambria Math" panose="02040503050406030204" pitchFamily="18" charset="0"/>
                            <a:sym typeface="Noto Sans SC" panose="020B0200000000000000" charset="-122"/>
                          </a:rPr>
                          <m:t>≠</m:t>
                        </m:r>
                        <m:r>
                          <a:rPr lang="en-US" altLang="zh-CN" sz="1000" b="1" i="1" smtClean="0">
                            <a:solidFill>
                              <a:srgbClr val="1E3A8A"/>
                            </a:solidFill>
                            <a:latin typeface="Cambria Math" panose="02040503050406030204" pitchFamily="18" charset="0"/>
                            <a:ea typeface="Cambria Math" panose="02040503050406030204" pitchFamily="18" charset="0"/>
                            <a:sym typeface="Noto Sans SC" panose="020B0200000000000000" charset="-122"/>
                          </a:rPr>
                          <m:t>𝟎</m:t>
                        </m:r>
                        <m:r>
                          <a:rPr lang="en-US" altLang="zh-CN" sz="1000" b="1" i="1" smtClean="0">
                            <a:solidFill>
                              <a:srgbClr val="1E3A8A"/>
                            </a:solidFill>
                            <a:latin typeface="Cambria Math" panose="02040503050406030204" pitchFamily="18" charset="0"/>
                            <a:ea typeface="Cambria Math" panose="02040503050406030204" pitchFamily="18" charset="0"/>
                            <a:sym typeface="Noto Sans SC" panose="020B0200000000000000" charset="-122"/>
                          </a:rPr>
                          <m:t>}</m:t>
                        </m:r>
                      </m:e>
                    </m:d>
                  </m:oMath>
                </a14:m>
                <a:endParaRPr lang="en-US" sz="1000" b="1">
                  <a:solidFill>
                    <a:srgbClr val="1E3A8A"/>
                  </a:solidFill>
                  <a:latin typeface="Calibri" panose="020F0502020204030204"/>
                  <a:ea typeface="Calibri" panose="020F0502020204030204"/>
                  <a:cs typeface="Calibri" panose="020F0502020204030204"/>
                </a:endParaRPr>
              </a:p>
            </p:txBody>
          </p:sp>
        </mc:Choice>
        <mc:Fallback>
          <p:sp>
            <p:nvSpPr>
              <p:cNvPr id="22" name="AutoShape 22"/>
              <p:cNvSpPr>
                <a:spLocks noRot="1" noChangeAspect="1" noMove="1" noResize="1" noEditPoints="1" noAdjustHandles="1" noChangeArrowheads="1" noChangeShapeType="1" noTextEdit="1"/>
              </p:cNvSpPr>
              <p:nvPr/>
            </p:nvSpPr>
            <p:spPr>
              <a:xfrm>
                <a:off x="330200" y="4572000"/>
                <a:ext cx="8483600" cy="381000"/>
              </a:xfrm>
              <a:prstGeom prst="roundRect">
                <a:avLst>
                  <a:gd name="adj" fmla="val 0"/>
                </a:avLst>
              </a:prstGeom>
              <a:blipFill rotWithShape="1">
                <a:blip r:embed="rId6"/>
                <a:stretch>
                  <a:fillRect t="-5667" b="-6000"/>
                </a:stretch>
              </a:blipFill>
              <a:ln w="25400" cap="flat" cmpd="sng">
                <a:noFill/>
                <a:prstDash val="solid"/>
                <a:round/>
              </a:ln>
            </p:spPr>
            <p:txBody>
              <a:bodyPr/>
              <a:lstStyle/>
              <a:p>
                <a:r>
                  <a:rPr lang="zh-CN" altLang="en-US">
                    <a:noFill/>
                  </a:rPr>
                  <a:t> </a:t>
                </a:r>
              </a:p>
            </p:txBody>
          </p:sp>
        </mc:Fallback>
      </mc:AlternateContent>
      <p:pic>
        <p:nvPicPr>
          <p:cNvPr id="26" name="图片 25"/>
          <p:cNvPicPr>
            <a:picLocks noChangeAspect="1"/>
          </p:cNvPicPr>
          <p:nvPr/>
        </p:nvPicPr>
        <p:blipFill>
          <a:blip r:embed="rId7"/>
          <a:stretch>
            <a:fillRect/>
          </a:stretch>
        </p:blipFill>
        <p:spPr>
          <a:xfrm>
            <a:off x="6505904" y="2372"/>
            <a:ext cx="2485696" cy="2131229"/>
          </a:xfrm>
          <a:prstGeom prst="rect">
            <a:avLst/>
          </a:prstGeom>
        </p:spPr>
      </p:pic>
      <p:pic>
        <p:nvPicPr>
          <p:cNvPr id="31" name="图片 30"/>
          <p:cNvPicPr>
            <a:picLocks noChangeAspect="1"/>
          </p:cNvPicPr>
          <p:nvPr/>
        </p:nvPicPr>
        <p:blipFill>
          <a:blip r:embed="rId8">
            <a:clrChange>
              <a:clrFrom>
                <a:srgbClr val="FFFFFF">
                  <a:alpha val="100000"/>
                </a:srgbClr>
              </a:clrFrom>
              <a:clrTo>
                <a:srgbClr val="FFFFFF">
                  <a:alpha val="100000"/>
                  <a:alpha val="0"/>
                </a:srgbClr>
              </a:clrTo>
            </a:clrChange>
          </a:blip>
          <a:stretch>
            <a:fillRect/>
          </a:stretch>
        </p:blipFill>
        <p:spPr>
          <a:xfrm>
            <a:off x="441558" y="2539011"/>
            <a:ext cx="3736508" cy="37742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11428" b="11428"/>
          <a:stretch>
            <a:fillRect/>
          </a:stretch>
        </p:blipFill>
        <p:spPr>
          <a:xfrm>
            <a:off x="0" y="0"/>
            <a:ext cx="9144000" cy="1028700"/>
          </a:xfrm>
          <a:prstGeom prst="rect">
            <a:avLst/>
          </a:prstGeom>
          <a:noFill/>
          <a:ln w="25400" cap="flat" cmpd="sng">
            <a:noFill/>
            <a:prstDash val="solid"/>
            <a:round/>
          </a:ln>
        </p:spPr>
      </p:pic>
      <p:sp>
        <p:nvSpPr>
          <p:cNvPr id="3" name="AutoShape 3"/>
          <p:cNvSpPr/>
          <p:nvPr/>
        </p:nvSpPr>
        <p:spPr>
          <a:xfrm>
            <a:off x="368300" y="254000"/>
            <a:ext cx="6861175"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3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2300" b="1">
                <a:solidFill>
                  <a:srgbClr val="333333"/>
                </a:solidFill>
                <a:latin typeface="微软雅黑" panose="020B0503020204020204" charset="-122"/>
                <a:ea typeface="微软雅黑" panose="020B0503020204020204" charset="-122"/>
                <a:cs typeface="微软雅黑" panose="020B0503020204020204" charset="-122"/>
              </a:rPr>
              <a:t>Objectives &amp; Constraints</a:t>
            </a:r>
            <a:endParaRPr lang="en-US" sz="2300" b="1">
              <a:solidFill>
                <a:srgbClr val="333333"/>
              </a:solidFill>
              <a:latin typeface="微软雅黑" panose="020B0503020204020204" charset="-122"/>
              <a:ea typeface="微软雅黑" panose="020B0503020204020204" charset="-122"/>
              <a:cs typeface="微软雅黑" panose="020B0503020204020204" charset="-122"/>
            </a:endParaRPr>
          </a:p>
        </p:txBody>
      </p:sp>
      <p:sp>
        <p:nvSpPr>
          <p:cNvPr id="4" name="AutoShape 4"/>
          <p:cNvSpPr/>
          <p:nvPr/>
        </p:nvSpPr>
        <p:spPr>
          <a:xfrm>
            <a:off x="292100" y="1054100"/>
            <a:ext cx="3911600" cy="2235200"/>
          </a:xfrm>
          <a:prstGeom prst="roundRect">
            <a:avLst>
              <a:gd name="adj" fmla="val 3977"/>
            </a:avLst>
          </a:prstGeom>
          <a:solidFill>
            <a:srgbClr val="FFFFFF">
              <a:alpha val="100000"/>
            </a:srgbClr>
          </a:solidFill>
          <a:ln w="12700" cap="flat" cmpd="sng">
            <a:solidFill>
              <a:srgbClr val="D1D5DB">
                <a:alpha val="100000"/>
              </a:srgbClr>
            </a:solidFill>
            <a:prstDash val="solid"/>
            <a:round/>
          </a:ln>
          <a:effectLst>
            <a:outerShdw blurRad="101600" dist="50800" dir="2700000" algn="tl" rotWithShape="0">
              <a:srgbClr val="000000">
                <a:alpha val="5000"/>
              </a:srgbClr>
            </a:outerShdw>
          </a:effectLst>
        </p:spPr>
        <p:txBody>
          <a:bodyPr vert="horz" wrap="square" lIns="63500" tIns="63500" rIns="63500" bIns="63500" rtlCol="0" anchor="ctr"/>
          <a:lstStyle/>
          <a:p>
            <a:pPr algn="ctr">
              <a:defRPr/>
            </a:pPr>
          </a:p>
        </p:txBody>
      </p:sp>
      <p:sp>
        <p:nvSpPr>
          <p:cNvPr id="5" name="AutoShape 5"/>
          <p:cNvSpPr/>
          <p:nvPr/>
        </p:nvSpPr>
        <p:spPr>
          <a:xfrm>
            <a:off x="482600" y="1168400"/>
            <a:ext cx="3556000" cy="3175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1F2937"/>
                </a:solidFill>
                <a:latin typeface="Calibri" panose="020F0502020204030204"/>
                <a:ea typeface="Calibri" panose="020F0502020204030204"/>
                <a:cs typeface="Calibri" panose="020F0502020204030204"/>
                <a:sym typeface="Calibri" panose="020F0502020204030204"/>
              </a:rPr>
              <a:t> </a:t>
            </a:r>
            <a:r>
              <a:rPr lang="en-US" sz="1200" b="1">
                <a:solidFill>
                  <a:srgbClr val="1F2937"/>
                </a:solidFill>
                <a:latin typeface="Calibri" panose="020F0502020204030204"/>
                <a:ea typeface="Calibri" panose="020F0502020204030204"/>
                <a:cs typeface="Calibri" panose="020F0502020204030204"/>
              </a:rPr>
              <a:t>Core Target: Identify the True Shared Feature Support Set Based on the heterogeneity</a:t>
            </a:r>
            <a:endParaRPr lang="en-US" sz="1200" b="1">
              <a:solidFill>
                <a:srgbClr val="1F2937"/>
              </a:solidFill>
              <a:latin typeface="Calibri" panose="020F0502020204030204"/>
              <a:ea typeface="Calibri" panose="020F0502020204030204"/>
              <a:cs typeface="Calibri" panose="020F0502020204030204"/>
            </a:endParaRPr>
          </a:p>
        </p:txBody>
      </p:sp>
      <mc:AlternateContent xmlns:mc="http://schemas.openxmlformats.org/markup-compatibility/2006">
        <mc:Choice xmlns:a14="http://schemas.microsoft.com/office/drawing/2010/main" Requires="a14">
          <p:sp>
            <p:nvSpPr>
              <p:cNvPr id="6" name="AutoShape 6"/>
              <p:cNvSpPr/>
              <p:nvPr/>
            </p:nvSpPr>
            <p:spPr>
              <a:xfrm>
                <a:off x="482600" y="1549400"/>
                <a:ext cx="35306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900">
                    <a:solidFill>
                      <a:srgbClr val="374151"/>
                    </a:solidFill>
                    <a:latin typeface="Calibri" panose="020F0502020204030204"/>
                    <a:ea typeface="Calibri" panose="020F0502020204030204"/>
                    <a:cs typeface="Calibri" panose="020F0502020204030204"/>
                  </a:rPr>
                  <a:t>Based on the heterogeneity assumption</a:t>
                </a:r>
                <a:r>
                  <a:rPr lang="en-US" altLang="zh-CN" sz="900" dirty="0">
                    <a:latin typeface="等线" panose="02010600030101010101" charset="-122"/>
                    <a:ea typeface="等线" panose="02010600030101010101" charset="-122"/>
                    <a:sym typeface="Noto Sans SC" panose="020B0200000000000000" charset="-122"/>
                  </a:rPr>
                  <a:t> </a:t>
                </a:r>
                <a14:m>
                  <m:oMath xmlns:m="http://schemas.openxmlformats.org/officeDocument/2006/math">
                    <m:sSubSup>
                      <m:sSubSupPr>
                        <m:ctrlPr>
                          <a:rPr lang="en-US" altLang="zh-CN" sz="900" i="1">
                            <a:latin typeface="Cambria Math" panose="02040503050406030204" pitchFamily="18" charset="0"/>
                            <a:ea typeface="等线" panose="02010600030101010101" charset="-122"/>
                            <a:sym typeface="Noto Sans SC" panose="020B0200000000000000" charset="-122"/>
                          </a:rPr>
                        </m:ctrlPr>
                      </m:sSubSupPr>
                      <m:e>
                        <m:r>
                          <a:rPr lang="zh-CN" altLang="en-US" sz="900">
                            <a:latin typeface="Cambria Math" panose="02040503050406030204" pitchFamily="18" charset="0"/>
                            <a:ea typeface="等线" panose="02010600030101010101" charset="-122"/>
                            <a:sym typeface="Noto Sans SC" panose="020B0200000000000000" charset="-122"/>
                          </a:rPr>
                          <m:t>𝜷</m:t>
                        </m:r>
                      </m:e>
                      <m:sub>
                        <m:r>
                          <a:rPr lang="en-US" altLang="zh-CN" sz="900">
                            <a:latin typeface="Cambria Math" panose="02040503050406030204" pitchFamily="18" charset="0"/>
                            <a:ea typeface="等线" panose="02010600030101010101" charset="-122"/>
                            <a:sym typeface="Noto Sans SC" panose="020B0200000000000000" charset="-122"/>
                          </a:rPr>
                          <m:t>𝒋</m:t>
                        </m:r>
                      </m:sub>
                      <m:sup>
                        <m:r>
                          <a:rPr lang="en-US" altLang="zh-CN" sz="900">
                            <a:latin typeface="Cambria Math" panose="02040503050406030204" pitchFamily="18" charset="0"/>
                            <a:ea typeface="等线" panose="02010600030101010101" charset="-122"/>
                            <a:sym typeface="Noto Sans SC" panose="020B0200000000000000" charset="-122"/>
                          </a:rPr>
                          <m:t>(</m:t>
                        </m:r>
                        <m:r>
                          <a:rPr lang="en-US" altLang="zh-CN" sz="900">
                            <a:latin typeface="Cambria Math" panose="02040503050406030204" pitchFamily="18" charset="0"/>
                            <a:ea typeface="等线" panose="02010600030101010101" charset="-122"/>
                            <a:sym typeface="Noto Sans SC" panose="020B0200000000000000" charset="-122"/>
                          </a:rPr>
                          <m:t>𝒌</m:t>
                        </m:r>
                        <m:r>
                          <a:rPr lang="en-US" altLang="zh-CN" sz="900">
                            <a:latin typeface="Cambria Math" panose="02040503050406030204" pitchFamily="18" charset="0"/>
                            <a:ea typeface="等线" panose="02010600030101010101" charset="-122"/>
                            <a:sym typeface="Noto Sans SC" panose="020B0200000000000000" charset="-122"/>
                          </a:rPr>
                          <m:t>∗)</m:t>
                        </m:r>
                      </m:sup>
                    </m:sSubSup>
                    <m:r>
                      <a:rPr lang="en-US" altLang="zh-CN" sz="900">
                        <a:latin typeface="Cambria Math" panose="02040503050406030204" pitchFamily="18" charset="0"/>
                        <a:ea typeface="等线" panose="02010600030101010101" charset="-122"/>
                        <a:sym typeface="Noto Sans SC" panose="020B0200000000000000" charset="-122"/>
                      </a:rPr>
                      <m:t>=</m:t>
                    </m:r>
                    <m:sSubSup>
                      <m:sSubSupPr>
                        <m:ctrlPr>
                          <a:rPr lang="en-US" altLang="zh-CN" sz="900" i="1">
                            <a:latin typeface="Cambria Math" panose="02040503050406030204" pitchFamily="18" charset="0"/>
                            <a:ea typeface="等线" panose="02010600030101010101" charset="-122"/>
                            <a:sym typeface="Noto Sans SC" panose="020B0200000000000000" charset="-122"/>
                          </a:rPr>
                        </m:ctrlPr>
                      </m:sSubSupPr>
                      <m:e>
                        <m:r>
                          <a:rPr lang="zh-CN" altLang="en-US" sz="900">
                            <a:latin typeface="Cambria Math" panose="02040503050406030204" pitchFamily="18" charset="0"/>
                            <a:ea typeface="等线" panose="02010600030101010101" charset="-122"/>
                            <a:sym typeface="Noto Sans SC" panose="020B0200000000000000" charset="-122"/>
                          </a:rPr>
                          <m:t>𝝈</m:t>
                        </m:r>
                      </m:e>
                      <m:sub>
                        <m:r>
                          <a:rPr lang="en-US" altLang="zh-CN" sz="900">
                            <a:latin typeface="Cambria Math" panose="02040503050406030204" pitchFamily="18" charset="0"/>
                            <a:ea typeface="等线" panose="02010600030101010101" charset="-122"/>
                            <a:sym typeface="Noto Sans SC" panose="020B0200000000000000" charset="-122"/>
                          </a:rPr>
                          <m:t>𝒋</m:t>
                        </m:r>
                      </m:sub>
                      <m:sup>
                        <m:r>
                          <a:rPr lang="en-US" altLang="zh-CN" sz="900">
                            <a:latin typeface="Cambria Math" panose="02040503050406030204" pitchFamily="18" charset="0"/>
                            <a:ea typeface="等线" panose="02010600030101010101" charset="-122"/>
                            <a:sym typeface="Noto Sans SC" panose="020B0200000000000000" charset="-122"/>
                          </a:rPr>
                          <m:t>𝒌</m:t>
                        </m:r>
                      </m:sup>
                    </m:sSubSup>
                    <m:sSub>
                      <m:sSubPr>
                        <m:ctrlPr>
                          <a:rPr lang="en-US" altLang="zh-CN" sz="900" i="1">
                            <a:latin typeface="Cambria Math" panose="02040503050406030204" pitchFamily="18" charset="0"/>
                            <a:ea typeface="等线" panose="02010600030101010101" charset="-122"/>
                            <a:sym typeface="Noto Sans SC" panose="020B0200000000000000" charset="-122"/>
                          </a:rPr>
                        </m:ctrlPr>
                      </m:sSubPr>
                      <m:e>
                        <m:r>
                          <a:rPr lang="zh-CN" altLang="en-US" sz="900">
                            <a:latin typeface="Cambria Math" panose="02040503050406030204" pitchFamily="18" charset="0"/>
                            <a:ea typeface="等线" panose="02010600030101010101" charset="-122"/>
                            <a:sym typeface="Noto Sans SC" panose="020B0200000000000000" charset="-122"/>
                          </a:rPr>
                          <m:t>𝜷</m:t>
                        </m:r>
                      </m:e>
                      <m:sub>
                        <m:r>
                          <a:rPr lang="en-US" altLang="zh-CN" sz="900">
                            <a:latin typeface="Cambria Math" panose="02040503050406030204" pitchFamily="18" charset="0"/>
                            <a:ea typeface="等线" panose="02010600030101010101" charset="-122"/>
                            <a:sym typeface="Noto Sans SC" panose="020B0200000000000000" charset="-122"/>
                          </a:rPr>
                          <m:t>𝒋</m:t>
                        </m:r>
                      </m:sub>
                    </m:sSub>
                    <m:r>
                      <a:rPr lang="en-US" altLang="zh-CN" sz="900">
                        <a:latin typeface="Cambria Math" panose="02040503050406030204" pitchFamily="18" charset="0"/>
                        <a:ea typeface="等线" panose="02010600030101010101" charset="-122"/>
                        <a:sym typeface="Noto Sans SC" panose="020B0200000000000000" charset="-122"/>
                      </a:rPr>
                      <m:t> </m:t>
                    </m:r>
                  </m:oMath>
                </a14:m>
                <a:r>
                  <a:rPr lang="en-US" sz="900">
                    <a:solidFill>
                      <a:srgbClr val="374151"/>
                    </a:solidFill>
                    <a:latin typeface="Calibri" panose="020F0502020204030204"/>
                    <a:ea typeface="Calibri" panose="020F0502020204030204"/>
                    <a:cs typeface="Calibri" panose="020F0502020204030204"/>
                  </a:rPr>
                  <a:t>, our goal is to accurately identify the true important feature set </a:t>
                </a:r>
                <a14:m>
                  <m:oMath xmlns:m="http://schemas.openxmlformats.org/officeDocument/2006/math">
                    <m:sSub>
                      <m:sSubPr>
                        <m:ctrlPr>
                          <a:rPr lang="en-US" altLang="zh-CN" sz="900" b="1" i="1">
                            <a:latin typeface="Cambria Math" panose="02040503050406030204" pitchFamily="18" charset="0"/>
                            <a:ea typeface="等线" panose="02010600030101010101" charset="-122"/>
                            <a:sym typeface="Noto Sans SC" panose="020B0200000000000000" charset="-122"/>
                          </a:rPr>
                        </m:ctrlPr>
                      </m:sSubPr>
                      <m:e>
                        <m:r>
                          <a:rPr lang="en-US" altLang="zh-CN" sz="900" b="1" i="1">
                            <a:latin typeface="Cambria Math" panose="02040503050406030204" pitchFamily="18" charset="0"/>
                            <a:ea typeface="等线" panose="02010600030101010101" charset="-122"/>
                            <a:sym typeface="Noto Sans SC" panose="020B0200000000000000" charset="-122"/>
                          </a:rPr>
                          <m:t>𝐒</m:t>
                        </m:r>
                      </m:e>
                      <m:sub>
                        <m:r>
                          <a:rPr lang="en-US" altLang="zh-CN" sz="900" b="1">
                            <a:latin typeface="Cambria Math" panose="02040503050406030204" pitchFamily="18" charset="0"/>
                            <a:ea typeface="等线" panose="02010600030101010101" charset="-122"/>
                            <a:sym typeface="Noto Sans SC" panose="020B0200000000000000" charset="-122"/>
                          </a:rPr>
                          <m:t>𝟏</m:t>
                        </m:r>
                      </m:sub>
                    </m:sSub>
                  </m:oMath>
                </a14:m>
                <a:r>
                  <a:rPr lang="en-US" sz="900">
                    <a:solidFill>
                      <a:srgbClr val="374151"/>
                    </a:solidFill>
                    <a:latin typeface="Calibri" panose="020F0502020204030204"/>
                    <a:ea typeface="Calibri" panose="020F0502020204030204"/>
                    <a:cs typeface="Calibri" panose="020F0502020204030204"/>
                  </a:rPr>
                  <a:t> (where baseline parameters are non-zero) shared by all sites, without sharing raw data. </a:t>
                </a:r>
                <a:endParaRPr lang="en-US" sz="900">
                  <a:solidFill>
                    <a:srgbClr val="374151"/>
                  </a:solidFill>
                  <a:latin typeface="Calibri" panose="020F0502020204030204"/>
                  <a:ea typeface="Calibri" panose="020F0502020204030204"/>
                  <a:cs typeface="Calibri" panose="020F0502020204030204"/>
                </a:endParaRPr>
              </a:p>
            </p:txBody>
          </p:sp>
        </mc:Choice>
        <mc:Fallback>
          <p:sp>
            <p:nvSpPr>
              <p:cNvPr id="6" name="AutoShape 6"/>
              <p:cNvSpPr>
                <a:spLocks noRot="1" noChangeAspect="1" noMove="1" noResize="1" noEditPoints="1" noAdjustHandles="1" noChangeArrowheads="1" noChangeShapeType="1" noTextEdit="1"/>
              </p:cNvSpPr>
              <p:nvPr/>
            </p:nvSpPr>
            <p:spPr>
              <a:xfrm>
                <a:off x="482600" y="1549400"/>
                <a:ext cx="3530600" cy="635000"/>
              </a:xfrm>
              <a:prstGeom prst="roundRect">
                <a:avLst>
                  <a:gd name="adj" fmla="val 0"/>
                </a:avLst>
              </a:prstGeom>
              <a:blipFill rotWithShape="1">
                <a:blip r:embed="rId2"/>
                <a:stretch>
                  <a:fillRect/>
                </a:stretch>
              </a:blipFill>
              <a:ln w="25400" cap="flat" cmpd="sng">
                <a:noFill/>
                <a:prstDash val="solid"/>
                <a:round/>
              </a:ln>
            </p:spPr>
            <p:txBody>
              <a:bodyPr/>
              <a:lstStyle/>
              <a:p>
                <a:r>
                  <a:rPr lang="zh-CN" altLang="en-US">
                    <a:noFill/>
                  </a:rPr>
                  <a:t> </a:t>
                </a:r>
              </a:p>
            </p:txBody>
          </p:sp>
        </mc:Fallback>
      </mc:AlternateContent>
      <p:sp>
        <p:nvSpPr>
          <p:cNvPr id="7" name="AutoShape 7"/>
          <p:cNvSpPr/>
          <p:nvPr/>
        </p:nvSpPr>
        <p:spPr>
          <a:xfrm>
            <a:off x="482600" y="2209800"/>
            <a:ext cx="3530600" cy="482600"/>
          </a:xfrm>
          <a:prstGeom prst="roundRect">
            <a:avLst>
              <a:gd name="adj" fmla="val 10526"/>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p>
        </p:txBody>
      </p:sp>
      <mc:AlternateContent xmlns:mc="http://schemas.openxmlformats.org/markup-compatibility/2006">
        <mc:Choice xmlns:a14="http://schemas.microsoft.com/office/drawing/2010/main" Requires="a14">
          <p:sp>
            <p:nvSpPr>
              <p:cNvPr id="8" name="AutoShape 8"/>
              <p:cNvSpPr/>
              <p:nvPr/>
            </p:nvSpPr>
            <p:spPr>
              <a:xfrm>
                <a:off x="558800" y="2260600"/>
                <a:ext cx="33655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900" b="1" i="0" u="none" strike="noStrike">
                    <a:solidFill>
                      <a:srgbClr val="2563EB"/>
                    </a:solidFill>
                    <a:latin typeface="Calibri" panose="020F0502020204030204"/>
                    <a:ea typeface="Calibri" panose="020F0502020204030204"/>
                    <a:cs typeface="Calibri" panose="020F0502020204030204"/>
                    <a:sym typeface="Calibri" panose="020F0502020204030204"/>
                  </a:rPr>
                  <a:t>Mathematical Definition:         </a:t>
                </a:r>
                <a14:m>
                  <m:oMath xmlns:m="http://schemas.openxmlformats.org/officeDocument/2006/math">
                    <m:sSub>
                      <m:sSubPr>
                        <m:ctrlPr>
                          <a:rPr lang="en-US" altLang="zh-CN" sz="900" b="1" i="1">
                            <a:solidFill>
                              <a:srgbClr val="1E3A8A"/>
                            </a:solidFill>
                            <a:latin typeface="Cambria Math" panose="02040503050406030204" pitchFamily="18" charset="0"/>
                            <a:ea typeface="Noto Sans SC" panose="020B0200000000000000" charset="-122"/>
                            <a:sym typeface="Noto Sans SC" panose="020B0200000000000000" charset="-122"/>
                          </a:rPr>
                        </m:ctrlPr>
                      </m:sSubPr>
                      <m:e>
                        <m:r>
                          <a:rPr lang="en-US" altLang="zh-CN" sz="900" b="1" i="1">
                            <a:solidFill>
                              <a:srgbClr val="1E3A8A"/>
                            </a:solidFill>
                            <a:latin typeface="Cambria Math" panose="02040503050406030204" pitchFamily="18" charset="0"/>
                            <a:ea typeface="Noto Sans SC" panose="020B0200000000000000" charset="-122"/>
                            <a:sym typeface="Noto Sans SC" panose="020B0200000000000000" charset="-122"/>
                          </a:rPr>
                          <m:t>𝑺</m:t>
                        </m:r>
                      </m:e>
                      <m:sub>
                        <m:r>
                          <a:rPr lang="en-US" altLang="zh-CN" sz="900" b="1" i="1">
                            <a:solidFill>
                              <a:srgbClr val="1E3A8A"/>
                            </a:solidFill>
                            <a:latin typeface="Cambria Math" panose="02040503050406030204" pitchFamily="18" charset="0"/>
                            <a:ea typeface="Noto Sans SC" panose="020B0200000000000000" charset="-122"/>
                            <a:sym typeface="Noto Sans SC" panose="020B0200000000000000" charset="-122"/>
                          </a:rPr>
                          <m:t>𝟏</m:t>
                        </m:r>
                      </m:sub>
                    </m:sSub>
                    <m:r>
                      <a:rPr lang="en-US" altLang="zh-CN" sz="900" b="1" i="1">
                        <a:solidFill>
                          <a:srgbClr val="1E3A8A"/>
                        </a:solidFill>
                        <a:latin typeface="Cambria Math" panose="02040503050406030204" pitchFamily="18" charset="0"/>
                        <a:ea typeface="Noto Sans SC" panose="020B0200000000000000" charset="-122"/>
                        <a:sym typeface="Noto Sans SC" panose="020B0200000000000000" charset="-122"/>
                      </a:rPr>
                      <m:t>={</m:t>
                    </m:r>
                    <m:r>
                      <a:rPr lang="en-US" altLang="zh-CN" sz="900" b="1" i="1">
                        <a:solidFill>
                          <a:srgbClr val="1E3A8A"/>
                        </a:solidFill>
                        <a:latin typeface="Cambria Math" panose="02040503050406030204" pitchFamily="18" charset="0"/>
                        <a:ea typeface="Noto Sans SC" panose="020B0200000000000000" charset="-122"/>
                        <a:sym typeface="Noto Sans SC" panose="020B0200000000000000" charset="-122"/>
                      </a:rPr>
                      <m:t>𝒋</m:t>
                    </m:r>
                    <m:r>
                      <a:rPr lang="en-US" altLang="zh-CN" sz="900" b="1" i="1">
                        <a:solidFill>
                          <a:srgbClr val="1E3A8A"/>
                        </a:solidFill>
                        <a:latin typeface="Cambria Math" panose="02040503050406030204" pitchFamily="18" charset="0"/>
                        <a:ea typeface="Cambria Math" panose="02040503050406030204" pitchFamily="18" charset="0"/>
                        <a:sym typeface="Noto Sans SC" panose="020B0200000000000000" charset="-122"/>
                      </a:rPr>
                      <m:t>∈</m:t>
                    </m:r>
                    <m:d>
                      <m:dPr>
                        <m:begChr m:val="{"/>
                        <m:endChr m:val="}"/>
                        <m:ctrlPr>
                          <a:rPr lang="en-US" altLang="zh-CN" sz="900" b="1" i="1">
                            <a:solidFill>
                              <a:srgbClr val="1E3A8A"/>
                            </a:solidFill>
                            <a:latin typeface="Cambria Math" panose="02040503050406030204" pitchFamily="18" charset="0"/>
                            <a:ea typeface="Noto Sans SC" panose="020B0200000000000000" charset="-122"/>
                            <a:sym typeface="Noto Sans SC" panose="020B0200000000000000" charset="-122"/>
                          </a:rPr>
                        </m:ctrlPr>
                      </m:dPr>
                      <m:e>
                        <m:r>
                          <a:rPr lang="en-US" altLang="zh-CN" sz="900" b="1" i="1">
                            <a:solidFill>
                              <a:srgbClr val="1E3A8A"/>
                            </a:solidFill>
                            <a:latin typeface="Cambria Math" panose="02040503050406030204" pitchFamily="18" charset="0"/>
                            <a:ea typeface="Noto Sans SC" panose="020B0200000000000000" charset="-122"/>
                            <a:sym typeface="Noto Sans SC" panose="020B0200000000000000" charset="-122"/>
                          </a:rPr>
                          <m:t>𝟏</m:t>
                        </m:r>
                        <m:r>
                          <a:rPr lang="en-US" altLang="zh-CN" sz="900" b="1" i="1">
                            <a:solidFill>
                              <a:srgbClr val="1E3A8A"/>
                            </a:solidFill>
                            <a:latin typeface="Cambria Math" panose="02040503050406030204" pitchFamily="18" charset="0"/>
                            <a:ea typeface="Noto Sans SC" panose="020B0200000000000000" charset="-122"/>
                            <a:sym typeface="Noto Sans SC" panose="020B0200000000000000" charset="-122"/>
                          </a:rPr>
                          <m:t>,⋯,</m:t>
                        </m:r>
                        <m:r>
                          <a:rPr lang="en-US" altLang="zh-CN" sz="900" b="1" i="1">
                            <a:solidFill>
                              <a:srgbClr val="1E3A8A"/>
                            </a:solidFill>
                            <a:latin typeface="Cambria Math" panose="02040503050406030204" pitchFamily="18" charset="0"/>
                            <a:ea typeface="Cambria Math" panose="02040503050406030204" pitchFamily="18" charset="0"/>
                            <a:sym typeface="Noto Sans SC" panose="020B0200000000000000" charset="-122"/>
                          </a:rPr>
                          <m:t>𝒑</m:t>
                        </m:r>
                      </m:e>
                    </m:d>
                    <m:d>
                      <m:dPr>
                        <m:begChr m:val="|"/>
                        <m:endChr m:val=""/>
                        <m:ctrlPr>
                          <a:rPr lang="en-US" altLang="zh-CN" sz="900" b="1" i="1">
                            <a:solidFill>
                              <a:srgbClr val="1E3A8A"/>
                            </a:solidFill>
                            <a:latin typeface="Cambria Math" panose="02040503050406030204" pitchFamily="18" charset="0"/>
                            <a:ea typeface="Cambria Math" panose="02040503050406030204" pitchFamily="18" charset="0"/>
                            <a:sym typeface="Noto Sans SC" panose="020B0200000000000000" charset="-122"/>
                          </a:rPr>
                        </m:ctrlPr>
                      </m:dPr>
                      <m:e>
                        <m:sSub>
                          <m:sSubPr>
                            <m:ctrlPr>
                              <a:rPr lang="en-US" altLang="zh-CN" sz="900" b="1" i="1">
                                <a:solidFill>
                                  <a:srgbClr val="1E3A8A"/>
                                </a:solidFill>
                                <a:latin typeface="Cambria Math" panose="02040503050406030204" pitchFamily="18" charset="0"/>
                                <a:ea typeface="Cambria Math" panose="02040503050406030204" pitchFamily="18" charset="0"/>
                                <a:sym typeface="Noto Sans SC" panose="020B0200000000000000" charset="-122"/>
                              </a:rPr>
                            </m:ctrlPr>
                          </m:sSubPr>
                          <m:e>
                            <m:r>
                              <a:rPr lang="zh-CN" altLang="en-US" sz="900" b="1" i="1">
                                <a:solidFill>
                                  <a:srgbClr val="1E3A8A"/>
                                </a:solidFill>
                                <a:latin typeface="Cambria Math" panose="02040503050406030204" pitchFamily="18" charset="0"/>
                                <a:ea typeface="Cambria Math" panose="02040503050406030204" pitchFamily="18" charset="0"/>
                                <a:sym typeface="Noto Sans SC" panose="020B0200000000000000" charset="-122"/>
                              </a:rPr>
                              <m:t>𝜷</m:t>
                            </m:r>
                          </m:e>
                          <m:sub>
                            <m:r>
                              <a:rPr lang="en-US" altLang="zh-CN" sz="900" b="1" i="1">
                                <a:solidFill>
                                  <a:srgbClr val="1E3A8A"/>
                                </a:solidFill>
                                <a:latin typeface="Cambria Math" panose="02040503050406030204" pitchFamily="18" charset="0"/>
                                <a:ea typeface="Cambria Math" panose="02040503050406030204" pitchFamily="18" charset="0"/>
                                <a:sym typeface="Noto Sans SC" panose="020B0200000000000000" charset="-122"/>
                              </a:rPr>
                              <m:t>𝒋</m:t>
                            </m:r>
                          </m:sub>
                        </m:sSub>
                        <m:r>
                          <a:rPr lang="en-US" altLang="zh-CN" sz="900" b="1" i="1">
                            <a:solidFill>
                              <a:srgbClr val="1E3A8A"/>
                            </a:solidFill>
                            <a:latin typeface="Cambria Math" panose="02040503050406030204" pitchFamily="18" charset="0"/>
                            <a:ea typeface="Cambria Math" panose="02040503050406030204" pitchFamily="18" charset="0"/>
                            <a:sym typeface="Noto Sans SC" panose="020B0200000000000000" charset="-122"/>
                          </a:rPr>
                          <m:t>≠</m:t>
                        </m:r>
                        <m:r>
                          <a:rPr lang="en-US" altLang="zh-CN" sz="900" b="1" i="1">
                            <a:solidFill>
                              <a:srgbClr val="1E3A8A"/>
                            </a:solidFill>
                            <a:latin typeface="Cambria Math" panose="02040503050406030204" pitchFamily="18" charset="0"/>
                            <a:ea typeface="Cambria Math" panose="02040503050406030204" pitchFamily="18" charset="0"/>
                            <a:sym typeface="Noto Sans SC" panose="020B0200000000000000" charset="-122"/>
                          </a:rPr>
                          <m:t>𝟎</m:t>
                        </m:r>
                        <m:r>
                          <a:rPr lang="en-US" altLang="zh-CN" sz="900" b="1" i="1">
                            <a:solidFill>
                              <a:srgbClr val="1E3A8A"/>
                            </a:solidFill>
                            <a:latin typeface="Cambria Math" panose="02040503050406030204" pitchFamily="18" charset="0"/>
                            <a:ea typeface="Cambria Math" panose="02040503050406030204" pitchFamily="18" charset="0"/>
                            <a:sym typeface="Noto Sans SC" panose="020B0200000000000000" charset="-122"/>
                          </a:rPr>
                          <m:t>}</m:t>
                        </m:r>
                      </m:e>
                    </m:d>
                  </m:oMath>
                </a14:m>
                <a:endParaRPr lang="en-US" sz="900" b="1" i="0" u="none" strike="noStrike">
                  <a:solidFill>
                    <a:srgbClr val="2563EB"/>
                  </a:solidFill>
                  <a:latin typeface="Calibri" panose="020F0502020204030204"/>
                  <a:ea typeface="Calibri" panose="020F0502020204030204"/>
                  <a:cs typeface="Calibri" panose="020F0502020204030204"/>
                  <a:sym typeface="Calibri" panose="020F0502020204030204"/>
                </a:endParaRPr>
              </a:p>
              <a:p>
                <a:pPr indent="0" algn="l">
                  <a:lnSpc>
                    <a:spcPct val="125000"/>
                  </a:lnSpc>
                  <a:defRPr/>
                </a:pPr>
                <a:r>
                  <a:rPr lang="en-US" sz="900" b="0" i="0" u="none" strike="noStrike">
                    <a:solidFill>
                      <a:srgbClr val="1F2329"/>
                    </a:solidFill>
                    <a:latin typeface="Calibri" panose="020F0502020204030204"/>
                    <a:ea typeface="Calibri" panose="020F0502020204030204"/>
                    <a:cs typeface="Calibri" panose="020F0502020204030204"/>
                    <a:sym typeface="Calibri" panose="020F0502020204030204"/>
                  </a:rPr>
                  <a:t>The set of all truly effective features.</a:t>
                </a:r>
                <a:endParaRPr lang="en-US" sz="1100"/>
              </a:p>
            </p:txBody>
          </p:sp>
        </mc:Choice>
        <mc:Fallback>
          <p:sp>
            <p:nvSpPr>
              <p:cNvPr id="8" name="AutoShape 8"/>
              <p:cNvSpPr>
                <a:spLocks noRot="1" noChangeAspect="1" noMove="1" noResize="1" noEditPoints="1" noAdjustHandles="1" noChangeArrowheads="1" noChangeShapeType="1" noTextEdit="1"/>
              </p:cNvSpPr>
              <p:nvPr/>
            </p:nvSpPr>
            <p:spPr>
              <a:xfrm>
                <a:off x="558800" y="2260600"/>
                <a:ext cx="3365500" cy="381000"/>
              </a:xfrm>
              <a:prstGeom prst="roundRect">
                <a:avLst>
                  <a:gd name="adj" fmla="val 0"/>
                </a:avLst>
              </a:prstGeom>
              <a:blipFill rotWithShape="1">
                <a:blip r:embed="rId3"/>
                <a:stretch>
                  <a:fillRect t="-333" b="-667"/>
                </a:stretch>
              </a:blipFill>
              <a:ln w="25400" cap="flat" cmpd="sng">
                <a:noFill/>
                <a:prstDash val="solid"/>
                <a:round/>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AutoShape 9"/>
              <p:cNvSpPr/>
              <p:nvPr/>
            </p:nvSpPr>
            <p:spPr>
              <a:xfrm>
                <a:off x="368935" y="2743200"/>
                <a:ext cx="3644265" cy="5715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900" b="1" i="0" u="none" strike="noStrike">
                    <a:solidFill>
                      <a:srgbClr val="374151"/>
                    </a:solidFill>
                    <a:latin typeface="Calibri" panose="020F0502020204030204"/>
                    <a:ea typeface="Calibri" panose="020F0502020204030204"/>
                    <a:cs typeface="Calibri" panose="020F0502020204030204"/>
                    <a:sym typeface="Calibri" panose="020F0502020204030204"/>
                  </a:rPr>
                  <a:t>Baseline Setup:</a:t>
                </a:r>
                <a14:m>
                  <m:oMath xmlns:m="http://schemas.openxmlformats.org/officeDocument/2006/math">
                    <m:r>
                      <a:rPr lang="en-US" sz="900" dirty="0">
                        <a:latin typeface="Cambria Math" panose="02040503050406030204" pitchFamily="18" charset="0"/>
                        <a:ea typeface="等线" panose="02010600030101010101" charset="-122"/>
                        <a:sym typeface="Noto Sans SC" panose="020B0200000000000000" charset="-122"/>
                      </a:rPr>
                      <m:t>𝒑</m:t>
                    </m:r>
                    <m:r>
                      <a:rPr lang="en-US" sz="900" dirty="0">
                        <a:latin typeface="Cambria Math" panose="02040503050406030204" pitchFamily="18" charset="0"/>
                        <a:ea typeface="等线" panose="02010600030101010101" charset="-122"/>
                        <a:sym typeface="Noto Sans SC" panose="020B0200000000000000" charset="-122"/>
                      </a:rPr>
                      <m:t>₁=|</m:t>
                    </m:r>
                    <m:r>
                      <a:rPr lang="en-US" sz="900" dirty="0">
                        <a:latin typeface="Cambria Math" panose="02040503050406030204" pitchFamily="18" charset="0"/>
                        <a:ea typeface="等线" panose="02010600030101010101" charset="-122"/>
                        <a:sym typeface="Noto Sans SC" panose="020B0200000000000000" charset="-122"/>
                      </a:rPr>
                      <m:t>𝑺</m:t>
                    </m:r>
                    <m:r>
                      <a:rPr lang="en-US" sz="900" dirty="0">
                        <a:latin typeface="Cambria Math" panose="02040503050406030204" pitchFamily="18" charset="0"/>
                        <a:ea typeface="等线" panose="02010600030101010101" charset="-122"/>
                        <a:sym typeface="Noto Sans SC" panose="020B0200000000000000" charset="-122"/>
                      </a:rPr>
                      <m:t>₁|</m:t>
                    </m:r>
                  </m:oMath>
                </a14:m>
                <a:r>
                  <a:rPr lang="en-US" sz="900" b="0" i="0" u="none" strike="noStrike">
                    <a:solidFill>
                      <a:srgbClr val="374151"/>
                    </a:solidFill>
                    <a:latin typeface="Calibri" panose="020F0502020204030204"/>
                    <a:ea typeface="Calibri" panose="020F0502020204030204"/>
                    <a:cs typeface="Calibri" panose="020F0502020204030204"/>
                    <a:sym typeface="Calibri" panose="020F0502020204030204"/>
                  </a:rPr>
                  <a:t>(True effective features), </a:t>
                </a:r>
                <a14:m>
                  <m:oMath xmlns:m="http://schemas.openxmlformats.org/officeDocument/2006/math">
                    <m:r>
                      <a:rPr lang="en-US" sz="900" dirty="0">
                        <a:latin typeface="Cambria Math" panose="02040503050406030204" pitchFamily="18" charset="0"/>
                        <a:ea typeface="等线" panose="02010600030101010101" charset="-122"/>
                        <a:sym typeface="Noto Sans SC" panose="020B0200000000000000" charset="-122"/>
                      </a:rPr>
                      <m:t>𝒑</m:t>
                    </m:r>
                    <m:r>
                      <a:rPr lang="en-US" sz="900" dirty="0">
                        <a:latin typeface="Cambria Math" panose="02040503050406030204" pitchFamily="18" charset="0"/>
                        <a:ea typeface="等线" panose="02010600030101010101" charset="-122"/>
                        <a:sym typeface="Noto Sans SC" panose="020B0200000000000000" charset="-122"/>
                      </a:rPr>
                      <m:t>₀=</m:t>
                    </m:r>
                    <m:r>
                      <a:rPr lang="en-US" sz="900" dirty="0">
                        <a:latin typeface="Cambria Math" panose="02040503050406030204" pitchFamily="18" charset="0"/>
                        <a:ea typeface="等线" panose="02010600030101010101" charset="-122"/>
                        <a:sym typeface="Noto Sans SC" panose="020B0200000000000000" charset="-122"/>
                      </a:rPr>
                      <m:t>𝒑</m:t>
                    </m:r>
                    <m:r>
                      <a:rPr lang="en-US" sz="900" dirty="0">
                        <a:latin typeface="Cambria Math" panose="02040503050406030204" pitchFamily="18" charset="0"/>
                        <a:ea typeface="等线" panose="02010600030101010101" charset="-122"/>
                        <a:sym typeface="Noto Sans SC" panose="020B0200000000000000" charset="-122"/>
                      </a:rPr>
                      <m:t>−</m:t>
                    </m:r>
                    <m:r>
                      <a:rPr lang="en-US" sz="900" dirty="0">
                        <a:latin typeface="Cambria Math" panose="02040503050406030204" pitchFamily="18" charset="0"/>
                        <a:ea typeface="等线" panose="02010600030101010101" charset="-122"/>
                        <a:sym typeface="Noto Sans SC" panose="020B0200000000000000" charset="-122"/>
                      </a:rPr>
                      <m:t>𝒑</m:t>
                    </m:r>
                    <m:r>
                      <a:rPr lang="en-US" sz="900" dirty="0">
                        <a:latin typeface="Cambria Math" panose="02040503050406030204" pitchFamily="18" charset="0"/>
                        <a:ea typeface="等线" panose="02010600030101010101" charset="-122"/>
                        <a:sym typeface="Noto Sans SC" panose="020B0200000000000000" charset="-122"/>
                      </a:rPr>
                      <m:t>₁</m:t>
                    </m:r>
                  </m:oMath>
                </a14:m>
                <a:r>
                  <a:rPr lang="en-US" sz="900" b="0" i="0" u="none" strike="noStrike">
                    <a:solidFill>
                      <a:srgbClr val="374151"/>
                    </a:solidFill>
                    <a:latin typeface="Calibri" panose="020F0502020204030204"/>
                    <a:ea typeface="Calibri" panose="020F0502020204030204"/>
                    <a:cs typeface="Calibri" panose="020F0502020204030204"/>
                    <a:sym typeface="Calibri" panose="020F0502020204030204"/>
                  </a:rPr>
                  <a:t>(Noise features), </a:t>
                </a:r>
                <a14:m>
                  <m:oMath xmlns:m="http://schemas.openxmlformats.org/officeDocument/2006/math">
                    <m:r>
                      <a:rPr lang="en-US" sz="900" dirty="0">
                        <a:latin typeface="Cambria Math" panose="02040503050406030204" pitchFamily="18" charset="0"/>
                        <a:ea typeface="等线" panose="02010600030101010101" charset="-122"/>
                        <a:sym typeface="Noto Sans SC" panose="020B0200000000000000" charset="-122"/>
                      </a:rPr>
                      <m:t>Ŝ</m:t>
                    </m:r>
                  </m:oMath>
                </a14:m>
                <a:r>
                  <a:rPr lang="en-US" sz="900" b="0" i="0" u="none" strike="noStrike">
                    <a:solidFill>
                      <a:srgbClr val="374151"/>
                    </a:solidFill>
                    <a:latin typeface="Calibri" panose="020F0502020204030204"/>
                    <a:ea typeface="Calibri" panose="020F0502020204030204"/>
                    <a:cs typeface="Calibri" panose="020F0502020204030204"/>
                    <a:sym typeface="Calibri" panose="020F0502020204030204"/>
                  </a:rPr>
                  <a:t>(Algorithm selection results). We need to get </a:t>
                </a:r>
                <a14:m>
                  <m:oMath xmlns:m="http://schemas.openxmlformats.org/officeDocument/2006/math">
                    <m:r>
                      <a:rPr lang="en-US" sz="900" dirty="0">
                        <a:latin typeface="Cambria Math" panose="02040503050406030204" pitchFamily="18" charset="0"/>
                        <a:ea typeface="等线" panose="02010600030101010101" charset="-122"/>
                        <a:sym typeface="Noto Sans SC" panose="020B0200000000000000" charset="-122"/>
                      </a:rPr>
                      <m:t>Ŝ</m:t>
                    </m:r>
                  </m:oMath>
                </a14:m>
                <a:r>
                  <a:rPr lang="en-US" sz="900" dirty="0">
                    <a:latin typeface="等线" panose="02010600030101010101" charset="-122"/>
                    <a:ea typeface="等线" panose="02010600030101010101" charset="-122"/>
                    <a:sym typeface="Noto Sans SC" panose="020B0200000000000000" charset="-122"/>
                  </a:rPr>
                  <a:t> </a:t>
                </a:r>
                <a:r>
                  <a:rPr lang="en-US" sz="900" b="0" i="0" u="none" strike="noStrike">
                    <a:solidFill>
                      <a:srgbClr val="374151"/>
                    </a:solidFill>
                    <a:latin typeface="Calibri" panose="020F0502020204030204"/>
                    <a:ea typeface="Calibri" panose="020F0502020204030204"/>
                    <a:cs typeface="Calibri" panose="020F0502020204030204"/>
                    <a:sym typeface="Calibri" panose="020F0502020204030204"/>
                  </a:rPr>
                  <a:t>as close as possible to the true set </a:t>
                </a:r>
                <a:r>
                  <a:rPr lang="en-US" sz="900" dirty="0">
                    <a:latin typeface="等线" panose="02010600030101010101" charset="-122"/>
                    <a:ea typeface="等线" panose="02010600030101010101" charset="-122"/>
                    <a:sym typeface="Noto Sans SC" panose="020B0200000000000000" charset="-122"/>
                  </a:rPr>
                  <a:t> </a:t>
                </a:r>
                <a14:m>
                  <m:oMath xmlns:m="http://schemas.openxmlformats.org/officeDocument/2006/math">
                    <m:r>
                      <a:rPr lang="en-US" sz="900" dirty="0">
                        <a:latin typeface="Cambria Math" panose="02040503050406030204" pitchFamily="18" charset="0"/>
                        <a:ea typeface="等线" panose="02010600030101010101" charset="-122"/>
                        <a:sym typeface="Noto Sans SC" panose="020B0200000000000000" charset="-122"/>
                      </a:rPr>
                      <m:t>𝑆</m:t>
                    </m:r>
                    <m:r>
                      <a:rPr lang="en-US" sz="900" dirty="0">
                        <a:latin typeface="Cambria Math" panose="02040503050406030204" pitchFamily="18" charset="0"/>
                        <a:ea typeface="等线" panose="02010600030101010101" charset="-122"/>
                        <a:sym typeface="Noto Sans SC" panose="020B0200000000000000" charset="-122"/>
                      </a:rPr>
                      <m:t>₁</m:t>
                    </m:r>
                  </m:oMath>
                </a14:m>
                <a:r>
                  <a:rPr lang="en-US" sz="900" b="0" i="0" u="none" strike="noStrike">
                    <a:solidFill>
                      <a:srgbClr val="374151"/>
                    </a:solidFill>
                    <a:latin typeface="Calibri" panose="020F0502020204030204"/>
                    <a:ea typeface="Calibri" panose="020F0502020204030204"/>
                    <a:cs typeface="Calibri" panose="020F0502020204030204"/>
                    <a:sym typeface="Calibri" panose="020F0502020204030204"/>
                  </a:rPr>
                  <a:t>.</a:t>
                </a:r>
                <a:endParaRPr lang="en-US" sz="1100"/>
              </a:p>
            </p:txBody>
          </p:sp>
        </mc:Choice>
        <mc:Fallback>
          <p:sp>
            <p:nvSpPr>
              <p:cNvPr id="9" name="AutoShape 9"/>
              <p:cNvSpPr>
                <a:spLocks noRot="1" noChangeAspect="1" noMove="1" noResize="1" noEditPoints="1" noAdjustHandles="1" noChangeArrowheads="1" noChangeShapeType="1" noTextEdit="1"/>
              </p:cNvSpPr>
              <p:nvPr/>
            </p:nvSpPr>
            <p:spPr>
              <a:xfrm>
                <a:off x="368935" y="2743200"/>
                <a:ext cx="3644265" cy="571500"/>
              </a:xfrm>
              <a:prstGeom prst="roundRect">
                <a:avLst>
                  <a:gd name="adj" fmla="val 0"/>
                </a:avLst>
              </a:prstGeom>
              <a:blipFill rotWithShape="1">
                <a:blip r:embed="rId4"/>
                <a:stretch>
                  <a:fillRect/>
                </a:stretch>
              </a:blipFill>
              <a:ln w="25400" cap="flat" cmpd="sng">
                <a:noFill/>
                <a:prstDash val="solid"/>
                <a:round/>
              </a:ln>
            </p:spPr>
            <p:txBody>
              <a:bodyPr/>
              <a:lstStyle/>
              <a:p>
                <a:r>
                  <a:rPr lang="zh-CN" altLang="en-US">
                    <a:noFill/>
                  </a:rPr>
                  <a:t> </a:t>
                </a:r>
              </a:p>
            </p:txBody>
          </p:sp>
        </mc:Fallback>
      </mc:AlternateContent>
      <p:sp>
        <p:nvSpPr>
          <p:cNvPr id="10" name="AutoShape 10"/>
          <p:cNvSpPr/>
          <p:nvPr/>
        </p:nvSpPr>
        <p:spPr>
          <a:xfrm>
            <a:off x="4572000" y="1054100"/>
            <a:ext cx="4000500" cy="1092200"/>
          </a:xfrm>
          <a:prstGeom prst="roundRect">
            <a:avLst>
              <a:gd name="adj" fmla="val 8139"/>
            </a:avLst>
          </a:prstGeom>
          <a:solidFill>
            <a:srgbClr val="F0FDF4">
              <a:alpha val="10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711700" y="1168400"/>
            <a:ext cx="3721100" cy="254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15803D"/>
                </a:solidFill>
                <a:latin typeface="Calibri" panose="020F0502020204030204"/>
                <a:ea typeface="Calibri" panose="020F0502020204030204"/>
                <a:cs typeface="Calibri" panose="020F0502020204030204"/>
                <a:sym typeface="Calibri" panose="020F0502020204030204"/>
              </a:rPr>
              <a:t>Metric 1: Statistical Power  — "No Misses"</a:t>
            </a:r>
            <a:endParaRPr lang="en-US" sz="1100"/>
          </a:p>
        </p:txBody>
      </p:sp>
      <mc:AlternateContent xmlns:mc="http://schemas.openxmlformats.org/markup-compatibility/2006">
        <mc:Choice xmlns:a14="http://schemas.microsoft.com/office/drawing/2010/main" Requires="a14">
          <p:sp>
            <p:nvSpPr>
              <p:cNvPr id="12" name="AutoShape 12"/>
              <p:cNvSpPr/>
              <p:nvPr/>
            </p:nvSpPr>
            <p:spPr>
              <a:xfrm>
                <a:off x="4711700" y="1352550"/>
                <a:ext cx="3721100" cy="80645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900" b="1" i="0" u="none" strike="noStrike">
                    <a:solidFill>
                      <a:srgbClr val="374151"/>
                    </a:solidFill>
                    <a:latin typeface="Calibri" panose="020F0502020204030204"/>
                    <a:ea typeface="Calibri" panose="020F0502020204030204"/>
                    <a:cs typeface="Calibri" panose="020F0502020204030204"/>
                    <a:sym typeface="Calibri" panose="020F0502020204030204"/>
                  </a:rPr>
                  <a:t>Definition:</a:t>
                </a:r>
                <a14:m>
                  <m:oMath xmlns:m="http://schemas.openxmlformats.org/officeDocument/2006/math">
                    <m:r>
                      <a:rPr lang="en-US" sz="900" b="1" i="1" dirty="0" smtClean="0">
                        <a:solidFill>
                          <a:srgbClr val="4B5563"/>
                        </a:solidFill>
                        <a:latin typeface="Cambria Math" panose="02040503050406030204" pitchFamily="18" charset="0"/>
                        <a:ea typeface="Noto Sans SC" panose="020B0200000000000000" charset="-122"/>
                        <a:cs typeface="Noto Sans SC" panose="020B0200000000000000" charset="-122"/>
                        <a:sym typeface="Noto Sans SC" panose="020B0200000000000000" charset="-122"/>
                      </a:rPr>
                      <m:t>𝑷𝒐𝒘𝒆𝒓</m:t>
                    </m:r>
                    <m:r>
                      <a:rPr lang="en-US" sz="900" b="1" i="1" dirty="0">
                        <a:solidFill>
                          <a:srgbClr val="4B5563"/>
                        </a:solidFill>
                        <a:latin typeface="Cambria Math" panose="02040503050406030204" pitchFamily="18" charset="0"/>
                        <a:ea typeface="Noto Sans SC" panose="020B0200000000000000" charset="-122"/>
                        <a:cs typeface="Noto Sans SC" panose="020B0200000000000000" charset="-122"/>
                        <a:sym typeface="Noto Sans SC" panose="020B0200000000000000" charset="-122"/>
                      </a:rPr>
                      <m:t> =</m:t>
                    </m:r>
                    <m:f>
                      <m:fPr>
                        <m:ctrlPr>
                          <a:rPr lang="en-US" altLang="zh-CN" sz="900" b="1" i="1" dirty="0" smtClean="0">
                            <a:solidFill>
                              <a:srgbClr val="4B5563"/>
                            </a:solidFill>
                            <a:latin typeface="Cambria Math" panose="02040503050406030204" pitchFamily="18" charset="0"/>
                            <a:ea typeface="Noto Sans SC" panose="020B0200000000000000" charset="-122"/>
                            <a:sym typeface="Noto Sans SC" panose="020B0200000000000000" charset="-122"/>
                          </a:rPr>
                        </m:ctrlPr>
                      </m:fPr>
                      <m:num>
                        <m:r>
                          <m:rPr>
                            <m:nor/>
                          </m:rPr>
                          <a:rPr lang="en-US" altLang="zh-CN" sz="9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m:t>E</m:t>
                        </m:r>
                        <m:r>
                          <m:rPr>
                            <m:nor/>
                          </m:rPr>
                          <a:rPr lang="en-US" altLang="zh-CN" sz="9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m:t>[|Ŝ ∩ </m:t>
                        </m:r>
                        <m:r>
                          <m:rPr>
                            <m:nor/>
                          </m:rPr>
                          <a:rPr lang="en-US" altLang="zh-CN" sz="9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m:t>S</m:t>
                        </m:r>
                        <m:r>
                          <m:rPr>
                            <m:nor/>
                          </m:rPr>
                          <a:rPr lang="en-US" altLang="zh-CN" sz="9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m:t>₁|]</m:t>
                        </m:r>
                      </m:num>
                      <m:den>
                        <m:r>
                          <m:rPr>
                            <m:nor/>
                          </m:rPr>
                          <a:rPr lang="en-US" altLang="zh-CN" sz="9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m:t>|</m:t>
                        </m:r>
                        <m:r>
                          <m:rPr>
                            <m:nor/>
                          </m:rPr>
                          <a:rPr lang="en-US" altLang="zh-CN" sz="9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m:t>S</m:t>
                        </m:r>
                        <m:r>
                          <m:rPr>
                            <m:nor/>
                          </m:rPr>
                          <a:rPr lang="en-US" altLang="zh-CN" sz="9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m:t>₁|</m:t>
                        </m:r>
                      </m:den>
                    </m:f>
                  </m:oMath>
                </a14:m>
                <a:endParaRPr lang="en-US" sz="9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defRPr/>
                </a:pPr>
                <a:endParaRPr lang="en-US" sz="900" b="1" i="0" u="none" strike="noStrike">
                  <a:solidFill>
                    <a:srgbClr val="374151"/>
                  </a:solidFill>
                  <a:latin typeface="Calibri" panose="020F0502020204030204"/>
                  <a:ea typeface="Calibri" panose="020F0502020204030204"/>
                  <a:cs typeface="Calibri" panose="020F0502020204030204"/>
                  <a:sym typeface="Calibri" panose="020F0502020204030204"/>
                </a:endParaRPr>
              </a:p>
              <a:p>
                <a:pPr indent="0" algn="l">
                  <a:lnSpc>
                    <a:spcPct val="100000"/>
                  </a:lnSpc>
                  <a:defRPr/>
                </a:pPr>
                <a:r>
                  <a:rPr lang="en-US" sz="900" b="0" i="0" u="none" strike="noStrike">
                    <a:solidFill>
                      <a:srgbClr val="374151"/>
                    </a:solidFill>
                    <a:latin typeface="Calibri" panose="020F0502020204030204"/>
                    <a:ea typeface="Calibri" panose="020F0502020204030204"/>
                    <a:cs typeface="Calibri" panose="020F0502020204030204"/>
                    <a:sym typeface="Calibri" panose="020F0502020204030204"/>
                  </a:rPr>
                  <a:t>The proportion of truly relevant features that are successfully identified. Our goal is for it to be as high as possible to avoid missing important signals.</a:t>
                </a:r>
                <a:endParaRPr lang="en-US" sz="1100"/>
              </a:p>
            </p:txBody>
          </p:sp>
        </mc:Choice>
        <mc:Fallback>
          <p:sp>
            <p:nvSpPr>
              <p:cNvPr id="12" name="AutoShape 12"/>
              <p:cNvSpPr>
                <a:spLocks noRot="1" noChangeAspect="1" noMove="1" noResize="1" noEditPoints="1" noAdjustHandles="1" noChangeArrowheads="1" noChangeShapeType="1" noTextEdit="1"/>
              </p:cNvSpPr>
              <p:nvPr/>
            </p:nvSpPr>
            <p:spPr>
              <a:xfrm>
                <a:off x="4711700" y="1352550"/>
                <a:ext cx="3721100" cy="806450"/>
              </a:xfrm>
              <a:prstGeom prst="roundRect">
                <a:avLst>
                  <a:gd name="adj" fmla="val 0"/>
                </a:avLst>
              </a:prstGeom>
              <a:blipFill rotWithShape="1">
                <a:blip r:embed="rId5"/>
                <a:stretch>
                  <a:fillRect/>
                </a:stretch>
              </a:blipFill>
              <a:ln w="25400" cap="flat" cmpd="sng">
                <a:noFill/>
                <a:prstDash val="solid"/>
                <a:round/>
              </a:ln>
            </p:spPr>
            <p:txBody>
              <a:bodyPr/>
              <a:lstStyle/>
              <a:p>
                <a:r>
                  <a:rPr lang="zh-CN" altLang="en-US">
                    <a:noFill/>
                  </a:rPr>
                  <a:t> </a:t>
                </a:r>
              </a:p>
            </p:txBody>
          </p:sp>
        </mc:Fallback>
      </mc:AlternateContent>
      <p:sp>
        <p:nvSpPr>
          <p:cNvPr id="13" name="AutoShape 13"/>
          <p:cNvSpPr/>
          <p:nvPr/>
        </p:nvSpPr>
        <p:spPr>
          <a:xfrm>
            <a:off x="4572000" y="2235200"/>
            <a:ext cx="4000500" cy="1092200"/>
          </a:xfrm>
          <a:prstGeom prst="roundRect">
            <a:avLst>
              <a:gd name="adj" fmla="val 8139"/>
            </a:avLst>
          </a:prstGeom>
          <a:solidFill>
            <a:srgbClr val="FEF2F2">
              <a:alpha val="100000"/>
            </a:srgbClr>
          </a:solidFill>
          <a:ln w="12700" cap="flat" cmpd="sng">
            <a:solidFill>
              <a:srgbClr val="FECACA">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4711700" y="2270125"/>
            <a:ext cx="3721100" cy="254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B91C1C"/>
                </a:solidFill>
                <a:latin typeface="Calibri" panose="020F0502020204030204"/>
                <a:ea typeface="Calibri" panose="020F0502020204030204"/>
                <a:cs typeface="Calibri" panose="020F0502020204030204"/>
                <a:sym typeface="Calibri" panose="020F0502020204030204"/>
              </a:rPr>
              <a:t>Metric 2: False Discovery Rate (FDR) — "No Errors"</a:t>
            </a:r>
            <a:endParaRPr lang="en-US" sz="1100"/>
          </a:p>
        </p:txBody>
      </p:sp>
      <mc:AlternateContent xmlns:mc="http://schemas.openxmlformats.org/markup-compatibility/2006">
        <mc:Choice xmlns:a14="http://schemas.microsoft.com/office/drawing/2010/main" Requires="a14">
          <p:sp>
            <p:nvSpPr>
              <p:cNvPr id="15" name="AutoShape 15"/>
              <p:cNvSpPr/>
              <p:nvPr/>
            </p:nvSpPr>
            <p:spPr>
              <a:xfrm>
                <a:off x="4711700" y="2498725"/>
                <a:ext cx="3721100" cy="828675"/>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900" b="1" i="0" u="none" strike="noStrike">
                    <a:solidFill>
                      <a:srgbClr val="374151"/>
                    </a:solidFill>
                    <a:latin typeface="Calibri" panose="020F0502020204030204"/>
                    <a:ea typeface="Calibri" panose="020F0502020204030204"/>
                    <a:cs typeface="Calibri" panose="020F0502020204030204"/>
                    <a:sym typeface="Calibri" panose="020F0502020204030204"/>
                  </a:rPr>
                  <a:t>Definition:</a:t>
                </a:r>
                <a14:m>
                  <m:oMath xmlns:m="http://schemas.openxmlformats.org/officeDocument/2006/math">
                    <m:r>
                      <a:rPr lang="en-US" sz="900" b="1" i="1" dirty="0" smtClean="0">
                        <a:solidFill>
                          <a:srgbClr val="4B5563"/>
                        </a:solidFill>
                        <a:latin typeface="Cambria Math" panose="02040503050406030204" pitchFamily="18" charset="0"/>
                        <a:ea typeface="Noto Sans SC" panose="020B0200000000000000" charset="-122"/>
                        <a:cs typeface="Noto Sans SC" panose="020B0200000000000000" charset="-122"/>
                        <a:sym typeface="Noto Sans SC" panose="020B0200000000000000" charset="-122"/>
                      </a:rPr>
                      <m:t>𝑭𝑫𝑹</m:t>
                    </m:r>
                    <m:r>
                      <a:rPr lang="en-US" sz="900" b="1" i="1" dirty="0">
                        <a:solidFill>
                          <a:srgbClr val="4B5563"/>
                        </a:solidFill>
                        <a:latin typeface="Cambria Math" panose="02040503050406030204" pitchFamily="18" charset="0"/>
                        <a:ea typeface="Noto Sans SC" panose="020B0200000000000000" charset="-122"/>
                        <a:cs typeface="Noto Sans SC" panose="020B0200000000000000" charset="-122"/>
                        <a:sym typeface="Noto Sans SC" panose="020B0200000000000000" charset="-122"/>
                      </a:rPr>
                      <m:t> =</m:t>
                    </m:r>
                    <m:r>
                      <a:rPr lang="en-US" sz="900" b="1" i="1" dirty="0" smtClean="0">
                        <a:solidFill>
                          <a:srgbClr val="4B5563"/>
                        </a:solidFill>
                        <a:latin typeface="Cambria Math" panose="02040503050406030204" pitchFamily="18" charset="0"/>
                        <a:ea typeface="Noto Sans SC" panose="020B0200000000000000" charset="-122"/>
                        <a:cs typeface="Noto Sans SC" panose="020B0200000000000000" charset="-122"/>
                        <a:sym typeface="Noto Sans SC" panose="020B0200000000000000" charset="-122"/>
                      </a:rPr>
                      <m:t>𝑬</m:t>
                    </m:r>
                    <m:d>
                      <m:dPr>
                        <m:begChr m:val="["/>
                        <m:endChr m:val="]"/>
                        <m:ctrlPr>
                          <a:rPr lang="en-US" altLang="zh-CN" sz="900" b="1" i="1" dirty="0" smtClean="0">
                            <a:solidFill>
                              <a:srgbClr val="4B5563"/>
                            </a:solidFill>
                            <a:latin typeface="Cambria Math" panose="02040503050406030204" pitchFamily="18" charset="0"/>
                            <a:ea typeface="Noto Sans SC" panose="020B0200000000000000" charset="-122"/>
                            <a:sym typeface="Noto Sans SC" panose="020B0200000000000000" charset="-122"/>
                          </a:rPr>
                        </m:ctrlPr>
                      </m:dPr>
                      <m:e>
                        <m:f>
                          <m:fPr>
                            <m:ctrlPr>
                              <a:rPr lang="en-US" altLang="zh-CN" sz="900" b="1" i="1" dirty="0" smtClean="0">
                                <a:solidFill>
                                  <a:srgbClr val="4B5563"/>
                                </a:solidFill>
                                <a:latin typeface="Cambria Math" panose="02040503050406030204" pitchFamily="18" charset="0"/>
                                <a:ea typeface="Noto Sans SC" panose="020B0200000000000000" charset="-122"/>
                                <a:sym typeface="Noto Sans SC" panose="020B0200000000000000" charset="-122"/>
                              </a:rPr>
                            </m:ctrlPr>
                          </m:fPr>
                          <m:num>
                            <m:d>
                              <m:dPr>
                                <m:begChr m:val="|"/>
                                <m:endChr m:val="|"/>
                                <m:ctrlPr>
                                  <a:rPr lang="en-US" altLang="zh-CN" sz="900" b="1" i="1" dirty="0" smtClean="0">
                                    <a:solidFill>
                                      <a:srgbClr val="4B5563"/>
                                    </a:solidFill>
                                    <a:latin typeface="Cambria Math" panose="02040503050406030204" pitchFamily="18" charset="0"/>
                                    <a:ea typeface="Noto Sans SC" panose="020B0200000000000000" charset="-122"/>
                                    <a:sym typeface="Noto Sans SC" panose="020B0200000000000000" charset="-122"/>
                                  </a:rPr>
                                </m:ctrlPr>
                              </m:dPr>
                              <m:e>
                                <m:acc>
                                  <m:accPr>
                                    <m:ctrlPr>
                                      <a:rPr lang="en-US" altLang="zh-CN" sz="900" b="1" i="1" dirty="0" smtClean="0">
                                        <a:solidFill>
                                          <a:srgbClr val="4B5563"/>
                                        </a:solidFill>
                                        <a:latin typeface="Cambria Math" panose="02040503050406030204" pitchFamily="18" charset="0"/>
                                        <a:ea typeface="Noto Sans SC" panose="020B0200000000000000" charset="-122"/>
                                        <a:sym typeface="Noto Sans SC" panose="020B0200000000000000" charset="-122"/>
                                      </a:rPr>
                                    </m:ctrlPr>
                                  </m:accPr>
                                  <m:e>
                                    <m:r>
                                      <a:rPr lang="en-US" altLang="zh-CN" sz="900" b="1" i="1" dirty="0" smtClean="0">
                                        <a:solidFill>
                                          <a:srgbClr val="4B5563"/>
                                        </a:solidFill>
                                        <a:latin typeface="Cambria Math" panose="02040503050406030204" pitchFamily="18" charset="0"/>
                                        <a:ea typeface="Noto Sans SC" panose="020B0200000000000000" charset="-122"/>
                                        <a:sym typeface="Noto Sans SC" panose="020B0200000000000000" charset="-122"/>
                                      </a:rPr>
                                      <m:t>𝑺</m:t>
                                    </m:r>
                                  </m:e>
                                </m:acc>
                                <m:r>
                                  <a:rPr lang="en-US" altLang="zh-CN" sz="900" b="1" i="1" dirty="0" smtClean="0">
                                    <a:solidFill>
                                      <a:srgbClr val="4B5563"/>
                                    </a:solidFill>
                                    <a:latin typeface="Cambria Math" panose="02040503050406030204" pitchFamily="18" charset="0"/>
                                    <a:ea typeface="Cambria Math" panose="02040503050406030204" pitchFamily="18" charset="0"/>
                                    <a:sym typeface="Noto Sans SC" panose="020B0200000000000000" charset="-122"/>
                                  </a:rPr>
                                  <m:t>∩</m:t>
                                </m:r>
                                <m:sSub>
                                  <m:sSubPr>
                                    <m:ctrlPr>
                                      <a:rPr lang="en-US" altLang="zh-CN" sz="900" b="1" i="1" dirty="0" smtClean="0">
                                        <a:solidFill>
                                          <a:srgbClr val="4B5563"/>
                                        </a:solidFill>
                                        <a:latin typeface="Cambria Math" panose="02040503050406030204" pitchFamily="18" charset="0"/>
                                        <a:ea typeface="Cambria Math" panose="02040503050406030204" pitchFamily="18" charset="0"/>
                                        <a:sym typeface="Noto Sans SC" panose="020B0200000000000000" charset="-122"/>
                                      </a:rPr>
                                    </m:ctrlPr>
                                  </m:sSubPr>
                                  <m:e>
                                    <m:r>
                                      <a:rPr lang="en-US" altLang="zh-CN" sz="900" b="1" i="1" dirty="0" smtClean="0">
                                        <a:solidFill>
                                          <a:srgbClr val="4B5563"/>
                                        </a:solidFill>
                                        <a:latin typeface="Cambria Math" panose="02040503050406030204" pitchFamily="18" charset="0"/>
                                        <a:ea typeface="Cambria Math" panose="02040503050406030204" pitchFamily="18" charset="0"/>
                                        <a:sym typeface="Noto Sans SC" panose="020B0200000000000000" charset="-122"/>
                                      </a:rPr>
                                      <m:t>𝑺</m:t>
                                    </m:r>
                                  </m:e>
                                  <m:sub>
                                    <m:r>
                                      <a:rPr lang="en-US" altLang="zh-CN" sz="900" b="1" i="1" dirty="0" smtClean="0">
                                        <a:solidFill>
                                          <a:srgbClr val="4B5563"/>
                                        </a:solidFill>
                                        <a:latin typeface="Cambria Math" panose="02040503050406030204" pitchFamily="18" charset="0"/>
                                        <a:ea typeface="Cambria Math" panose="02040503050406030204" pitchFamily="18" charset="0"/>
                                        <a:sym typeface="Noto Sans SC" panose="020B0200000000000000" charset="-122"/>
                                      </a:rPr>
                                      <m:t>𝟎</m:t>
                                    </m:r>
                                  </m:sub>
                                </m:sSub>
                              </m:e>
                            </m:d>
                          </m:num>
                          <m:den>
                            <m:r>
                              <a:rPr lang="en-US" altLang="zh-CN" sz="900" b="1" i="1" dirty="0">
                                <a:solidFill>
                                  <a:srgbClr val="4B5563"/>
                                </a:solidFill>
                                <a:latin typeface="Cambria Math" panose="02040503050406030204" pitchFamily="18" charset="0"/>
                                <a:ea typeface="Noto Sans SC" panose="020B0200000000000000" charset="-122"/>
                                <a:sym typeface="Noto Sans SC" panose="020B0200000000000000" charset="-122"/>
                              </a:rPr>
                              <m:t>𝒎𝒂𝒙</m:t>
                            </m:r>
                            <m:d>
                              <m:dPr>
                                <m:ctrlPr>
                                  <a:rPr lang="en-US" altLang="zh-CN" sz="900" b="1" i="1" dirty="0" smtClean="0">
                                    <a:solidFill>
                                      <a:srgbClr val="4B5563"/>
                                    </a:solidFill>
                                    <a:latin typeface="Cambria Math" panose="02040503050406030204" pitchFamily="18" charset="0"/>
                                    <a:ea typeface="Noto Sans SC" panose="020B0200000000000000" charset="-122"/>
                                    <a:sym typeface="Noto Sans SC" panose="020B0200000000000000" charset="-122"/>
                                  </a:rPr>
                                </m:ctrlPr>
                              </m:dPr>
                              <m:e>
                                <m:d>
                                  <m:dPr>
                                    <m:begChr m:val="|"/>
                                    <m:endChr m:val="|"/>
                                    <m:ctrlPr>
                                      <a:rPr lang="en-US" altLang="zh-CN" sz="900" b="1" i="1" dirty="0" smtClean="0">
                                        <a:solidFill>
                                          <a:srgbClr val="4B5563"/>
                                        </a:solidFill>
                                        <a:latin typeface="Cambria Math" panose="02040503050406030204" pitchFamily="18" charset="0"/>
                                        <a:ea typeface="Noto Sans SC" panose="020B0200000000000000" charset="-122"/>
                                        <a:sym typeface="Noto Sans SC" panose="020B0200000000000000" charset="-122"/>
                                      </a:rPr>
                                    </m:ctrlPr>
                                  </m:dPr>
                                  <m:e>
                                    <m:acc>
                                      <m:accPr>
                                        <m:ctrlPr>
                                          <a:rPr lang="en-US" altLang="zh-CN" sz="900" b="1" i="1" dirty="0" smtClean="0">
                                            <a:solidFill>
                                              <a:srgbClr val="4B5563"/>
                                            </a:solidFill>
                                            <a:latin typeface="Cambria Math" panose="02040503050406030204" pitchFamily="18" charset="0"/>
                                            <a:ea typeface="Noto Sans SC" panose="020B0200000000000000" charset="-122"/>
                                            <a:sym typeface="Noto Sans SC" panose="020B0200000000000000" charset="-122"/>
                                          </a:rPr>
                                        </m:ctrlPr>
                                      </m:accPr>
                                      <m:e>
                                        <m:r>
                                          <a:rPr lang="en-US" altLang="zh-CN" sz="900" b="1" i="1" dirty="0" smtClean="0">
                                            <a:solidFill>
                                              <a:srgbClr val="4B5563"/>
                                            </a:solidFill>
                                            <a:latin typeface="Cambria Math" panose="02040503050406030204" pitchFamily="18" charset="0"/>
                                            <a:ea typeface="Noto Sans SC" panose="020B0200000000000000" charset="-122"/>
                                            <a:sym typeface="Noto Sans SC" panose="020B0200000000000000" charset="-122"/>
                                          </a:rPr>
                                          <m:t>𝑺</m:t>
                                        </m:r>
                                      </m:e>
                                    </m:acc>
                                    <m:r>
                                      <a:rPr lang="en-US" altLang="zh-CN" sz="900" b="1" i="1" dirty="0" smtClean="0">
                                        <a:solidFill>
                                          <a:srgbClr val="4B5563"/>
                                        </a:solidFill>
                                        <a:latin typeface="Cambria Math" panose="02040503050406030204" pitchFamily="18" charset="0"/>
                                        <a:ea typeface="Noto Sans SC" panose="020B0200000000000000" charset="-122"/>
                                        <a:sym typeface="Noto Sans SC" panose="020B0200000000000000" charset="-122"/>
                                      </a:rPr>
                                      <m:t>,</m:t>
                                    </m:r>
                                    <m:r>
                                      <a:rPr lang="en-US" altLang="zh-CN" sz="900" b="1" i="1" dirty="0" smtClean="0">
                                        <a:solidFill>
                                          <a:srgbClr val="4B5563"/>
                                        </a:solidFill>
                                        <a:latin typeface="Cambria Math" panose="02040503050406030204" pitchFamily="18" charset="0"/>
                                        <a:ea typeface="Noto Sans SC" panose="020B0200000000000000" charset="-122"/>
                                        <a:sym typeface="Noto Sans SC" panose="020B0200000000000000" charset="-122"/>
                                      </a:rPr>
                                      <m:t>𝟏</m:t>
                                    </m:r>
                                  </m:e>
                                </m:d>
                              </m:e>
                            </m:d>
                          </m:den>
                        </m:f>
                      </m:e>
                    </m:d>
                    <m:r>
                      <a:rPr lang="en-US" sz="900" b="1" i="1" dirty="0">
                        <a:solidFill>
                          <a:srgbClr val="4B5563"/>
                        </a:solidFill>
                        <a:latin typeface="Cambria Math" panose="02040503050406030204" pitchFamily="18" charset="0"/>
                        <a:ea typeface="Noto Sans SC" panose="020B0200000000000000" charset="-122"/>
                        <a:cs typeface="Noto Sans SC" panose="020B0200000000000000" charset="-122"/>
                        <a:sym typeface="Noto Sans SC" panose="020B0200000000000000" charset="-122"/>
                      </a:rPr>
                      <m:t> </m:t>
                    </m:r>
                  </m:oMath>
                </a14:m>
                <a:r>
                  <a:rPr lang="en-US" sz="9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α</a:t>
                </a:r>
                <a:endParaRPr lang="en-US" sz="9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defRPr/>
                </a:pPr>
                <a:r>
                  <a:rPr lang="en-US" sz="900" b="0" i="0" u="none" strike="noStrike">
                    <a:solidFill>
                      <a:srgbClr val="374151"/>
                    </a:solidFill>
                    <a:latin typeface="Calibri" panose="020F0502020204030204"/>
                    <a:ea typeface="Calibri" panose="020F0502020204030204"/>
                    <a:cs typeface="Calibri" panose="020F0502020204030204"/>
                    <a:sym typeface="Calibri" panose="020F0502020204030204"/>
                  </a:rPr>
                  <a:t> </a:t>
                </a:r>
                <a:endParaRPr lang="en-US" sz="900" b="0" i="0" u="none" strike="noStrike">
                  <a:solidFill>
                    <a:srgbClr val="374151"/>
                  </a:solidFill>
                  <a:latin typeface="Calibri" panose="020F0502020204030204"/>
                  <a:ea typeface="Calibri" panose="020F0502020204030204"/>
                  <a:cs typeface="Calibri" panose="020F0502020204030204"/>
                  <a:sym typeface="Calibri" panose="020F0502020204030204"/>
                </a:endParaRPr>
              </a:p>
              <a:p>
                <a:pPr indent="0" algn="l">
                  <a:lnSpc>
                    <a:spcPct val="100000"/>
                  </a:lnSpc>
                  <a:defRPr/>
                </a:pPr>
                <a:r>
                  <a:rPr lang="en-US" sz="900">
                    <a:solidFill>
                      <a:srgbClr val="374151"/>
                    </a:solidFill>
                    <a:latin typeface="Calibri" panose="020F0502020204030204"/>
                    <a:ea typeface="Calibri" panose="020F0502020204030204"/>
                    <a:cs typeface="Calibri" panose="020F0502020204030204"/>
                  </a:rPr>
                  <a:t>The expected proportion of false positives in the selected results. This is our core constraint and must be strictly controlled below </a:t>
                </a:r>
                <a:r>
                  <a:rPr lang="en-US" sz="900">
                    <a:solidFill>
                      <a:srgbClr val="374151"/>
                    </a:solidFill>
                    <a:latin typeface="Calibri" panose="020F0502020204030204"/>
                    <a:ea typeface="Calibri" panose="020F0502020204030204"/>
                    <a:cs typeface="Calibri" panose="020F0502020204030204"/>
                    <a:sym typeface="Calibri" panose="020F0502020204030204"/>
                  </a:rPr>
                  <a:t>α.</a:t>
                </a:r>
                <a:r>
                  <a:rPr lang="en-US" sz="900">
                    <a:solidFill>
                      <a:srgbClr val="374151"/>
                    </a:solidFill>
                    <a:latin typeface="Calibri" panose="020F0502020204030204"/>
                    <a:ea typeface="Calibri" panose="020F0502020204030204"/>
                    <a:cs typeface="Calibri" panose="020F0502020204030204"/>
                  </a:rPr>
                  <a:t> </a:t>
                </a:r>
                <a:endParaRPr lang="en-US" sz="900">
                  <a:solidFill>
                    <a:srgbClr val="374151"/>
                  </a:solidFill>
                  <a:latin typeface="Calibri" panose="020F0502020204030204"/>
                  <a:ea typeface="Calibri" panose="020F0502020204030204"/>
                  <a:cs typeface="Calibri" panose="020F0502020204030204"/>
                </a:endParaRPr>
              </a:p>
            </p:txBody>
          </p:sp>
        </mc:Choice>
        <mc:Fallback>
          <p:sp>
            <p:nvSpPr>
              <p:cNvPr id="15" name="AutoShape 15"/>
              <p:cNvSpPr>
                <a:spLocks noRot="1" noChangeAspect="1" noMove="1" noResize="1" noEditPoints="1" noAdjustHandles="1" noChangeArrowheads="1" noChangeShapeType="1" noTextEdit="1"/>
              </p:cNvSpPr>
              <p:nvPr/>
            </p:nvSpPr>
            <p:spPr>
              <a:xfrm>
                <a:off x="4711700" y="2498725"/>
                <a:ext cx="3721100" cy="828675"/>
              </a:xfrm>
              <a:prstGeom prst="roundRect">
                <a:avLst>
                  <a:gd name="adj" fmla="val 0"/>
                </a:avLst>
              </a:prstGeom>
              <a:blipFill rotWithShape="1">
                <a:blip r:embed="rId6"/>
                <a:stretch>
                  <a:fillRect/>
                </a:stretch>
              </a:blipFill>
              <a:ln w="25400" cap="flat" cmpd="sng">
                <a:noFill/>
                <a:prstDash val="solid"/>
                <a:round/>
              </a:ln>
            </p:spPr>
            <p:txBody>
              <a:bodyPr/>
              <a:lstStyle/>
              <a:p>
                <a:r>
                  <a:rPr lang="zh-CN" altLang="en-US">
                    <a:noFill/>
                  </a:rPr>
                  <a:t> </a:t>
                </a:r>
              </a:p>
            </p:txBody>
          </p:sp>
        </mc:Fallback>
      </mc:AlternateContent>
      <p:sp>
        <p:nvSpPr>
          <p:cNvPr id="16" name="AutoShape 16"/>
          <p:cNvSpPr/>
          <p:nvPr/>
        </p:nvSpPr>
        <p:spPr>
          <a:xfrm>
            <a:off x="292100" y="3429000"/>
            <a:ext cx="8483600" cy="787400"/>
          </a:xfrm>
          <a:prstGeom prst="roundRect">
            <a:avLst>
              <a:gd name="adj" fmla="val 11290"/>
            </a:avLst>
          </a:prstGeom>
          <a:solidFill>
            <a:srgbClr val="FEF9C3">
              <a:alpha val="100000"/>
            </a:srgbClr>
          </a:solidFill>
          <a:ln w="12700" cap="flat" cmpd="sng">
            <a:solidFill>
              <a:srgbClr val="FDE68A">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482600" y="3505200"/>
            <a:ext cx="8001000" cy="254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92400E"/>
                </a:solidFill>
                <a:latin typeface="Calibri" panose="020F0502020204030204"/>
                <a:ea typeface="Calibri" panose="020F0502020204030204"/>
                <a:cs typeface="Calibri" panose="020F0502020204030204"/>
                <a:sym typeface="Calibri" panose="020F0502020204030204"/>
              </a:rPr>
              <a:t>Difficulty with Traditional Methods</a:t>
            </a:r>
            <a:endParaRPr lang="en-US" sz="1100"/>
          </a:p>
        </p:txBody>
      </p:sp>
      <p:sp>
        <p:nvSpPr>
          <p:cNvPr id="18" name="AutoShape 18"/>
          <p:cNvSpPr/>
          <p:nvPr/>
        </p:nvSpPr>
        <p:spPr>
          <a:xfrm>
            <a:off x="482600" y="3810000"/>
            <a:ext cx="8001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ln/>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a:cs typeface="Times New Roman" panose="02020603050405020304" pitchFamily="18" charset="0"/>
                <a:sym typeface="Calibri" panose="020F0502020204030204"/>
              </a:rPr>
              <a:t>Traditional methods often face a dilemma: increasing power to include more true signals inevitably introduces more false positives, leading to FDR inflation. Conversely, strictly controlling FDR can significantly sacrifice power.</a:t>
            </a:r>
            <a:endParaRPr lang="en-US" sz="1200" b="0" i="0" u="none" strike="noStrike">
              <a:ln/>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9" name="AutoShape 19"/>
          <p:cNvSpPr/>
          <p:nvPr/>
        </p:nvSpPr>
        <p:spPr>
          <a:xfrm>
            <a:off x="292100" y="4318000"/>
            <a:ext cx="8483600" cy="799465"/>
          </a:xfrm>
          <a:prstGeom prst="roundRect">
            <a:avLst>
              <a:gd name="adj" fmla="val 11428"/>
            </a:avLst>
          </a:prstGeom>
          <a:solidFill>
            <a:srgbClr val="DBEAFE">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482600" y="4367530"/>
            <a:ext cx="8001000" cy="254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100" b="1">
                <a:solidFill>
                  <a:srgbClr val="1D4ED8"/>
                </a:solidFill>
                <a:latin typeface="Calibri" panose="020F0502020204030204"/>
                <a:ea typeface="Calibri" panose="020F0502020204030204"/>
                <a:cs typeface="Calibri" panose="020F0502020204030204"/>
                <a:sym typeface="+mn-ea"/>
              </a:rPr>
              <a:t>The Breakthrough: </a:t>
            </a:r>
            <a:endParaRPr lang="en-US" sz="1100" b="1">
              <a:solidFill>
                <a:srgbClr val="1D4ED8"/>
              </a:solidFill>
              <a:latin typeface="Calibri" panose="020F0502020204030204"/>
              <a:ea typeface="Calibri" panose="020F0502020204030204"/>
              <a:cs typeface="Calibri" panose="020F0502020204030204"/>
            </a:endParaRPr>
          </a:p>
        </p:txBody>
      </p:sp>
      <p:sp>
        <p:nvSpPr>
          <p:cNvPr id="21" name="AutoShape 21"/>
          <p:cNvSpPr/>
          <p:nvPr/>
        </p:nvSpPr>
        <p:spPr>
          <a:xfrm>
            <a:off x="482600" y="4582795"/>
            <a:ext cx="8001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altLang="zh-CN" sz="1100"/>
              <a:t>The proposed Generalized Mirror Statistic simultaneously achieves strict FDR control and significantly superior statistical power under federated heterogeneity, solving the traditional dilemma.</a:t>
            </a:r>
            <a:endParaRPr lang="en-US" altLang="zh-CN"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9276" r="9276"/>
          <a:stretch>
            <a:fillRect/>
          </a:stretch>
        </p:blipFill>
        <p:spPr>
          <a:xfrm>
            <a:off x="0" y="0"/>
            <a:ext cx="9144000" cy="1028700"/>
          </a:xfrm>
          <a:prstGeom prst="rect">
            <a:avLst/>
          </a:prstGeom>
          <a:noFill/>
          <a:ln w="25400" cap="flat" cmpd="sng">
            <a:noFill/>
            <a:prstDash val="solid"/>
            <a:round/>
          </a:ln>
        </p:spPr>
      </p:pic>
      <p:sp>
        <p:nvSpPr>
          <p:cNvPr id="3" name="AutoShape 3"/>
          <p:cNvSpPr/>
          <p:nvPr/>
        </p:nvSpPr>
        <p:spPr>
          <a:xfrm>
            <a:off x="558800" y="190500"/>
            <a:ext cx="85852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Preceding Theory: Mirror Statistic</a:t>
            </a:r>
            <a:r>
              <a:rPr lang="en-US" sz="1400" b="0"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(Dai et al., 2023a)</a:t>
            </a:r>
            <a:endParaRPr lang="en-US" sz="1100"/>
          </a:p>
        </p:txBody>
      </p:sp>
      <p:sp>
        <p:nvSpPr>
          <p:cNvPr id="4" name="AutoShape 4"/>
          <p:cNvSpPr/>
          <p:nvPr/>
        </p:nvSpPr>
        <p:spPr>
          <a:xfrm>
            <a:off x="215900" y="1193800"/>
            <a:ext cx="4000500" cy="3619500"/>
          </a:xfrm>
          <a:prstGeom prst="roundRect">
            <a:avLst>
              <a:gd name="adj" fmla="val 2807"/>
            </a:avLst>
          </a:prstGeom>
          <a:solidFill>
            <a:srgbClr val="FFFFFF">
              <a:alpha val="100000"/>
            </a:srgbClr>
          </a:solidFill>
          <a:ln w="12700" cap="flat" cmpd="sng">
            <a:solidFill>
              <a:srgbClr val="E6CFCF">
                <a:alpha val="100000"/>
              </a:srgbClr>
            </a:solidFill>
            <a:prstDash val="solid"/>
            <a:round/>
          </a:ln>
          <a:effectLst>
            <a:outerShdw blurRad="101600" dist="50800" dir="2700000" algn="tl" rotWithShape="0">
              <a:srgbClr val="000000">
                <a:alpha val="5000"/>
              </a:srgbClr>
            </a:outerShdw>
          </a:effectLst>
        </p:spPr>
        <p:txBody>
          <a:bodyPr vert="horz" wrap="square" lIns="63500" tIns="63500" rIns="63500" bIns="63500" rtlCol="0" anchor="ctr"/>
          <a:lstStyle/>
          <a:p>
            <a:pPr algn="ctr">
              <a:defRPr/>
            </a:pPr>
          </a:p>
        </p:txBody>
      </p:sp>
      <p:sp>
        <p:nvSpPr>
          <p:cNvPr id="5" name="AutoShape 5"/>
          <p:cNvSpPr/>
          <p:nvPr/>
        </p:nvSpPr>
        <p:spPr>
          <a:xfrm>
            <a:off x="381000" y="1333500"/>
            <a:ext cx="3695700" cy="1219200"/>
          </a:xfrm>
          <a:prstGeom prst="roundRect">
            <a:avLst>
              <a:gd name="adj" fmla="val 6250"/>
            </a:avLst>
          </a:prstGeom>
          <a:solidFill>
            <a:srgbClr val="CC0000">
              <a:alpha val="6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469900" y="1397000"/>
            <a:ext cx="3505200" cy="292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Two Core Assumptions (Core Properties)</a:t>
            </a:r>
            <a:endParaRPr lang="en-US" sz="1100"/>
          </a:p>
        </p:txBody>
      </p:sp>
      <mc:AlternateContent xmlns:mc="http://schemas.openxmlformats.org/markup-compatibility/2006">
        <mc:Choice xmlns:a14="http://schemas.microsoft.com/office/drawing/2010/main" Requires="a14">
          <p:sp>
            <p:nvSpPr>
              <p:cNvPr id="7" name="AutoShape 7"/>
              <p:cNvSpPr/>
              <p:nvPr/>
            </p:nvSpPr>
            <p:spPr>
              <a:xfrm>
                <a:off x="469900" y="1659890"/>
                <a:ext cx="3492500" cy="89281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Relevance:</a:t>
                </a:r>
                <a:r>
                  <a:rPr lang="en-US" sz="1100" b="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Feature importance is positively correlated with statistic magnitude; </a:t>
                </a:r>
                <a:r>
                  <a:rPr lang="en-US" sz="110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Larger </a:t>
                </a:r>
                <a14:m>
                  <m:oMath xmlns:m="http://schemas.openxmlformats.org/officeDocument/2006/math">
                    <m:sSub>
                      <m:sSubPr>
                        <m:ctrlPr>
                          <a:rPr lang="en-US" sz="1100">
                            <a:solidFill>
                              <a:srgbClr val="1F2329"/>
                            </a:solidFill>
                            <a:latin typeface="Times New Roman" panose="02020603050405020304" pitchFamily="18" charset="0"/>
                            <a:ea typeface="Noto Sans SC" panose="020B0200000000000000" charset="-122"/>
                            <a:cs typeface="Times New Roman" panose="02020603050405020304" pitchFamily="18" charset="0"/>
                          </a:rPr>
                        </m:ctrlPr>
                      </m:sSubPr>
                      <m:e>
                        <m:r>
                          <a:rPr lang="en-US" sz="1100">
                            <a:solidFill>
                              <a:srgbClr val="1F2329"/>
                            </a:solidFill>
                            <a:latin typeface="Times New Roman" panose="02020603050405020304" pitchFamily="18" charset="0"/>
                            <a:ea typeface="Noto Sans SC" panose="020B0200000000000000" charset="-122"/>
                            <a:cs typeface="Times New Roman" panose="02020603050405020304" pitchFamily="18" charset="0"/>
                          </a:rPr>
                          <m:t>𝑻</m:t>
                        </m:r>
                      </m:e>
                      <m:sub>
                        <m:r>
                          <a:rPr lang="en-US" sz="1100">
                            <a:solidFill>
                              <a:srgbClr val="1F2329"/>
                            </a:solidFill>
                            <a:latin typeface="Times New Roman" panose="02020603050405020304" pitchFamily="18" charset="0"/>
                            <a:ea typeface="Noto Sans SC" panose="020B0200000000000000" charset="-122"/>
                            <a:cs typeface="Times New Roman" panose="02020603050405020304" pitchFamily="18" charset="0"/>
                          </a:rPr>
                          <m:t>𝒋</m:t>
                        </m:r>
                      </m:sub>
                    </m:sSub>
                    <m:r>
                      <a:rPr lang="en-US" sz="1100">
                        <a:solidFill>
                          <a:srgbClr val="1F2329"/>
                        </a:solidFill>
                        <a:latin typeface="Times New Roman" panose="02020603050405020304" pitchFamily="18" charset="0"/>
                        <a:ea typeface="Noto Sans SC" panose="020B0200000000000000" charset="-122"/>
                        <a:cs typeface="Times New Roman" panose="02020603050405020304" pitchFamily="18" charset="0"/>
                      </a:rPr>
                      <m:t> </m:t>
                    </m:r>
                  </m:oMath>
                </a14:m>
                <a:r>
                  <a:rPr lang="en-US" sz="1100">
                    <a:solidFill>
                      <a:srgbClr val="1F2329"/>
                    </a:solidFill>
                    <a:latin typeface="Times New Roman" panose="02020603050405020304" pitchFamily="18" charset="0"/>
                    <a:ea typeface="Noto Sans SC" panose="020B0200000000000000" charset="-122"/>
                    <a:cs typeface="Times New Roman" panose="02020603050405020304" pitchFamily="18" charset="0"/>
                    <a:sym typeface="+mn-ea"/>
                  </a:rPr>
                  <a:t>​</a:t>
                </a:r>
                <a:r>
                  <a:rPr lang="en-US" sz="110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implies the feature is more likely a true signal.</a:t>
                </a:r>
                <a:r>
                  <a:rPr lang="en-US" sz="1000" i="0" u="none" strike="noStrike">
                    <a:solidFill>
                      <a:schemeClr val="tx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a:t>
                </a:r>
                <a:endParaRPr lang="en-US" sz="1000" i="0" u="none" strike="noStrike">
                  <a:solidFill>
                    <a:schemeClr val="tx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a:p>
                <a:pPr algn="l">
                  <a:lnSpc>
                    <a:spcPct val="100000"/>
                  </a:lnSpc>
                  <a:buSzTx/>
                </a:pPr>
                <a:r>
                  <a:rPr lang="en-US" altLang="zh-CN" sz="10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Symmetry under Null:</a:t>
                </a:r>
                <a:r>
                  <a:rPr lang="en-US" altLang="zh-CN" sz="10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100" b="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For invalid features, the distribution of </a:t>
                </a:r>
                <a14:m>
                  <m:oMath xmlns:m="http://schemas.openxmlformats.org/officeDocument/2006/math">
                    <m:sSub>
                      <m:sSubPr>
                        <m:ctrlPr>
                          <a:rPr lang="en-US" sz="1100">
                            <a:solidFill>
                              <a:srgbClr val="1F2329"/>
                            </a:solidFill>
                            <a:latin typeface="Times New Roman" panose="02020603050405020304" pitchFamily="18" charset="0"/>
                            <a:ea typeface="Noto Sans SC" panose="020B0200000000000000" charset="-122"/>
                            <a:cs typeface="Times New Roman" panose="02020603050405020304" pitchFamily="18" charset="0"/>
                          </a:rPr>
                        </m:ctrlPr>
                      </m:sSubPr>
                      <m:e>
                        <m:r>
                          <a:rPr lang="en-US" sz="1100">
                            <a:solidFill>
                              <a:srgbClr val="1F2329"/>
                            </a:solidFill>
                            <a:latin typeface="Times New Roman" panose="02020603050405020304" pitchFamily="18" charset="0"/>
                            <a:ea typeface="Noto Sans SC" panose="020B0200000000000000" charset="-122"/>
                            <a:cs typeface="Times New Roman" panose="02020603050405020304" pitchFamily="18" charset="0"/>
                          </a:rPr>
                          <m:t>𝑻</m:t>
                        </m:r>
                      </m:e>
                      <m:sub>
                        <m:r>
                          <a:rPr lang="en-US" sz="1100">
                            <a:solidFill>
                              <a:srgbClr val="1F2329"/>
                            </a:solidFill>
                            <a:latin typeface="Times New Roman" panose="02020603050405020304" pitchFamily="18" charset="0"/>
                            <a:ea typeface="Noto Sans SC" panose="020B0200000000000000" charset="-122"/>
                            <a:cs typeface="Times New Roman" panose="02020603050405020304" pitchFamily="18" charset="0"/>
                          </a:rPr>
                          <m:t>𝒋</m:t>
                        </m:r>
                      </m:sub>
                    </m:sSub>
                  </m:oMath>
                </a14:m>
                <a:r>
                  <a:rPr lang="en-US" sz="1100" b="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is asymptotically symmetric around zero. </a:t>
                </a:r>
                <a:endParaRPr lang="en-US" sz="1100" b="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p:txBody>
          </p:sp>
        </mc:Choice>
        <mc:Fallback>
          <p:sp>
            <p:nvSpPr>
              <p:cNvPr id="7" name="AutoShape 7"/>
              <p:cNvSpPr>
                <a:spLocks noRot="1" noChangeAspect="1" noMove="1" noResize="1" noEditPoints="1" noAdjustHandles="1" noChangeArrowheads="1" noChangeShapeType="1" noTextEdit="1"/>
              </p:cNvSpPr>
              <p:nvPr/>
            </p:nvSpPr>
            <p:spPr>
              <a:xfrm>
                <a:off x="469900" y="1659890"/>
                <a:ext cx="3492500" cy="892810"/>
              </a:xfrm>
              <a:prstGeom prst="roundRect">
                <a:avLst>
                  <a:gd name="adj" fmla="val 0"/>
                </a:avLst>
              </a:prstGeom>
              <a:blipFill rotWithShape="1">
                <a:blip r:embed="rId2"/>
                <a:stretch>
                  <a:fillRect t="-1494"/>
                </a:stretch>
              </a:blipFill>
              <a:ln w="25400" cap="flat" cmpd="sng">
                <a:noFill/>
                <a:prstDash val="solid"/>
                <a:round/>
              </a:ln>
            </p:spPr>
            <p:txBody>
              <a:bodyPr/>
              <a:lstStyle/>
              <a:p>
                <a:r>
                  <a:rPr lang="zh-CN" altLang="en-US">
                    <a:noFill/>
                  </a:rPr>
                  <a:t> </a:t>
                </a:r>
              </a:p>
            </p:txBody>
          </p:sp>
        </mc:Fallback>
      </mc:AlternateContent>
      <p:sp>
        <p:nvSpPr>
          <p:cNvPr id="8" name="AutoShape 8"/>
          <p:cNvSpPr/>
          <p:nvPr/>
        </p:nvSpPr>
        <p:spPr>
          <a:xfrm>
            <a:off x="355600" y="2667000"/>
            <a:ext cx="3721100" cy="2794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General Form </a:t>
            </a:r>
            <a:endParaRPr lang="en-US" sz="1100"/>
          </a:p>
        </p:txBody>
      </p:sp>
      <mc:AlternateContent xmlns:mc="http://schemas.openxmlformats.org/markup-compatibility/2006">
        <mc:Choice xmlns:a14="http://schemas.microsoft.com/office/drawing/2010/main" Requires="a14">
          <p:sp>
            <p:nvSpPr>
              <p:cNvPr id="9" name="AutoShape 9"/>
              <p:cNvSpPr/>
              <p:nvPr/>
            </p:nvSpPr>
            <p:spPr>
              <a:xfrm>
                <a:off x="355600" y="3048000"/>
                <a:ext cx="37211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92000"/>
                  </a:lnSpc>
                </a:pPr>
                <a:r>
                  <a:rPr lang="en-US" sz="10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Where</a:t>
                </a:r>
                <a14:m>
                  <m:oMath xmlns:m="http://schemas.openxmlformats.org/officeDocument/2006/math">
                    <m:r>
                      <a:rPr lang="en-US" sz="1000" dirty="0">
                        <a:latin typeface="Cambria Math" panose="02040503050406030204" pitchFamily="18" charset="0"/>
                        <a:ea typeface="等线" panose="02010600030101010101" charset="-122"/>
                        <a:sym typeface="Noto Sans SC" panose="020B0200000000000000" charset="-122"/>
                      </a:rPr>
                      <m:t>𝑇</m:t>
                    </m:r>
                    <m:r>
                      <a:rPr lang="en-US" sz="1000" dirty="0">
                        <a:latin typeface="Cambria Math" panose="02040503050406030204" pitchFamily="18" charset="0"/>
                        <a:ea typeface="等线" panose="02010600030101010101" charset="-122"/>
                        <a:sym typeface="Noto Sans SC" panose="020B0200000000000000" charset="-122"/>
                      </a:rPr>
                      <m:t>ⱼ</m:t>
                    </m:r>
                    <m:r>
                      <a:rPr lang="en-US" sz="1000" dirty="0">
                        <a:latin typeface="Cambria Math" panose="02040503050406030204" pitchFamily="18" charset="0"/>
                        <a:ea typeface="等线" panose="02010600030101010101" charset="-122"/>
                        <a:sym typeface="Noto Sans SC" panose="020B0200000000000000" charset="-122"/>
                      </a:rPr>
                      <m:t>⁽¹</m:t>
                    </m:r>
                  </m:oMath>
                </a14:m>
                <a:r>
                  <a:rPr lang="en-US" sz="10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&amp; </a:t>
                </a:r>
                <a14:m>
                  <m:oMath xmlns:m="http://schemas.openxmlformats.org/officeDocument/2006/math">
                    <m:r>
                      <a:rPr lang="en-US" sz="1000" dirty="0">
                        <a:latin typeface="Cambria Math" panose="02040503050406030204" pitchFamily="18" charset="0"/>
                        <a:ea typeface="等线" panose="02010600030101010101" charset="-122"/>
                        <a:sym typeface="Noto Sans SC" panose="020B0200000000000000" charset="-122"/>
                      </a:rPr>
                      <m:t>𝑇</m:t>
                    </m:r>
                    <m:r>
                      <a:rPr lang="en-US" sz="1000" dirty="0">
                        <a:latin typeface="Cambria Math" panose="02040503050406030204" pitchFamily="18" charset="0"/>
                        <a:ea typeface="等线" panose="02010600030101010101" charset="-122"/>
                        <a:sym typeface="Noto Sans SC" panose="020B0200000000000000" charset="-122"/>
                      </a:rPr>
                      <m:t>ⱼ</m:t>
                    </m:r>
                    <m:r>
                      <a:rPr lang="en-US" sz="1000" dirty="0">
                        <a:latin typeface="Cambria Math" panose="02040503050406030204" pitchFamily="18" charset="0"/>
                        <a:ea typeface="等线" panose="02010600030101010101" charset="-122"/>
                        <a:sym typeface="Noto Sans SC" panose="020B0200000000000000" charset="-122"/>
                      </a:rPr>
                      <m:t>⁽²⁾</m:t>
                    </m:r>
                  </m:oMath>
                </a14:m>
                <a:r>
                  <a:rPr lang="en-US" sz="10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are independent, standardized estimates. </a:t>
                </a:r>
                <a:endParaRPr lang="en-US" sz="10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mc:Choice>
        <mc:Fallback>
          <p:sp>
            <p:nvSpPr>
              <p:cNvPr id="9" name="AutoShape 9"/>
              <p:cNvSpPr>
                <a:spLocks noRot="1" noChangeAspect="1" noMove="1" noResize="1" noEditPoints="1" noAdjustHandles="1" noChangeArrowheads="1" noChangeShapeType="1" noTextEdit="1"/>
              </p:cNvSpPr>
              <p:nvPr/>
            </p:nvSpPr>
            <p:spPr>
              <a:xfrm>
                <a:off x="355600" y="3048000"/>
                <a:ext cx="3721100" cy="762000"/>
              </a:xfrm>
              <a:prstGeom prst="roundRect">
                <a:avLst>
                  <a:gd name="adj" fmla="val 0"/>
                </a:avLst>
              </a:prstGeom>
              <a:blipFill rotWithShape="1">
                <a:blip r:embed="rId3"/>
                <a:stretch>
                  <a:fillRect/>
                </a:stretch>
              </a:blipFill>
              <a:ln w="25400" cap="flat" cmpd="sng">
                <a:noFill/>
                <a:prstDash val="solid"/>
                <a:round/>
              </a:ln>
            </p:spPr>
            <p:txBody>
              <a:bodyPr/>
              <a:lstStyle/>
              <a:p>
                <a:r>
                  <a:rPr lang="zh-CN" altLang="en-US">
                    <a:noFill/>
                  </a:rPr>
                  <a:t> </a:t>
                </a:r>
              </a:p>
            </p:txBody>
          </p:sp>
        </mc:Fallback>
      </mc:AlternateContent>
      <p:sp>
        <p:nvSpPr>
          <p:cNvPr id="10" name="AutoShape 10"/>
          <p:cNvSpPr/>
          <p:nvPr/>
        </p:nvSpPr>
        <p:spPr>
          <a:xfrm>
            <a:off x="381000" y="3641090"/>
            <a:ext cx="3721100" cy="914400"/>
          </a:xfrm>
          <a:prstGeom prst="roundRect">
            <a:avLst>
              <a:gd name="adj" fmla="val 4166"/>
            </a:avLst>
          </a:prstGeom>
          <a:solidFill>
            <a:srgbClr val="3B82F6">
              <a:alpha val="6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19100" y="3678555"/>
            <a:ext cx="3556000" cy="8255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T</a:t>
            </a:r>
            <a:r>
              <a:rPr lang="en-US" sz="1200" b="0" i="0" u="none" strike="noStrike">
                <a:solidFill>
                  <a:schemeClr val="tx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he Mirror Statistic is a </a:t>
            </a:r>
            <a:r>
              <a:rPr lang="en-US" sz="1200" i="0" u="none" strike="noStrike">
                <a:solidFill>
                  <a:schemeClr val="tx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flexible framework</a:t>
            </a:r>
            <a:r>
              <a:rPr lang="en-US" sz="1200" b="0" i="0" u="none" strike="noStrike">
                <a:solidFill>
                  <a:schemeClr val="tx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not a fixed formula. It works with any model that can produce two independent standardized estimates for each feature.</a:t>
            </a:r>
            <a:endParaRPr lang="en-US" sz="1200">
              <a:solidFill>
                <a:schemeClr val="tx1"/>
              </a:solidFill>
              <a:latin typeface="Times New Roman" panose="02020603050405020304" pitchFamily="18" charset="0"/>
              <a:ea typeface="Noto Sans SC" panose="020B0200000000000000" charset="-122"/>
              <a:cs typeface="Times New Roman" panose="02020603050405020304" pitchFamily="18" charset="0"/>
            </a:endParaRPr>
          </a:p>
        </p:txBody>
      </p:sp>
      <p:sp>
        <p:nvSpPr>
          <p:cNvPr id="12" name="AutoShape 12"/>
          <p:cNvSpPr/>
          <p:nvPr/>
        </p:nvSpPr>
        <p:spPr>
          <a:xfrm>
            <a:off x="4381500" y="863600"/>
            <a:ext cx="4635500" cy="3949700"/>
          </a:xfrm>
          <a:prstGeom prst="roundRect">
            <a:avLst>
              <a:gd name="adj" fmla="val 2572"/>
            </a:avLst>
          </a:prstGeom>
          <a:solidFill>
            <a:srgbClr val="FFFFFF">
              <a:alpha val="100000"/>
            </a:srgbClr>
          </a:solidFill>
          <a:ln w="12700" cap="flat" cmpd="sng">
            <a:solidFill>
              <a:srgbClr val="E6CFCF">
                <a:alpha val="100000"/>
              </a:srgbClr>
            </a:solidFill>
            <a:prstDash val="solid"/>
            <a:round/>
          </a:ln>
          <a:effectLst>
            <a:outerShdw blurRad="101600" dist="50800" dir="2700000" algn="tl" rotWithShape="0">
              <a:srgbClr val="000000">
                <a:alpha val="5000"/>
              </a:srgbClr>
            </a:outerShdw>
          </a:effectLst>
        </p:spPr>
        <p:txBody>
          <a:bodyPr vert="horz" wrap="square" lIns="63500" tIns="63500" rIns="63500" bIns="63500" rtlCol="0" anchor="ctr"/>
          <a:lstStyle/>
          <a:p>
            <a:pPr algn="ctr">
              <a:defRPr/>
            </a:pPr>
          </a:p>
        </p:txBody>
      </p:sp>
      <p:sp>
        <p:nvSpPr>
          <p:cNvPr id="13" name="AutoShape 13"/>
          <p:cNvSpPr/>
          <p:nvPr/>
        </p:nvSpPr>
        <p:spPr>
          <a:xfrm>
            <a:off x="4508500" y="2413635"/>
            <a:ext cx="2122805" cy="920115"/>
          </a:xfrm>
          <a:prstGeom prst="roundRect">
            <a:avLst>
              <a:gd name="adj" fmla="val 4166"/>
            </a:avLst>
          </a:prstGeom>
          <a:solidFill>
            <a:srgbClr val="F97316">
              <a:alpha val="8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597400" y="2413000"/>
            <a:ext cx="2000885" cy="92075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10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Method A: Data Splitting</a:t>
            </a:r>
            <a:endParaRPr lang="en-US" sz="1100"/>
          </a:p>
          <a:p>
            <a:pPr indent="0" algn="l">
              <a:lnSpc>
                <a:spcPct val="100000"/>
              </a:lnSpc>
            </a:pPr>
            <a:r>
              <a:rPr lang="en-US" sz="1100" b="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Randomly split the dataset into two parts and fit the model on each part separately to get independent estimates.</a:t>
            </a:r>
            <a:endParaRPr lang="en-US" sz="1100" b="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p:txBody>
      </p:sp>
      <p:sp>
        <p:nvSpPr>
          <p:cNvPr id="15" name="AutoShape 15"/>
          <p:cNvSpPr/>
          <p:nvPr/>
        </p:nvSpPr>
        <p:spPr>
          <a:xfrm>
            <a:off x="6706870" y="2413000"/>
            <a:ext cx="2222500" cy="867410"/>
          </a:xfrm>
          <a:prstGeom prst="roundRect">
            <a:avLst>
              <a:gd name="adj" fmla="val 4166"/>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756400" y="2465705"/>
            <a:ext cx="2095500" cy="868045"/>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10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Method B: Gaussian Mirroring</a:t>
            </a:r>
            <a:endParaRPr lang="en-US" sz="1100"/>
          </a:p>
          <a:p>
            <a:pPr algn="l">
              <a:lnSpc>
                <a:spcPct val="100000"/>
              </a:lnSpc>
              <a:buSzTx/>
            </a:pPr>
            <a:r>
              <a:rPr lang="en-US" sz="1100" b="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Inject Gaussian noise into features to create a "mirror" pair without splitting data, ideal for small sample sizes.</a:t>
            </a:r>
            <a:endParaRPr lang="en-US" sz="1100" b="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p:txBody>
      </p:sp>
      <p:sp>
        <p:nvSpPr>
          <p:cNvPr id="17" name="AutoShape 17"/>
          <p:cNvSpPr/>
          <p:nvPr/>
        </p:nvSpPr>
        <p:spPr>
          <a:xfrm>
            <a:off x="4508500" y="3436620"/>
            <a:ext cx="4445000" cy="1198880"/>
          </a:xfrm>
          <a:prstGeom prst="roundRect">
            <a:avLst>
              <a:gd name="adj" fmla="val 3703"/>
            </a:avLst>
          </a:prstGeom>
          <a:solidFill>
            <a:srgbClr val="6B7280">
              <a:alpha val="8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4597400" y="3481705"/>
            <a:ext cx="4254500" cy="1128395"/>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b="1" i="0" u="none" strike="noStrike">
                <a:solidFill>
                  <a:schemeClr val="tx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Key Limitations</a:t>
            </a:r>
            <a:endParaRPr lang="en-US" sz="1200">
              <a:solidFill>
                <a:schemeClr val="tx1"/>
              </a:solidFill>
              <a:latin typeface="Times New Roman" panose="02020603050405020304" pitchFamily="18" charset="0"/>
              <a:cs typeface="Times New Roman" panose="02020603050405020304" pitchFamily="18" charset="0"/>
            </a:endParaRPr>
          </a:p>
          <a:p>
            <a:pPr indent="0" algn="l">
              <a:lnSpc>
                <a:spcPct val="100000"/>
              </a:lnSpc>
            </a:pPr>
            <a:r>
              <a:rPr lang="en-US" sz="1200" b="0" i="0" u="none" strike="noStrike">
                <a:solidFill>
                  <a:schemeClr val="tx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1.</a:t>
            </a:r>
            <a:r>
              <a:rPr lang="en-US" sz="1200" b="1" i="0" u="none" strike="noStrike">
                <a:solidFill>
                  <a:schemeClr val="tx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Single-Center Only:</a:t>
            </a:r>
            <a:r>
              <a:rPr lang="en-US" sz="1200" b="0" i="0" u="none" strike="noStrike">
                <a:solidFill>
                  <a:schemeClr val="tx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All methods require centralized raw data, making them incompatible with privacy-isolated federated learning.</a:t>
            </a:r>
            <a:endParaRPr lang="en-US" sz="1200" b="0" i="0" u="none" strike="noStrike">
              <a:solidFill>
                <a:schemeClr val="tx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a:p>
            <a:pPr indent="0" algn="l">
              <a:lnSpc>
                <a:spcPct val="100000"/>
              </a:lnSpc>
            </a:pPr>
            <a:r>
              <a:rPr lang="en-US" sz="1200" b="0" i="0" u="none" strike="noStrike">
                <a:solidFill>
                  <a:schemeClr val="tx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2.</a:t>
            </a:r>
            <a:r>
              <a:rPr lang="en-US" sz="1200" b="1" i="0" u="none" strike="noStrike">
                <a:solidFill>
                  <a:schemeClr val="tx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Homogeneity Assumption:</a:t>
            </a:r>
            <a:r>
              <a:rPr lang="en-US" sz="1200" b="0" i="0" u="none" strike="noStrike">
                <a:solidFill>
                  <a:schemeClr val="tx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Assumes identical model parameters across all samples, failing to handle cross-site heterogeneity.</a:t>
            </a:r>
            <a:endParaRPr lang="en-US" sz="1200" b="0" i="0" u="none" strike="noStrike">
              <a:solidFill>
                <a:schemeClr val="tx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p:txBody>
      </p:sp>
      <p:sp>
        <p:nvSpPr>
          <p:cNvPr id="19" name="AutoShape 17"/>
          <p:cNvSpPr/>
          <p:nvPr/>
        </p:nvSpPr>
        <p:spPr>
          <a:xfrm>
            <a:off x="4447561" y="926818"/>
            <a:ext cx="4048125" cy="238125"/>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1050" b="1" dirty="0">
                <a:solidFill>
                  <a:srgbClr val="333333"/>
                </a:solidFill>
                <a:latin typeface="Noto Sans SC" panose="020B0200000000000000" charset="-122"/>
                <a:ea typeface="Noto Sans SC" panose="020B0200000000000000" charset="-122"/>
              </a:rPr>
              <a:t>Base Model Selection for Different Dimensions:</a:t>
            </a:r>
            <a:endParaRPr lang="en-US" sz="1050" b="1" dirty="0">
              <a:solidFill>
                <a:srgbClr val="333333"/>
              </a:solidFill>
              <a:latin typeface="Noto Sans SC" panose="020B0200000000000000" charset="-122"/>
              <a:ea typeface="Noto Sans SC" panose="020B0200000000000000" charset="-122"/>
            </a:endParaRPr>
          </a:p>
        </p:txBody>
      </p:sp>
      <p:graphicFrame>
        <p:nvGraphicFramePr>
          <p:cNvPr id="20" name="Table 18"/>
          <p:cNvGraphicFramePr>
            <a:graphicFrameLocks noGrp="1"/>
          </p:cNvGraphicFramePr>
          <p:nvPr/>
        </p:nvGraphicFramePr>
        <p:xfrm>
          <a:off x="4447561" y="1223010"/>
          <a:ext cx="4470363" cy="995680"/>
        </p:xfrm>
        <a:graphic>
          <a:graphicData uri="http://schemas.openxmlformats.org/drawingml/2006/table">
            <a:tbl>
              <a:tblPr>
                <a:effectLst/>
              </a:tblPr>
              <a:tblGrid>
                <a:gridCol w="1262220"/>
                <a:gridCol w="1303020"/>
                <a:gridCol w="1905123"/>
              </a:tblGrid>
              <a:tr h="285750">
                <a:tc>
                  <a:txBody>
                    <a:bodyPr/>
                    <a:lstStyle/>
                    <a:p>
                      <a:pPr indent="0" algn="ctr">
                        <a:lnSpc>
                          <a:spcPct val="100000"/>
                        </a:lnSpc>
                        <a:defRPr/>
                      </a:pPr>
                      <a:r>
                        <a:rPr lang="en-US" altLang="zh-CN" sz="800" b="1" dirty="0"/>
                        <a:t>Application Scenarios</a:t>
                      </a:r>
                      <a:endParaRPr lang="en-US" sz="800" b="1" dirty="0"/>
                    </a:p>
                  </a:txBody>
                  <a:tcPr marL="76200" marR="76200" marT="76200" marB="76200" anchor="ctr">
                    <a:lnL>
                      <a:noFill/>
                    </a:lnL>
                    <a:lnR>
                      <a:noFill/>
                    </a:lnR>
                    <a:lnT>
                      <a:noFill/>
                    </a:lnT>
                    <a:lnB>
                      <a:noFill/>
                    </a:lnB>
                    <a:solidFill>
                      <a:srgbClr val="F3F4F6">
                        <a:alpha val="100000"/>
                      </a:srgbClr>
                    </a:solidFill>
                  </a:tcPr>
                </a:tc>
                <a:tc>
                  <a:txBody>
                    <a:bodyPr/>
                    <a:lstStyle/>
                    <a:p>
                      <a:pPr indent="0" algn="ctr">
                        <a:lnSpc>
                          <a:spcPct val="100000"/>
                        </a:lnSpc>
                        <a:defRPr/>
                      </a:pPr>
                      <a:r>
                        <a:rPr lang="en-US" altLang="zh-CN" sz="800" b="1" dirty="0"/>
                        <a:t>Dimensional Features</a:t>
                      </a:r>
                      <a:endParaRPr lang="en-US" sz="800" b="1" dirty="0"/>
                    </a:p>
                  </a:txBody>
                  <a:tcPr marL="76200" marR="76200" marT="76200" marB="76200" anchor="ctr">
                    <a:lnL>
                      <a:noFill/>
                    </a:lnL>
                    <a:lnR>
                      <a:noFill/>
                    </a:lnR>
                    <a:lnT>
                      <a:noFill/>
                    </a:lnT>
                    <a:lnB>
                      <a:noFill/>
                    </a:lnB>
                    <a:solidFill>
                      <a:srgbClr val="F3F4F6">
                        <a:alpha val="100000"/>
                      </a:srgbClr>
                    </a:solidFill>
                  </a:tcPr>
                </a:tc>
                <a:tc>
                  <a:txBody>
                    <a:bodyPr/>
                    <a:lstStyle/>
                    <a:p>
                      <a:pPr indent="0" algn="ctr">
                        <a:lnSpc>
                          <a:spcPct val="100000"/>
                        </a:lnSpc>
                        <a:defRPr/>
                      </a:pPr>
                      <a:r>
                        <a:rPr lang="en-US" altLang="zh-CN" sz="800" b="1" dirty="0"/>
                        <a:t>Recommended Base Model </a:t>
                      </a:r>
                      <a:endParaRPr lang="en-US" sz="800" b="1" dirty="0"/>
                    </a:p>
                  </a:txBody>
                  <a:tcPr marL="76200" marR="76200" marT="76200" marB="76200" anchor="ctr">
                    <a:lnL>
                      <a:noFill/>
                    </a:lnL>
                    <a:lnR>
                      <a:noFill/>
                    </a:lnR>
                    <a:lnT>
                      <a:noFill/>
                    </a:lnT>
                    <a:lnB>
                      <a:noFill/>
                    </a:lnB>
                    <a:solidFill>
                      <a:srgbClr val="F3F4F6">
                        <a:alpha val="100000"/>
                      </a:srgbClr>
                    </a:solidFill>
                  </a:tcPr>
                </a:tc>
              </a:tr>
              <a:tr h="306070">
                <a:tc>
                  <a:txBody>
                    <a:bodyPr/>
                    <a:lstStyle/>
                    <a:p>
                      <a:pPr indent="0" algn="ctr">
                        <a:lnSpc>
                          <a:spcPct val="100000"/>
                        </a:lnSpc>
                        <a:defRPr/>
                      </a:pPr>
                      <a:r>
                        <a:rPr lang="en-US" altLang="zh-CN" sz="800"/>
                        <a:t>Medium Dimension</a:t>
                      </a:r>
                      <a:endParaRPr lang="en-US" altLang="zh-CN" sz="800"/>
                    </a:p>
                  </a:txBody>
                  <a:tcPr marL="76200" marR="76200" marT="76200" marB="76200" anchor="ctr">
                    <a:lnL>
                      <a:noFill/>
                    </a:lnL>
                    <a:lnR>
                      <a:noFill/>
                    </a:lnR>
                    <a:lnT>
                      <a:noFill/>
                    </a:lnT>
                    <a:lnB>
                      <a:noFill/>
                    </a:lnB>
                    <a:noFill/>
                  </a:tcPr>
                </a:tc>
                <a:tc>
                  <a:txBody>
                    <a:bodyPr/>
                    <a:lstStyle/>
                    <a:p>
                      <a:pPr indent="0" algn="ctr">
                        <a:lnSpc>
                          <a:spcPct val="100000"/>
                        </a:lnSpc>
                        <a:defRPr/>
                      </a:pPr>
                      <a:r>
                        <a:rPr lang="en-US" sz="8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p/n → κ ∈ (0,1)</a:t>
                      </a:r>
                      <a:endParaRPr lang="en-US" sz="800"/>
                    </a:p>
                  </a:txBody>
                  <a:tcPr marL="76200" marR="76200" marT="76200" marB="76200" anchor="ctr">
                    <a:lnL>
                      <a:noFill/>
                    </a:lnL>
                    <a:lnR>
                      <a:noFill/>
                    </a:lnR>
                    <a:lnT>
                      <a:noFill/>
                    </a:lnT>
                    <a:lnB>
                      <a:noFill/>
                    </a:lnB>
                    <a:noFill/>
                  </a:tcPr>
                </a:tc>
                <a:tc>
                  <a:txBody>
                    <a:bodyPr/>
                    <a:lstStyle/>
                    <a:p>
                      <a:pPr indent="0" algn="ctr">
                        <a:lnSpc>
                          <a:spcPct val="100000"/>
                        </a:lnSpc>
                        <a:defRPr/>
                      </a:pPr>
                      <a:r>
                        <a:rPr lang="en-US" altLang="zh-CN" sz="800" dirty="0"/>
                        <a:t>Maximum Likelihood Estimation (MLE)</a:t>
                      </a:r>
                      <a:endParaRPr lang="en-US" altLang="zh-CN" sz="800" dirty="0"/>
                    </a:p>
                  </a:txBody>
                  <a:tcPr marL="76200" marR="76200" marT="76200" marB="76200" anchor="ctr">
                    <a:lnL>
                      <a:noFill/>
                    </a:lnL>
                    <a:lnR>
                      <a:noFill/>
                    </a:lnR>
                    <a:lnT>
                      <a:noFill/>
                    </a:lnT>
                    <a:lnB>
                      <a:noFill/>
                    </a:lnB>
                    <a:noFill/>
                  </a:tcPr>
                </a:tc>
              </a:tr>
              <a:tr h="403860">
                <a:tc>
                  <a:txBody>
                    <a:bodyPr/>
                    <a:lstStyle/>
                    <a:p>
                      <a:pPr indent="0" algn="ctr">
                        <a:lnSpc>
                          <a:spcPct val="100000"/>
                        </a:lnSpc>
                        <a:defRPr/>
                      </a:pPr>
                      <a:r>
                        <a:rPr lang="en-US" altLang="zh-CN" sz="800"/>
                        <a:t>Ultra-high Dimension</a:t>
                      </a:r>
                      <a:endParaRPr lang="en-US" altLang="zh-CN" sz="800"/>
                    </a:p>
                  </a:txBody>
                  <a:tcPr marL="76200" marR="76200" marT="76200" marB="76200" anchor="ctr">
                    <a:lnL>
                      <a:noFill/>
                    </a:lnL>
                    <a:lnR>
                      <a:noFill/>
                    </a:lnR>
                    <a:lnT>
                      <a:noFill/>
                    </a:lnT>
                    <a:lnB>
                      <a:noFill/>
                    </a:lnB>
                    <a:noFill/>
                  </a:tcPr>
                </a:tc>
                <a:tc>
                  <a:txBody>
                    <a:bodyPr/>
                    <a:lstStyle/>
                    <a:p>
                      <a:pPr indent="0" algn="ctr">
                        <a:lnSpc>
                          <a:spcPct val="100000"/>
                        </a:lnSpc>
                        <a:defRPr/>
                      </a:pPr>
                      <a:r>
                        <a:rPr lang="en-US" sz="8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p ≫ n</a:t>
                      </a:r>
                      <a:endParaRPr lang="en-US" sz="800" dirty="0"/>
                    </a:p>
                  </a:txBody>
                  <a:tcPr marL="76200" marR="76200" marT="76200" marB="76200" anchor="ctr">
                    <a:lnL>
                      <a:noFill/>
                    </a:lnL>
                    <a:lnR>
                      <a:noFill/>
                    </a:lnR>
                    <a:lnT>
                      <a:noFill/>
                    </a:lnT>
                    <a:lnB>
                      <a:noFill/>
                    </a:lnB>
                    <a:noFill/>
                  </a:tcPr>
                </a:tc>
                <a:tc>
                  <a:txBody>
                    <a:bodyPr/>
                    <a:lstStyle/>
                    <a:p>
                      <a:pPr indent="0" algn="ctr">
                        <a:lnSpc>
                          <a:spcPct val="100000"/>
                        </a:lnSpc>
                        <a:defRPr/>
                      </a:pPr>
                      <a:r>
                        <a:rPr lang="en-US" altLang="zh-CN" sz="8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Debiased Lasso</a:t>
                      </a:r>
                      <a:r>
                        <a:rPr lang="en-US" sz="8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800" dirty="0"/>
                    </a:p>
                  </a:txBody>
                  <a:tcPr marL="76200" marR="76200" marT="76200" marB="76200" anchor="ctr">
                    <a:lnL>
                      <a:noFill/>
                    </a:lnL>
                    <a:lnR>
                      <a:noFill/>
                    </a:lnR>
                    <a:lnT>
                      <a:noFill/>
                    </a:lnT>
                    <a:lnB>
                      <a:noFill/>
                    </a:lnB>
                    <a:noFill/>
                  </a:tcPr>
                </a:tc>
              </a:tr>
            </a:tbl>
          </a:graphicData>
        </a:graphic>
      </p:graphicFrame>
      <p:sp>
        <p:nvSpPr>
          <p:cNvPr id="21" name="文本框 20"/>
          <p:cNvSpPr txBox="1"/>
          <p:nvPr/>
        </p:nvSpPr>
        <p:spPr>
          <a:xfrm>
            <a:off x="4447540" y="2086610"/>
            <a:ext cx="3114675" cy="330200"/>
          </a:xfrm>
          <a:prstGeom prst="rect">
            <a:avLst/>
          </a:prstGeom>
        </p:spPr>
        <p:txBody>
          <a:bodyPr>
            <a:noAutofit/>
          </a:bodyPr>
          <a:lstStyle/>
          <a:p>
            <a:r>
              <a:rPr lang="en-US" altLang="zh-CN" sz="1000" b="1"/>
              <a:t>How to generate two independent estimators:</a:t>
            </a:r>
            <a:endParaRPr lang="en-US" altLang="zh-CN" sz="1000" b="1"/>
          </a:p>
        </p:txBody>
      </p:sp>
      <p:pic>
        <p:nvPicPr>
          <p:cNvPr id="36" name="图片 35"/>
          <p:cNvPicPr>
            <a:picLocks noChangeAspect="1"/>
          </p:cNvPicPr>
          <p:nvPr/>
        </p:nvPicPr>
        <p:blipFill>
          <a:blip r:embed="rId4"/>
          <a:stretch>
            <a:fillRect/>
          </a:stretch>
        </p:blipFill>
        <p:spPr>
          <a:xfrm>
            <a:off x="851407" y="2913380"/>
            <a:ext cx="2728585" cy="29820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9276" r="9276"/>
          <a:stretch>
            <a:fillRect/>
          </a:stretch>
        </p:blipFill>
        <p:spPr>
          <a:xfrm>
            <a:off x="0" y="0"/>
            <a:ext cx="9144000" cy="1028700"/>
          </a:xfrm>
          <a:prstGeom prst="rect">
            <a:avLst/>
          </a:prstGeom>
          <a:noFill/>
          <a:ln w="25400" cap="flat" cmpd="sng">
            <a:noFill/>
            <a:prstDash val="solid"/>
            <a:round/>
          </a:ln>
        </p:spPr>
      </p:pic>
      <p:sp>
        <p:nvSpPr>
          <p:cNvPr id="3" name="AutoShape 3"/>
          <p:cNvSpPr/>
          <p:nvPr/>
        </p:nvSpPr>
        <p:spPr>
          <a:xfrm>
            <a:off x="0" y="711200"/>
            <a:ext cx="9144000" cy="2921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p>
        </p:txBody>
      </p:sp>
      <p:sp>
        <p:nvSpPr>
          <p:cNvPr id="4" name="AutoShape 4"/>
          <p:cNvSpPr/>
          <p:nvPr>
            <p:custDataLst>
              <p:tags r:id="rId2"/>
            </p:custDataLst>
          </p:nvPr>
        </p:nvSpPr>
        <p:spPr>
          <a:xfrm>
            <a:off x="292100" y="1054100"/>
            <a:ext cx="3949700" cy="1663700"/>
          </a:xfrm>
          <a:prstGeom prst="roundRect">
            <a:avLst>
              <a:gd name="adj" fmla="val 5343"/>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431800" y="1143000"/>
            <a:ext cx="3721100" cy="292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Problem 1: </a:t>
            </a:r>
            <a:r>
              <a:rPr lang="en-US" sz="1100" b="1">
                <a:solidFill>
                  <a:srgbClr val="B91C1C"/>
                </a:solidFill>
                <a:latin typeface="Noto Sans SC" panose="020B0200000000000000" charset="-122"/>
                <a:ea typeface="Noto Sans SC" panose="020B0200000000000000" charset="-122"/>
                <a:cs typeface="Noto Sans SC" panose="020B0200000000000000" charset="-122"/>
              </a:rPr>
              <a:t>Lasso Estimation is Biased in High Dimensions</a:t>
            </a:r>
            <a:endParaRPr lang="en-US" sz="1100" b="1">
              <a:solidFill>
                <a:srgbClr val="B91C1C"/>
              </a:solidFill>
              <a:latin typeface="Noto Sans SC" panose="020B0200000000000000" charset="-122"/>
              <a:ea typeface="Noto Sans SC" panose="020B0200000000000000" charset="-122"/>
              <a:cs typeface="Noto Sans SC" panose="020B0200000000000000" charset="-122"/>
            </a:endParaRPr>
          </a:p>
        </p:txBody>
      </p:sp>
      <p:sp>
        <p:nvSpPr>
          <p:cNvPr id="6" name="AutoShape 6"/>
          <p:cNvSpPr/>
          <p:nvPr>
            <p:custDataLst>
              <p:tags r:id="rId4"/>
            </p:custDataLst>
          </p:nvPr>
        </p:nvSpPr>
        <p:spPr>
          <a:xfrm>
            <a:off x="431800" y="1524000"/>
            <a:ext cx="3721100" cy="10922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9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In high-dimensional data (p≫n), we use L1-regularized Lasso for feature selection. However, it introduces non-negligible estimation bias, causing the coefficient estimates to no longer follow an asymptotic normal distribution.</a:t>
            </a:r>
            <a:endParaRPr lang="en-US" sz="1100"/>
          </a:p>
          <a:p>
            <a:pPr indent="0" algn="l">
              <a:lnSpc>
                <a:spcPct val="125000"/>
              </a:lnSpc>
            </a:pPr>
            <a:r>
              <a:rPr lang="en-US" sz="9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Since </a:t>
            </a:r>
            <a:r>
              <a:rPr lang="en-US" sz="9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zero symmetry </a:t>
            </a:r>
            <a:r>
              <a:rPr lang="en-US" sz="9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is the cornerstone of the mirror statistic, once normality is violated, zero symmetry no longer holds, and FDR control fails.</a:t>
            </a:r>
            <a:endParaRPr lang="en-US" sz="9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7" name="AutoShape 7"/>
          <p:cNvSpPr/>
          <p:nvPr>
            <p:custDataLst>
              <p:tags r:id="rId5"/>
            </p:custDataLst>
          </p:nvPr>
        </p:nvSpPr>
        <p:spPr>
          <a:xfrm>
            <a:off x="4483100" y="1054100"/>
            <a:ext cx="4013200" cy="1663700"/>
          </a:xfrm>
          <a:prstGeom prst="roundRect">
            <a:avLst>
              <a:gd name="adj" fmla="val 5343"/>
            </a:avLst>
          </a:prstGeom>
          <a:solidFill>
            <a:srgbClr val="F0FDF4">
              <a:alpha val="100000"/>
            </a:srgbClr>
          </a:solidFill>
          <a:ln w="12700" cap="flat" cmpd="sng">
            <a:solidFill>
              <a:srgbClr val="C1E4CC">
                <a:alpha val="100000"/>
              </a:srgbClr>
            </a:solidFill>
            <a:prstDash val="solid"/>
            <a:round/>
          </a:ln>
        </p:spPr>
        <p:txBody>
          <a:bodyPr vert="horz" wrap="square" lIns="63500" tIns="63500" rIns="63500" bIns="63500" rtlCol="0" anchor="ctr"/>
          <a:lstStyle/>
          <a:p>
            <a:pPr algn="ctr">
              <a:defRPr/>
            </a:pPr>
          </a:p>
        </p:txBody>
      </p:sp>
      <p:sp>
        <p:nvSpPr>
          <p:cNvPr id="8" name="AutoShape 8"/>
          <p:cNvSpPr/>
          <p:nvPr>
            <p:custDataLst>
              <p:tags r:id="rId6"/>
            </p:custDataLst>
          </p:nvPr>
        </p:nvSpPr>
        <p:spPr>
          <a:xfrm>
            <a:off x="4622800" y="1143000"/>
            <a:ext cx="3721100" cy="292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Solution and Application in This Paper</a:t>
            </a:r>
            <a:endParaRPr lang="en-US" sz="1100"/>
          </a:p>
        </p:txBody>
      </p:sp>
      <p:sp>
        <p:nvSpPr>
          <p:cNvPr id="9" name="AutoShape 9"/>
          <p:cNvSpPr/>
          <p:nvPr>
            <p:custDataLst>
              <p:tags r:id="rId7"/>
            </p:custDataLst>
          </p:nvPr>
        </p:nvSpPr>
        <p:spPr>
          <a:xfrm>
            <a:off x="4622800" y="1524000"/>
            <a:ext cx="3721100" cy="10922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9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Solution:</a:t>
            </a:r>
            <a:r>
              <a:rPr lang="en-US" sz="9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Introduce the </a:t>
            </a:r>
            <a:r>
              <a:rPr lang="en-US" sz="9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desparsified Lasso (Dai et al., 2023)</a:t>
            </a:r>
            <a:r>
              <a:rPr lang="en-US" sz="9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for debiasing to restore the asymptotic normality and zero symmetry.</a:t>
            </a:r>
            <a:endParaRPr lang="en-US" sz="1100"/>
          </a:p>
          <a:p>
            <a:pPr indent="0" algn="l">
              <a:lnSpc>
                <a:spcPct val="125000"/>
              </a:lnSpc>
            </a:pPr>
            <a:r>
              <a:rPr lang="en-US" sz="9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Extension: </a:t>
            </a:r>
            <a:r>
              <a:rPr lang="en-US" sz="9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Combine it with an original </a:t>
            </a:r>
            <a:r>
              <a:rPr lang="en-US" sz="9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cross-site feature exchange mechanism </a:t>
            </a:r>
            <a:r>
              <a:rPr lang="en-US" sz="9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to achieve unbiased estimation in federated high-dimensional scenarios.</a:t>
            </a:r>
            <a:endParaRPr lang="en-US" sz="9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10" name="AutoShape 10"/>
          <p:cNvSpPr/>
          <p:nvPr>
            <p:custDataLst>
              <p:tags r:id="rId8"/>
            </p:custDataLst>
          </p:nvPr>
        </p:nvSpPr>
        <p:spPr>
          <a:xfrm>
            <a:off x="292100" y="2857500"/>
            <a:ext cx="3949700" cy="1435100"/>
          </a:xfrm>
          <a:prstGeom prst="roundRect">
            <a:avLst>
              <a:gd name="adj" fmla="val 6194"/>
            </a:avLst>
          </a:prstGeom>
          <a:solidFill>
            <a:srgbClr val="FFFBEB">
              <a:alpha val="100000"/>
            </a:srgbClr>
          </a:solidFill>
          <a:ln w="12700" cap="flat" cmpd="sng">
            <a:solidFill>
              <a:srgbClr val="E6DDBD">
                <a:alpha val="100000"/>
              </a:srgbClr>
            </a:solidFill>
            <a:prstDash val="solid"/>
            <a:round/>
          </a:ln>
        </p:spPr>
        <p:txBody>
          <a:bodyPr vert="horz" wrap="square" lIns="63500" tIns="63500" rIns="63500" bIns="63500" rtlCol="0" anchor="ctr"/>
          <a:lstStyle/>
          <a:p>
            <a:pPr algn="ctr">
              <a:defRPr/>
            </a:pPr>
          </a:p>
        </p:txBody>
      </p:sp>
      <p:sp>
        <p:nvSpPr>
          <p:cNvPr id="11" name="AutoShape 11"/>
          <p:cNvSpPr/>
          <p:nvPr>
            <p:custDataLst>
              <p:tags r:id="rId9"/>
            </p:custDataLst>
          </p:nvPr>
        </p:nvSpPr>
        <p:spPr>
          <a:xfrm>
            <a:off x="431800" y="2959100"/>
            <a:ext cx="3938905" cy="292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B45309"/>
                </a:solidFill>
                <a:latin typeface="Noto Sans SC" panose="020B0200000000000000" charset="-122"/>
                <a:ea typeface="Noto Sans SC" panose="020B0200000000000000" charset="-122"/>
                <a:cs typeface="Noto Sans SC" panose="020B0200000000000000" charset="-122"/>
                <a:sym typeface="Noto Sans SC" panose="020B0200000000000000" charset="-122"/>
              </a:rPr>
              <a:t>Problem 2: </a:t>
            </a:r>
            <a:r>
              <a:rPr lang="en-US" sz="1100" b="1">
                <a:solidFill>
                  <a:srgbClr val="B45309"/>
                </a:solidFill>
                <a:latin typeface="Noto Sans SC" panose="020B0200000000000000" charset="-122"/>
                <a:ea typeface="Noto Sans SC" panose="020B0200000000000000" charset="-122"/>
                <a:cs typeface="Noto Sans SC" panose="020B0200000000000000" charset="-122"/>
              </a:rPr>
              <a:t>Original Mirror Statistic Cannot Handle Federated Heterogeneity</a:t>
            </a:r>
            <a:endParaRPr lang="en-US" altLang="zh-CN" sz="1100"/>
          </a:p>
        </p:txBody>
      </p:sp>
      <p:sp>
        <p:nvSpPr>
          <p:cNvPr id="12" name="AutoShape 12"/>
          <p:cNvSpPr/>
          <p:nvPr>
            <p:custDataLst>
              <p:tags r:id="rId10"/>
            </p:custDataLst>
          </p:nvPr>
        </p:nvSpPr>
        <p:spPr>
          <a:xfrm>
            <a:off x="431800" y="3289300"/>
            <a:ext cx="3721100" cy="9017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9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Data isolation in federated learning makes single-center splitting impossible. Worse,</a:t>
            </a:r>
            <a:r>
              <a:rPr lang="en-US" sz="9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model shifts</a:t>
            </a:r>
            <a:r>
              <a:rPr lang="en-US" sz="9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(varying signal strength of features across sites) are prevalent.</a:t>
            </a:r>
            <a:endParaRPr lang="en-US" sz="1100"/>
          </a:p>
          <a:p>
            <a:pPr indent="0" algn="l">
              <a:lnSpc>
                <a:spcPct val="125000"/>
              </a:lnSpc>
            </a:pPr>
            <a:r>
              <a:rPr lang="en-US" sz="9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The strong homogeneity assumption of the original mirror statistic is invalid and cannot handle this heterogeneous structure.</a:t>
            </a:r>
            <a:endParaRPr lang="en-US" sz="9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13" name="AutoShape 13"/>
          <p:cNvSpPr/>
          <p:nvPr>
            <p:custDataLst>
              <p:tags r:id="rId11"/>
            </p:custDataLst>
          </p:nvPr>
        </p:nvSpPr>
        <p:spPr>
          <a:xfrm>
            <a:off x="4483100" y="2857500"/>
            <a:ext cx="4013200" cy="1435100"/>
          </a:xfrm>
          <a:prstGeom prst="roundRect">
            <a:avLst>
              <a:gd name="adj" fmla="val 6194"/>
            </a:avLst>
          </a:prstGeom>
          <a:solidFill>
            <a:srgbClr val="EFF6FF">
              <a:alpha val="100000"/>
            </a:srgbClr>
          </a:solidFill>
          <a:ln w="12700" cap="flat" cmpd="sng">
            <a:solidFill>
              <a:srgbClr val="C0D0E6">
                <a:alpha val="100000"/>
              </a:srgbClr>
            </a:solidFill>
            <a:prstDash val="solid"/>
            <a:round/>
          </a:ln>
        </p:spPr>
        <p:txBody>
          <a:bodyPr vert="horz" wrap="square" lIns="63500" tIns="63500" rIns="63500" bIns="63500" rtlCol="0" anchor="ctr"/>
          <a:lstStyle/>
          <a:p>
            <a:pPr algn="ctr">
              <a:defRPr/>
            </a:pPr>
          </a:p>
        </p:txBody>
      </p:sp>
      <p:sp>
        <p:nvSpPr>
          <p:cNvPr id="14" name="AutoShape 14"/>
          <p:cNvSpPr/>
          <p:nvPr>
            <p:custDataLst>
              <p:tags r:id="rId12"/>
            </p:custDataLst>
          </p:nvPr>
        </p:nvSpPr>
        <p:spPr>
          <a:xfrm>
            <a:off x="4622800" y="2959100"/>
            <a:ext cx="3873500" cy="292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1D4ED8"/>
                </a:solidFill>
                <a:latin typeface="Noto Sans SC" panose="020B0200000000000000" charset="-122"/>
                <a:ea typeface="Noto Sans SC" panose="020B0200000000000000" charset="-122"/>
                <a:cs typeface="Noto Sans SC" panose="020B0200000000000000" charset="-122"/>
                <a:sym typeface="Noto Sans SC" panose="020B0200000000000000" charset="-122"/>
              </a:rPr>
              <a:t>This Study's Improvement: Generalized Mirror Statistic</a:t>
            </a:r>
            <a:endParaRPr lang="en-US" sz="1100"/>
          </a:p>
        </p:txBody>
      </p:sp>
      <p:sp>
        <p:nvSpPr>
          <p:cNvPr id="15" name="AutoShape 15"/>
          <p:cNvSpPr/>
          <p:nvPr>
            <p:custDataLst>
              <p:tags r:id="rId13"/>
            </p:custDataLst>
          </p:nvPr>
        </p:nvSpPr>
        <p:spPr>
          <a:xfrm>
            <a:off x="4622800" y="3289300"/>
            <a:ext cx="3721100" cy="9017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9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We propose a Generalized Mirror Statistic that adapts to federated heterogeneous environments. </a:t>
            </a:r>
            <a:r>
              <a:rPr lang="en-US" sz="900">
                <a:latin typeface="等线" panose="02010600030101010101" charset="-122"/>
                <a:ea typeface="等线" panose="02010600030101010101" charset="-122"/>
                <a:cs typeface="等线" panose="02010600030101010101" charset="-122"/>
              </a:rPr>
              <a:t>Uses the product sign of estimates from different sites (s and t) to maintain symmetry, replacing manual data splitting. It uses a non-negative monotonic function f(x,y) to fuse varying signal strengths.</a:t>
            </a:r>
            <a:endParaRPr lang="en-US" sz="900">
              <a:latin typeface="等线" panose="02010600030101010101" charset="-122"/>
              <a:ea typeface="等线" panose="02010600030101010101" charset="-122"/>
              <a:cs typeface="等线" panose="02010600030101010101" charset="-122"/>
            </a:endParaRPr>
          </a:p>
        </p:txBody>
      </p:sp>
      <p:sp>
        <p:nvSpPr>
          <p:cNvPr id="16" name="AutoShape 16"/>
          <p:cNvSpPr/>
          <p:nvPr/>
        </p:nvSpPr>
        <p:spPr>
          <a:xfrm>
            <a:off x="292100" y="4368800"/>
            <a:ext cx="8204200" cy="520700"/>
          </a:xfrm>
          <a:prstGeom prst="roundRect">
            <a:avLst>
              <a:gd name="adj" fmla="val 26829"/>
            </a:avLst>
          </a:prstGeom>
          <a:solidFill>
            <a:srgbClr val="DBEAFE">
              <a:alpha val="100000"/>
            </a:srgbClr>
          </a:solidFill>
          <a:ln w="12700" cap="flat" cmpd="sng">
            <a:solidFill>
              <a:srgbClr val="AEC5E5">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482600" y="4483100"/>
            <a:ext cx="8331200" cy="3302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We will now explore the mathematical form of the generalized mirror statistic and the cross-site feature support exchange mechanism.</a:t>
            </a:r>
            <a:endParaRPr lang="en-US" sz="1100"/>
          </a:p>
        </p:txBody>
      </p:sp>
      <p:sp>
        <p:nvSpPr>
          <p:cNvPr id="18" name="AutoShape 18"/>
          <p:cNvSpPr/>
          <p:nvPr/>
        </p:nvSpPr>
        <p:spPr>
          <a:xfrm>
            <a:off x="495300" y="-12700"/>
            <a:ext cx="8001000" cy="800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ts val="3150"/>
              </a:lnSpc>
              <a:defRPr/>
            </a:pPr>
            <a:r>
              <a:rPr lang="en-US" sz="23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2300" b="1">
                <a:solidFill>
                  <a:srgbClr val="333333"/>
                </a:solidFill>
                <a:latin typeface="微软雅黑" panose="020B0503020204020204" charset="-122"/>
                <a:ea typeface="微软雅黑" panose="020B0503020204020204" charset="-122"/>
                <a:cs typeface="微软雅黑" panose="020B0503020204020204" charset="-122"/>
              </a:rPr>
              <a:t>Limitations &amp; Solutions in Federated Settings</a:t>
            </a:r>
            <a:endParaRPr lang="en-US" sz="2300" b="1">
              <a:solidFill>
                <a:srgbClr val="333333"/>
              </a:solidFill>
              <a:latin typeface="微软雅黑" panose="020B0503020204020204" charset="-122"/>
              <a:ea typeface="微软雅黑" panose="020B0503020204020204" charset="-122"/>
              <a:cs typeface="微软雅黑" panose="020B0503020204020204" charset="-122"/>
            </a:endParaRPr>
          </a:p>
        </p:txBody>
      </p:sp>
      <p:pic>
        <p:nvPicPr>
          <p:cNvPr id="19" name="Picture 19"/>
          <p:cNvPicPr>
            <a:picLocks noChangeAspect="1"/>
          </p:cNvPicPr>
          <p:nvPr>
            <p:custDataLst>
              <p:tags r:id="rId14"/>
            </p:custDataLst>
          </p:nvPr>
        </p:nvPicPr>
        <p:blipFill>
          <a:blip r:embed="rId15"/>
          <a:srcRect/>
          <a:stretch>
            <a:fillRect/>
          </a:stretch>
        </p:blipFill>
        <p:spPr>
          <a:xfrm>
            <a:off x="4229100" y="1955800"/>
            <a:ext cx="228600" cy="228600"/>
          </a:xfrm>
          <a:prstGeom prst="rect">
            <a:avLst/>
          </a:prstGeom>
          <a:noFill/>
          <a:ln w="25400" cap="flat" cmpd="sng">
            <a:noFill/>
            <a:prstDash val="solid"/>
            <a:round/>
          </a:ln>
        </p:spPr>
      </p:pic>
      <p:pic>
        <p:nvPicPr>
          <p:cNvPr id="20" name="Picture 20"/>
          <p:cNvPicPr>
            <a:picLocks noChangeAspect="1"/>
          </p:cNvPicPr>
          <p:nvPr>
            <p:custDataLst>
              <p:tags r:id="rId16"/>
            </p:custDataLst>
          </p:nvPr>
        </p:nvPicPr>
        <p:blipFill>
          <a:blip r:embed="rId15"/>
          <a:srcRect/>
          <a:stretch>
            <a:fillRect/>
          </a:stretch>
        </p:blipFill>
        <p:spPr>
          <a:xfrm>
            <a:off x="4229100" y="3416300"/>
            <a:ext cx="228600" cy="228600"/>
          </a:xfrm>
          <a:prstGeom prst="rect">
            <a:avLst/>
          </a:prstGeom>
          <a:noFill/>
          <a:ln w="25400" cap="flat" cmpd="sng">
            <a:noFill/>
            <a:prstDash val="solid"/>
            <a:rou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58" name="AutoShape 31"/>
          <p:cNvSpPr/>
          <p:nvPr/>
        </p:nvSpPr>
        <p:spPr>
          <a:xfrm>
            <a:off x="4816475" y="4535052"/>
            <a:ext cx="4191000" cy="523875"/>
          </a:xfrm>
          <a:prstGeom prst="roundRect">
            <a:avLst>
              <a:gd name="adj" fmla="val 18181"/>
            </a:avLst>
          </a:prstGeom>
          <a:solidFill>
            <a:srgbClr val="EBF2FF">
              <a:alpha val="100000"/>
            </a:srgbClr>
          </a:solidFill>
          <a:ln w="25400" cap="flat" cmpd="sng">
            <a:noFill/>
            <a:prstDash val="solid"/>
            <a:round/>
          </a:ln>
        </p:spPr>
        <p:txBody>
          <a:bodyPr vert="horz" wrap="square" lIns="47625" tIns="47625" rIns="47625" bIns="47625"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sz="1350" dirty="0"/>
          </a:p>
        </p:txBody>
      </p:sp>
      <p:pic>
        <p:nvPicPr>
          <p:cNvPr id="2" name="Picture 2"/>
          <p:cNvPicPr>
            <a:picLocks noChangeAspect="1"/>
          </p:cNvPicPr>
          <p:nvPr/>
        </p:nvPicPr>
        <p:blipFill>
          <a:blip r:embed="rId1"/>
          <a:srcRect l="9276" r="9276"/>
          <a:stretch>
            <a:fillRect/>
          </a:stretch>
        </p:blipFill>
        <p:spPr>
          <a:xfrm>
            <a:off x="0" y="0"/>
            <a:ext cx="9144000" cy="1028700"/>
          </a:xfrm>
          <a:prstGeom prst="rect">
            <a:avLst/>
          </a:prstGeom>
          <a:noFill/>
          <a:ln w="25400" cap="flat" cmpd="sng">
            <a:noFill/>
            <a:prstDash val="solid"/>
            <a:round/>
          </a:ln>
        </p:spPr>
      </p:pic>
      <p:sp>
        <p:nvSpPr>
          <p:cNvPr id="3" name="AutoShape 3"/>
          <p:cNvSpPr/>
          <p:nvPr/>
        </p:nvSpPr>
        <p:spPr>
          <a:xfrm>
            <a:off x="254000" y="127000"/>
            <a:ext cx="8636000" cy="800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333333"/>
                </a:solidFill>
                <a:latin typeface="Calibri" panose="020F0502020204030204"/>
                <a:ea typeface="Calibri" panose="020F0502020204030204"/>
                <a:cs typeface="Calibri" panose="020F0502020204030204"/>
                <a:sym typeface="Calibri" panose="020F0502020204030204"/>
              </a:rPr>
              <a:t>Definition: Generalized Mirror Statistic</a:t>
            </a:r>
            <a:endParaRPr lang="en-US" sz="1100"/>
          </a:p>
        </p:txBody>
      </p:sp>
      <p:sp>
        <p:nvSpPr>
          <p:cNvPr id="6" name="AutoShape 6"/>
          <p:cNvSpPr/>
          <p:nvPr/>
        </p:nvSpPr>
        <p:spPr>
          <a:xfrm>
            <a:off x="0" y="1188403"/>
            <a:ext cx="4141470" cy="227965"/>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pPr>
            <a:r>
              <a:rPr lang="en-US" sz="1200" b="1" dirty="0">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Formula defination:Generalized Mirror Statistic</a:t>
            </a:r>
            <a:endParaRPr lang="en-US" sz="1100" b="0" i="0" u="none" strike="noStrike" dirty="0">
              <a:solidFill>
                <a:srgbClr val="000000"/>
              </a:solidFill>
              <a:latin typeface="Calibri" panose="020F0502020204030204"/>
              <a:ea typeface="Calibri" panose="020F0502020204030204"/>
              <a:cs typeface="Calibri" panose="020F0502020204030204"/>
              <a:sym typeface="Calibri" panose="020F0502020204030204"/>
            </a:endParaRPr>
          </a:p>
        </p:txBody>
      </p:sp>
      <p:grpSp>
        <p:nvGrpSpPr>
          <p:cNvPr id="22" name="组合 21"/>
          <p:cNvGrpSpPr/>
          <p:nvPr/>
        </p:nvGrpSpPr>
        <p:grpSpPr>
          <a:xfrm>
            <a:off x="215900" y="949038"/>
            <a:ext cx="4457700" cy="3200400"/>
            <a:chOff x="215900" y="1092200"/>
            <a:chExt cx="4457700" cy="3200400"/>
          </a:xfrm>
        </p:grpSpPr>
        <p:sp>
          <p:nvSpPr>
            <p:cNvPr id="4" name="AutoShape 4"/>
            <p:cNvSpPr/>
            <p:nvPr/>
          </p:nvSpPr>
          <p:spPr>
            <a:xfrm>
              <a:off x="215900" y="1092200"/>
              <a:ext cx="4457700" cy="3200400"/>
            </a:xfrm>
            <a:prstGeom prst="roundRect">
              <a:avLst>
                <a:gd name="adj" fmla="val 2822"/>
              </a:avLst>
            </a:prstGeom>
            <a:solidFill>
              <a:srgbClr val="FFFFFF">
                <a:alpha val="100000"/>
              </a:srgbClr>
            </a:solidFill>
            <a:ln w="25400" cap="flat" cmpd="sng">
              <a:noFill/>
              <a:prstDash val="solid"/>
              <a:round/>
            </a:ln>
            <a:effectLst>
              <a:outerShdw blurRad="101600" dist="38100" dir="2700000" algn="tl" rotWithShape="0">
                <a:srgbClr val="000000">
                  <a:alpha val="5000"/>
                </a:srgbClr>
              </a:outerShdw>
            </a:effectLst>
          </p:spPr>
          <p:txBody>
            <a:bodyPr vert="horz" wrap="square" lIns="63500" tIns="63500" rIns="63500" bIns="63500" rtlCol="0" anchor="ctr"/>
            <a:lstStyle/>
            <a:p>
              <a:pPr algn="ctr">
                <a:defRPr/>
              </a:pPr>
            </a:p>
          </p:txBody>
        </p:sp>
        <p:sp>
          <p:nvSpPr>
            <p:cNvPr id="5" name="AutoShape 5"/>
            <p:cNvSpPr/>
            <p:nvPr/>
          </p:nvSpPr>
          <p:spPr>
            <a:xfrm>
              <a:off x="254000" y="1129030"/>
              <a:ext cx="4152900" cy="1006475"/>
            </a:xfrm>
            <a:prstGeom prst="roundRect">
              <a:avLst>
                <a:gd name="adj" fmla="val 5633"/>
              </a:avLst>
            </a:prstGeom>
            <a:solidFill>
              <a:srgbClr val="4A90E2">
                <a:alpha val="10000"/>
              </a:srgbClr>
            </a:solidFill>
            <a:ln w="25400" cap="flat" cmpd="sng">
              <a:noFill/>
              <a:prstDash val="solid"/>
              <a:round/>
            </a:ln>
          </p:spPr>
          <p:txBody>
            <a:bodyPr vert="horz" wrap="square" lIns="63500" tIns="63500" rIns="63500" bIns="63500" rtlCol="0" anchor="ctr"/>
            <a:lstStyle/>
            <a:p>
              <a:pPr algn="l">
                <a:defRPr/>
              </a:pPr>
              <a:r>
                <a:rPr lang="en-US" altLang="zh-CN" sz="1100">
                  <a:latin typeface="Times New Roman" panose="02020603050405020304" pitchFamily="18" charset="0"/>
                  <a:cs typeface="Times New Roman" panose="02020603050405020304" pitchFamily="18" charset="0"/>
                </a:rPr>
                <a:t>For any pair of sites (s,t), the statistic for feature j fuses sign and  intensity:</a:t>
              </a:r>
              <a:endParaRPr lang="en-US" altLang="zh-CN" sz="1100">
                <a:latin typeface="Times New Roman" panose="02020603050405020304" pitchFamily="18" charset="0"/>
                <a:cs typeface="Times New Roman" panose="02020603050405020304" pitchFamily="18" charset="0"/>
              </a:endParaRPr>
            </a:p>
            <a:p>
              <a:pPr algn="l">
                <a:defRPr/>
              </a:pPr>
              <a:endParaRPr lang="en-US" altLang="zh-CN" sz="1100">
                <a:latin typeface="Times New Roman" panose="02020603050405020304" pitchFamily="18" charset="0"/>
                <a:cs typeface="Times New Roman" panose="02020603050405020304" pitchFamily="18" charset="0"/>
              </a:endParaRPr>
            </a:p>
            <a:p>
              <a:pPr algn="l">
                <a:defRPr/>
              </a:pPr>
              <a:endParaRPr lang="en-US" altLang="zh-CN" sz="1100">
                <a:latin typeface="Times New Roman" panose="02020603050405020304" pitchFamily="18" charset="0"/>
                <a:cs typeface="Times New Roman" panose="02020603050405020304" pitchFamily="18" charset="0"/>
              </a:endParaRPr>
            </a:p>
          </p:txBody>
        </p:sp>
        <p:grpSp>
          <p:nvGrpSpPr>
            <p:cNvPr id="18" name="组合 17"/>
            <p:cNvGrpSpPr/>
            <p:nvPr/>
          </p:nvGrpSpPr>
          <p:grpSpPr>
            <a:xfrm>
              <a:off x="253365" y="2189766"/>
              <a:ext cx="1994535" cy="1249622"/>
              <a:chOff x="253365" y="2319078"/>
              <a:chExt cx="1994535" cy="1249622"/>
            </a:xfrm>
          </p:grpSpPr>
          <p:sp>
            <p:nvSpPr>
              <p:cNvPr id="7" name="AutoShape 7"/>
              <p:cNvSpPr/>
              <p:nvPr/>
            </p:nvSpPr>
            <p:spPr>
              <a:xfrm>
                <a:off x="253365" y="2319078"/>
                <a:ext cx="1994535" cy="1249622"/>
              </a:xfrm>
              <a:prstGeom prst="roundRect">
                <a:avLst>
                  <a:gd name="adj" fmla="val 3960"/>
                </a:avLst>
              </a:prstGeom>
              <a:solidFill>
                <a:srgbClr val="CC0000">
                  <a:alpha val="6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355600" y="2349500"/>
                <a:ext cx="1892300" cy="1143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eaLnBrk="1" fontAlgn="auto" latinLnBrk="0" hangingPunct="1">
                  <a:lnSpc>
                    <a:spcPct val="100000"/>
                  </a:lnSpc>
                  <a:defRPr/>
                </a:pPr>
                <a:r>
                  <a:rPr lang="en-US" altLang="zh-CN" sz="1200" b="1" i="0" u="none" strike="noStrike" dirty="0">
                    <a:solidFill>
                      <a:srgbClr val="B43232"/>
                    </a:solidFill>
                    <a:latin typeface="Calibri" panose="020F0502020204030204"/>
                    <a:ea typeface="Calibri" panose="020F0502020204030204"/>
                    <a:cs typeface="Calibri" panose="020F0502020204030204"/>
                    <a:sym typeface="Calibri" panose="020F0502020204030204"/>
                  </a:rPr>
                  <a:t>Sign Term</a:t>
                </a:r>
                <a:r>
                  <a:rPr lang="en-US" sz="1200" b="1" i="0" u="none" strike="noStrike" dirty="0">
                    <a:solidFill>
                      <a:srgbClr val="B43232"/>
                    </a:solidFill>
                    <a:latin typeface="Calibri" panose="020F0502020204030204"/>
                    <a:ea typeface="Calibri" panose="020F0502020204030204"/>
                    <a:cs typeface="Calibri" panose="020F0502020204030204"/>
                    <a:sym typeface="Calibri" panose="020F0502020204030204"/>
                  </a:rPr>
                  <a:t>: Zero-Feature Symmetry</a:t>
                </a:r>
                <a:endParaRPr lang="en-US" altLang="zh-CN" sz="900" b="0" i="0" u="none" strike="noStrike" dirty="0">
                  <a:solidFill>
                    <a:srgbClr val="3C3C3C"/>
                  </a:solidFill>
                  <a:latin typeface="Calibri" panose="020F0502020204030204"/>
                  <a:ea typeface="Calibri" panose="020F0502020204030204"/>
                  <a:cs typeface="Calibri" panose="020F0502020204030204"/>
                  <a:sym typeface="Calibri" panose="020F0502020204030204"/>
                </a:endParaRPr>
              </a:p>
              <a:p>
                <a:pPr indent="0" algn="l">
                  <a:lnSpc>
                    <a:spcPct val="92000"/>
                  </a:lnSpc>
                </a:pPr>
                <a:r>
                  <a:rPr lang="en-US" altLang="zh-CN" sz="1000" b="0" i="0" u="none" strike="noStrike" dirty="0">
                    <a:solidFill>
                      <a:srgbClr val="3C3C3C"/>
                    </a:solidFill>
                    <a:latin typeface="Times New Roman" panose="02020603050405020304" pitchFamily="18" charset="0"/>
                    <a:ea typeface="Calibri" panose="020F0502020204030204"/>
                    <a:cs typeface="Times New Roman" panose="02020603050405020304" pitchFamily="18" charset="0"/>
                    <a:sym typeface="Calibri" panose="020F0502020204030204"/>
                  </a:rPr>
                  <a:t> Extracts the sign of the product of estimates from two sites. For null features, positive/negative probabilities are 50%, ensuring strict zero distribution symmetry.</a:t>
                </a:r>
                <a:endParaRPr lang="en-US" altLang="zh-CN" sz="1000" b="0" i="0" u="none" strike="noStrike" dirty="0">
                  <a:solidFill>
                    <a:srgbClr val="3C3C3C"/>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grpSp>
        <p:grpSp>
          <p:nvGrpSpPr>
            <p:cNvPr id="19" name="组合 18"/>
            <p:cNvGrpSpPr/>
            <p:nvPr/>
          </p:nvGrpSpPr>
          <p:grpSpPr>
            <a:xfrm>
              <a:off x="2311400" y="2171699"/>
              <a:ext cx="2095500" cy="1258453"/>
              <a:chOff x="2311400" y="2310246"/>
              <a:chExt cx="2095500" cy="1258453"/>
            </a:xfrm>
          </p:grpSpPr>
          <p:sp>
            <p:nvSpPr>
              <p:cNvPr id="9" name="AutoShape 9"/>
              <p:cNvSpPr/>
              <p:nvPr/>
            </p:nvSpPr>
            <p:spPr>
              <a:xfrm>
                <a:off x="2311400" y="2310246"/>
                <a:ext cx="2095500" cy="1258453"/>
              </a:xfrm>
              <a:prstGeom prst="roundRect">
                <a:avLst>
                  <a:gd name="adj" fmla="val 3960"/>
                </a:avLst>
              </a:prstGeom>
              <a:solidFill>
                <a:srgbClr val="228B22">
                  <a:alpha val="6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2374900" y="2349500"/>
                <a:ext cx="1982470" cy="1143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eaLnBrk="1" fontAlgn="auto" latinLnBrk="0" hangingPunct="1">
                  <a:lnSpc>
                    <a:spcPct val="100000"/>
                  </a:lnSpc>
                  <a:defRPr/>
                </a:pPr>
                <a:r>
                  <a:rPr lang="en-US" sz="1000" b="1" i="0" u="none" strike="noStrike" dirty="0">
                    <a:solidFill>
                      <a:srgbClr val="228B22"/>
                    </a:solidFill>
                    <a:latin typeface="Calibri" panose="020F0502020204030204"/>
                    <a:ea typeface="Calibri" panose="020F0502020204030204"/>
                    <a:cs typeface="Calibri" panose="020F0502020204030204"/>
                    <a:sym typeface="Calibri" panose="020F0502020204030204"/>
                  </a:rPr>
                  <a:t>Fusion Component: Heterogeneity Compatibility</a:t>
                </a:r>
                <a:endParaRPr lang="en-US" sz="1100" dirty="0"/>
              </a:p>
              <a:p>
                <a:pPr indent="0" algn="l">
                  <a:lnSpc>
                    <a:spcPct val="92000"/>
                  </a:lnSpc>
                </a:pPr>
                <a:r>
                  <a:rPr lang="en-US" sz="1100" b="0" i="0" u="none" strike="noStrike" dirty="0">
                    <a:solidFill>
                      <a:srgbClr val="3C3C3C"/>
                    </a:solidFill>
                    <a:latin typeface="Times New Roman" panose="02020603050405020304" pitchFamily="18" charset="0"/>
                    <a:ea typeface="Calibri" panose="020F0502020204030204"/>
                    <a:cs typeface="Times New Roman" panose="02020603050405020304" pitchFamily="18" charset="0"/>
                    <a:sym typeface="Calibri" panose="020F0502020204030204"/>
                  </a:rPr>
                  <a:t>Fuses multi-site estimates into one statistic. The function adapts to varying signal strengths while satisfying symmetry, exchangeability, and unbiasedness.</a:t>
                </a:r>
                <a:endParaRPr lang="en-US" sz="1100" b="0" i="0" u="none" strike="noStrike" dirty="0">
                  <a:solidFill>
                    <a:srgbClr val="3C3C3C"/>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grpSp>
      </p:grpSp>
      <p:grpSp>
        <p:nvGrpSpPr>
          <p:cNvPr id="20" name="组合 19"/>
          <p:cNvGrpSpPr/>
          <p:nvPr/>
        </p:nvGrpSpPr>
        <p:grpSpPr>
          <a:xfrm>
            <a:off x="257722" y="3286991"/>
            <a:ext cx="4153535" cy="825500"/>
            <a:chOff x="253365" y="3683000"/>
            <a:chExt cx="4153535" cy="825500"/>
          </a:xfrm>
        </p:grpSpPr>
        <p:sp>
          <p:nvSpPr>
            <p:cNvPr id="11" name="AutoShape 11"/>
            <p:cNvSpPr/>
            <p:nvPr/>
          </p:nvSpPr>
          <p:spPr>
            <a:xfrm>
              <a:off x="253365" y="3683000"/>
              <a:ext cx="4153535" cy="825500"/>
            </a:xfrm>
            <a:prstGeom prst="roundRect">
              <a:avLst>
                <a:gd name="adj" fmla="val 6153"/>
              </a:avLst>
            </a:prstGeom>
            <a:solidFill>
              <a:srgbClr val="F0F0F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354965" y="3746500"/>
              <a:ext cx="4002405"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000" b="1" i="0" u="none" strike="noStrike">
                  <a:solidFill>
                    <a:srgbClr val="333333"/>
                  </a:solidFill>
                  <a:latin typeface="Calibri" panose="020F0502020204030204"/>
                  <a:ea typeface="Calibri" panose="020F0502020204030204"/>
                  <a:cs typeface="Calibri" panose="020F0502020204030204"/>
                  <a:sym typeface="Calibri" panose="020F0502020204030204"/>
                </a:rPr>
                <a:t>Optimal Choice: f(x, y) = x + y (Asymptotically Optimal)</a:t>
              </a:r>
              <a:endParaRPr lang="en-US" sz="1100"/>
            </a:p>
            <a:p>
              <a:pPr indent="0" algn="l">
                <a:lnSpc>
                  <a:spcPct val="92000"/>
                </a:lnSpc>
              </a:pPr>
              <a:r>
                <a:rPr lang="en-US" sz="1200" b="0" i="0" u="none" strike="noStrike">
                  <a:solidFill>
                    <a:srgbClr val="505050"/>
                  </a:solidFill>
                  <a:latin typeface="Times New Roman" panose="02020603050405020304" pitchFamily="18" charset="0"/>
                  <a:ea typeface="Calibri" panose="020F0502020204030204"/>
                  <a:cs typeface="Times New Roman" panose="02020603050405020304" pitchFamily="18" charset="0"/>
                  <a:sym typeface="Calibri" panose="020F0502020204030204"/>
                </a:rPr>
                <a:t>Recommended by Dai et al. (2023a). Computationally simple and proven to have the highest statistical power, balancing cost and performance.</a:t>
              </a:r>
              <a:endParaRPr lang="en-US" sz="1200" b="0" i="0" u="none" strike="noStrike">
                <a:solidFill>
                  <a:srgbClr val="505050"/>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grpSp>
      <p:sp>
        <p:nvSpPr>
          <p:cNvPr id="13" name="AutoShape 13"/>
          <p:cNvSpPr/>
          <p:nvPr/>
        </p:nvSpPr>
        <p:spPr>
          <a:xfrm>
            <a:off x="4826000" y="1239404"/>
            <a:ext cx="4102100" cy="3240231"/>
          </a:xfrm>
          <a:prstGeom prst="roundRect">
            <a:avLst>
              <a:gd name="adj" fmla="val 3137"/>
            </a:avLst>
          </a:prstGeom>
          <a:solidFill>
            <a:srgbClr val="FFFFFF">
              <a:alpha val="100000"/>
            </a:srgbClr>
          </a:solidFill>
          <a:ln w="25400" cap="flat" cmpd="sng">
            <a:noFill/>
            <a:prstDash val="solid"/>
            <a:round/>
          </a:ln>
          <a:effectLst>
            <a:outerShdw blurRad="101600" dist="38100" dir="2700000" algn="tl" rotWithShape="0">
              <a:srgbClr val="000000">
                <a:alpha val="5000"/>
              </a:srgbClr>
            </a:outerShdw>
          </a:effectLst>
        </p:spPr>
        <p:txBody>
          <a:bodyPr vert="horz" wrap="square" lIns="63500" tIns="63500" rIns="63500" bIns="63500" rtlCol="0" anchor="ctr"/>
          <a:lstStyle/>
          <a:p>
            <a:pPr algn="ctr">
              <a:defRPr/>
            </a:pPr>
          </a:p>
        </p:txBody>
      </p:sp>
      <p:grpSp>
        <p:nvGrpSpPr>
          <p:cNvPr id="21" name="组合 20"/>
          <p:cNvGrpSpPr/>
          <p:nvPr/>
        </p:nvGrpSpPr>
        <p:grpSpPr>
          <a:xfrm>
            <a:off x="197167" y="4225638"/>
            <a:ext cx="4495165" cy="763863"/>
            <a:chOff x="4813300" y="1244600"/>
            <a:chExt cx="3810000" cy="1270000"/>
          </a:xfrm>
        </p:grpSpPr>
        <p:sp>
          <p:nvSpPr>
            <p:cNvPr id="14" name="AutoShape 14"/>
            <p:cNvSpPr/>
            <p:nvPr/>
          </p:nvSpPr>
          <p:spPr>
            <a:xfrm>
              <a:off x="4813300" y="1244600"/>
              <a:ext cx="3810000" cy="1270000"/>
            </a:xfrm>
            <a:prstGeom prst="roundRect">
              <a:avLst>
                <a:gd name="adj" fmla="val 4000"/>
              </a:avLst>
            </a:prstGeom>
            <a:solidFill>
              <a:srgbClr val="EBF8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876800" y="1333500"/>
              <a:ext cx="3683000" cy="1143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dirty="0">
                  <a:solidFill>
                    <a:srgbClr val="166534"/>
                  </a:solidFill>
                  <a:latin typeface="Calibri" panose="020F0502020204030204"/>
                  <a:ea typeface="Calibri" panose="020F0502020204030204"/>
                  <a:cs typeface="Calibri" panose="020F0502020204030204"/>
                  <a:sym typeface="Calibri" panose="020F0502020204030204"/>
                </a:rPr>
                <a:t>Privacy Compliance Advantage</a:t>
              </a:r>
              <a:endParaRPr lang="en-US" sz="1100" dirty="0"/>
            </a:p>
            <a:p>
              <a:pPr indent="0" algn="l">
                <a:lnSpc>
                  <a:spcPct val="108000"/>
                </a:lnSpc>
              </a:pPr>
              <a:r>
                <a:rPr lang="en-US" sz="1000" b="0" i="0" u="none" strike="noStrike" dirty="0">
                  <a:solidFill>
                    <a:srgbClr val="3C3C3C"/>
                  </a:solidFill>
                  <a:latin typeface="Times New Roman" panose="02020603050405020304" pitchFamily="18" charset="0"/>
                  <a:ea typeface="Calibri" panose="020F0502020204030204"/>
                  <a:cs typeface="Times New Roman" panose="02020603050405020304" pitchFamily="18" charset="0"/>
                  <a:sym typeface="Calibri" panose="020F0502020204030204"/>
                </a:rPr>
                <a:t>Only model coefficient estimates are exchanged throughout the process, without involving any raw individual data. This perfectly satisfies the requirements of data privacy protection and compliance.</a:t>
              </a:r>
              <a:endParaRPr lang="en-US" sz="1000" b="0" i="0" u="none" strike="noStrike" dirty="0">
                <a:solidFill>
                  <a:srgbClr val="3C3C3C"/>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grpSp>
      <p:pic>
        <p:nvPicPr>
          <p:cNvPr id="34" name="图片 33"/>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976019" y="1342943"/>
            <a:ext cx="2684097" cy="475061"/>
          </a:xfrm>
          <a:prstGeom prst="rect">
            <a:avLst/>
          </a:prstGeom>
        </p:spPr>
      </p:pic>
      <mc:AlternateContent xmlns:mc="http://schemas.openxmlformats.org/markup-compatibility/2006">
        <mc:Choice xmlns:a14="http://schemas.microsoft.com/office/drawing/2010/main" Requires="a14">
          <p:sp>
            <p:nvSpPr>
              <p:cNvPr id="23" name="AutoShape 17"/>
              <p:cNvSpPr/>
              <p:nvPr/>
            </p:nvSpPr>
            <p:spPr>
              <a:xfrm>
                <a:off x="4972050" y="1130300"/>
                <a:ext cx="3810000" cy="713740"/>
              </a:xfrm>
              <a:prstGeom prst="rect">
                <a:avLst/>
              </a:prstGeom>
              <a:noFill/>
              <a:ln w="12700" cap="flat" cmpd="sng">
                <a:noFill/>
                <a:prstDash val="solid"/>
                <a:round/>
              </a:ln>
            </p:spPr>
            <p:txBody>
              <a:bodyPr vert="horz" wrap="square" lIns="0" tIns="0" rIns="0" bIns="0" rtlCol="0" anchor="ctr"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defRPr/>
                </a:pPr>
                <a:r>
                  <a:rPr lang="en-US" sz="975" b="1"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1000" b="1" dirty="0">
                    <a:solidFill>
                      <a:srgbClr val="666666"/>
                    </a:solidFill>
                    <a:latin typeface="等线" panose="02010600030101010101" charset="-122"/>
                    <a:ea typeface="等线" panose="02010600030101010101" charset="-122"/>
                    <a:cs typeface="Noto Sans SC" panose="020B0200000000000000" charset="-122"/>
                    <a:sym typeface="Noto Sans SC" panose="020B0200000000000000" charset="-122"/>
                  </a:rPr>
                  <a:t>Core Logic: Distribution-Free Adaptive Threshold</a:t>
                </a:r>
                <a:endParaRPr lang="en-US" altLang="zh-CN" sz="1000" b="1" dirty="0">
                  <a:solidFill>
                    <a:srgbClr val="666666"/>
                  </a:solidFill>
                  <a:latin typeface="等线" panose="02010600030101010101" charset="-122"/>
                  <a:ea typeface="等线" panose="02010600030101010101" charset="-122"/>
                  <a:cs typeface="Noto Sans SC" panose="020B0200000000000000" charset="-122"/>
                  <a:sym typeface="Noto Sans SC" panose="020B0200000000000000" charset="-122"/>
                </a:endParaRPr>
              </a:p>
              <a:p>
                <a:pPr>
                  <a:lnSpc>
                    <a:spcPct val="125000"/>
                  </a:lnSpc>
                  <a:defRPr/>
                </a:pPr>
                <a:r>
                  <a:rPr lang="en-US" sz="1000" dirty="0">
                    <a:solidFill>
                      <a:srgbClr val="666666"/>
                    </a:solidFill>
                    <a:latin typeface="等线" panose="02010600030101010101" charset="-122"/>
                    <a:ea typeface="等线" panose="02010600030101010101" charset="-122"/>
                    <a:cs typeface="Noto Sans SC" panose="020B0200000000000000" charset="-122"/>
                    <a:sym typeface="Noto Sans SC" panose="020B0200000000000000" charset="-122"/>
                  </a:rPr>
                  <a:t>Leveraging the symmetry of null features, we dynamically estimate the False Discovery Proportion (FDP) to find the minimum threshold </a:t>
                </a:r>
                <a:r>
                  <a:rPr lang="en-US" altLang="zh-CN" sz="1000" dirty="0">
                    <a:solidFill>
                      <a:srgbClr val="666666"/>
                    </a:solidFill>
                    <a:latin typeface="等线" panose="02010600030101010101" charset="-122"/>
                    <a:ea typeface="等线" panose="02010600030101010101" charset="-122"/>
                    <a:cs typeface="Noto Sans SC" panose="020B0200000000000000" charset="-122"/>
                    <a:sym typeface="Noto Sans SC" panose="020B0200000000000000" charset="-122"/>
                  </a:rPr>
                  <a:t>τ </a:t>
                </a:r>
                <a:r>
                  <a:rPr lang="en-US" sz="1000" dirty="0">
                    <a:solidFill>
                      <a:srgbClr val="666666"/>
                    </a:solidFill>
                    <a:latin typeface="等线" panose="02010600030101010101" charset="-122"/>
                    <a:ea typeface="等线" panose="02010600030101010101" charset="-122"/>
                    <a:cs typeface="Noto Sans SC" panose="020B0200000000000000" charset="-122"/>
                    <a:sym typeface="Noto Sans SC" panose="020B0200000000000000" charset="-122"/>
                  </a:rPr>
                  <a:t>that ensures FDR </a:t>
                </a:r>
                <a14:m>
                  <m:oMath xmlns:m="http://schemas.openxmlformats.org/officeDocument/2006/math">
                    <m:r>
                      <a:rPr lang="en-US" sz="1000" i="1" smtClean="0">
                        <a:solidFill>
                          <a:srgbClr val="666666"/>
                        </a:solidFill>
                        <a:latin typeface="Cambria Math" panose="02040503050406030204" pitchFamily="18" charset="0"/>
                        <a:ea typeface="Cambria Math" panose="02040503050406030204" pitchFamily="18" charset="0"/>
                        <a:cs typeface="Noto Sans SC" panose="020B0200000000000000" charset="-122"/>
                        <a:sym typeface="Noto Sans SC" panose="020B0200000000000000" charset="-122"/>
                      </a:rPr>
                      <m:t>≤</m:t>
                    </m:r>
                  </m:oMath>
                </a14:m>
                <a:r>
                  <a:rPr lang="en-US" altLang="zh-CN" sz="1000" dirty="0">
                    <a:solidFill>
                      <a:srgbClr val="666666"/>
                    </a:solidFill>
                    <a:latin typeface="等线" panose="02010600030101010101" charset="-122"/>
                    <a:ea typeface="等线" panose="02010600030101010101" charset="-122"/>
                    <a:cs typeface="Noto Sans SC" panose="020B0200000000000000" charset="-122"/>
                    <a:sym typeface="Noto Sans SC" panose="020B0200000000000000" charset="-122"/>
                  </a:rPr>
                  <a:t>α</a:t>
                </a:r>
                <a:endParaRPr lang="en-US" sz="1000" dirty="0">
                  <a:solidFill>
                    <a:srgbClr val="666666"/>
                  </a:solidFill>
                  <a:latin typeface="等线" panose="02010600030101010101" charset="-122"/>
                  <a:ea typeface="等线" panose="02010600030101010101" charset="-122"/>
                  <a:cs typeface="Noto Sans SC" panose="020B0200000000000000" charset="-122"/>
                  <a:sym typeface="Noto Sans SC" panose="020B0200000000000000" charset="-122"/>
                </a:endParaRPr>
              </a:p>
            </p:txBody>
          </p:sp>
        </mc:Choice>
        <mc:Fallback>
          <p:sp>
            <p:nvSpPr>
              <p:cNvPr id="23" name="AutoShape 17"/>
              <p:cNvSpPr>
                <a:spLocks noRot="1" noChangeAspect="1" noMove="1" noResize="1" noEditPoints="1" noAdjustHandles="1" noChangeArrowheads="1" noChangeShapeType="1" noTextEdit="1"/>
              </p:cNvSpPr>
              <p:nvPr/>
            </p:nvSpPr>
            <p:spPr>
              <a:xfrm>
                <a:off x="4972050" y="1130300"/>
                <a:ext cx="3810000" cy="713740"/>
              </a:xfrm>
              <a:prstGeom prst="rect">
                <a:avLst/>
              </a:prstGeom>
              <a:blipFill rotWithShape="1">
                <a:blip r:embed="rId3"/>
                <a:stretch>
                  <a:fillRect t="-3292" b="-3470"/>
                </a:stretch>
              </a:blipFill>
              <a:ln w="12700" cap="flat" cmpd="sng">
                <a:noFill/>
                <a:prstDash val="solid"/>
                <a:round/>
              </a:ln>
            </p:spPr>
            <p:txBody>
              <a:bodyPr/>
              <a:lstStyle/>
              <a:p>
                <a:r>
                  <a:rPr lang="zh-CN" altLang="en-US">
                    <a:noFill/>
                  </a:rPr>
                  <a:t> </a:t>
                </a:r>
              </a:p>
            </p:txBody>
          </p:sp>
        </mc:Fallback>
      </mc:AlternateContent>
      <p:sp>
        <p:nvSpPr>
          <p:cNvPr id="24" name="AutoShape 19"/>
          <p:cNvSpPr/>
          <p:nvPr/>
        </p:nvSpPr>
        <p:spPr>
          <a:xfrm>
            <a:off x="4889500" y="1967677"/>
            <a:ext cx="3810000" cy="829498"/>
          </a:xfrm>
          <a:prstGeom prst="rect">
            <a:avLst/>
          </a:prstGeom>
          <a:noFill/>
          <a:ln w="12700" cap="flat" cmpd="sng">
            <a:noFill/>
            <a:prstDash val="solid"/>
            <a:round/>
          </a:ln>
        </p:spPr>
        <p:txBody>
          <a:bodyPr vert="horz" wrap="square" lIns="0" tIns="0" rIns="0" bIns="0" rtlCol="0" anchor="ctr"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defRPr/>
            </a:pPr>
            <a:r>
              <a:rPr lang="en-US" sz="825" b="1" dirty="0">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1000" b="1" dirty="0">
                <a:solidFill>
                  <a:srgbClr val="4A90E2"/>
                </a:solidFill>
                <a:latin typeface="等线" panose="02010600030101010101" charset="-122"/>
                <a:ea typeface="等线" panose="02010600030101010101" charset="-122"/>
                <a:cs typeface="Noto Sans SC" panose="020B0200000000000000" charset="-122"/>
                <a:sym typeface="Noto Sans SC" panose="020B0200000000000000" charset="-122"/>
              </a:rPr>
              <a:t>Threshold Calculation (Formula 3):</a:t>
            </a:r>
            <a:endParaRPr lang="en-US" altLang="zh-CN" sz="1000" b="1" dirty="0">
              <a:solidFill>
                <a:srgbClr val="4A90E2"/>
              </a:solidFill>
              <a:latin typeface="等线" panose="02010600030101010101" charset="-122"/>
              <a:ea typeface="等线" panose="02010600030101010101" charset="-122"/>
              <a:cs typeface="Noto Sans SC" panose="020B0200000000000000" charset="-122"/>
              <a:sym typeface="Noto Sans SC" panose="020B0200000000000000" charset="-122"/>
            </a:endParaRPr>
          </a:p>
          <a:p>
            <a:pPr>
              <a:lnSpc>
                <a:spcPct val="125000"/>
              </a:lnSpc>
              <a:defRPr/>
            </a:pPr>
            <a:endParaRPr lang="en-US" sz="825" b="1" dirty="0">
              <a:solidFill>
                <a:srgbClr val="4A90E2"/>
              </a:solidFill>
              <a:latin typeface="Noto Sans SC" panose="020B0200000000000000" charset="-122"/>
              <a:ea typeface="Noto Sans SC" panose="020B0200000000000000" charset="-122"/>
              <a:sym typeface="Noto Sans SC" panose="020B0200000000000000" charset="-122"/>
            </a:endParaRPr>
          </a:p>
          <a:p>
            <a:pPr>
              <a:lnSpc>
                <a:spcPct val="125000"/>
              </a:lnSpc>
              <a:defRPr/>
            </a:pPr>
            <a:endParaRPr lang="en-US" sz="825" dirty="0"/>
          </a:p>
          <a:p>
            <a:pPr algn="ctr">
              <a:lnSpc>
                <a:spcPct val="125000"/>
              </a:lnSpc>
            </a:pPr>
            <a:endParaRPr lang="en-US" sz="750" dirty="0">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gn="ctr">
              <a:lnSpc>
                <a:spcPct val="125000"/>
              </a:lnSpc>
            </a:pPr>
            <a:endParaRPr lang="en-US" sz="750" dirty="0">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gn="ctr">
              <a:lnSpc>
                <a:spcPct val="125000"/>
              </a:lnSpc>
            </a:pPr>
            <a:endParaRPr lang="en-US" sz="750" dirty="0">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5" name="图片 24"/>
          <p:cNvPicPr>
            <a:picLocks noChangeAspect="1"/>
          </p:cNvPicPr>
          <p:nvPr/>
        </p:nvPicPr>
        <p:blipFill>
          <a:blip r:embed="rId4"/>
          <a:stretch>
            <a:fillRect/>
          </a:stretch>
        </p:blipFill>
        <p:spPr>
          <a:xfrm>
            <a:off x="5466754" y="2166900"/>
            <a:ext cx="2486929" cy="546262"/>
          </a:xfrm>
          <a:prstGeom prst="rect">
            <a:avLst/>
          </a:prstGeom>
        </p:spPr>
      </p:pic>
      <p:sp>
        <p:nvSpPr>
          <p:cNvPr id="26" name="AutoShape 20"/>
          <p:cNvSpPr/>
          <p:nvPr/>
        </p:nvSpPr>
        <p:spPr>
          <a:xfrm>
            <a:off x="4889500" y="2721610"/>
            <a:ext cx="2022475" cy="773430"/>
          </a:xfrm>
          <a:prstGeom prst="roundRect">
            <a:avLst>
              <a:gd name="adj" fmla="val 7692"/>
            </a:avLst>
          </a:prstGeom>
          <a:solidFill>
            <a:srgbClr val="F5F5F5">
              <a:alpha val="100000"/>
            </a:srgbClr>
          </a:solidFill>
          <a:ln w="25400" cap="flat" cmpd="sng">
            <a:noFill/>
            <a:prstDash val="solid"/>
            <a:round/>
          </a:ln>
        </p:spPr>
        <p:txBody>
          <a:bodyPr vert="horz" wrap="square" lIns="47625" tIns="47625" rIns="47625" bIns="47625"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sz="1350"/>
          </a:p>
        </p:txBody>
      </p:sp>
      <p:sp>
        <p:nvSpPr>
          <p:cNvPr id="27" name="AutoShape 21"/>
          <p:cNvSpPr/>
          <p:nvPr/>
        </p:nvSpPr>
        <p:spPr>
          <a:xfrm>
            <a:off x="4889500" y="2733040"/>
            <a:ext cx="1993900" cy="714375"/>
          </a:xfrm>
          <a:prstGeom prst="rect">
            <a:avLst/>
          </a:prstGeom>
          <a:noFill/>
          <a:ln w="12700" cap="flat" cmpd="sng">
            <a:noFill/>
            <a:prstDash val="solid"/>
            <a:round/>
          </a:ln>
        </p:spPr>
        <p:txBody>
          <a:bodyPr vert="horz" wrap="square" lIns="0" tIns="0" rIns="0" bIns="0" rtlCol="0" anchor="ctr"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defRPr/>
            </a:pPr>
            <a:r>
              <a:rPr lang="en-US" altLang="zh-CN" sz="1000" b="1" dirty="0">
                <a:latin typeface="等线" panose="02010600030101010101" charset="-122"/>
                <a:ea typeface="等线" panose="02010600030101010101" charset="-122"/>
              </a:rPr>
              <a:t>What is τ:</a:t>
            </a:r>
            <a:endParaRPr lang="en-US" altLang="zh-CN" sz="1000" b="1" dirty="0">
              <a:latin typeface="等线" panose="02010600030101010101" charset="-122"/>
              <a:ea typeface="等线" panose="02010600030101010101" charset="-122"/>
            </a:endParaRPr>
          </a:p>
          <a:p>
            <a:pPr>
              <a:lnSpc>
                <a:spcPct val="125000"/>
              </a:lnSpc>
            </a:pPr>
            <a:r>
              <a:rPr lang="en-US" altLang="zh-CN" sz="1000" dirty="0">
                <a:solidFill>
                  <a:srgbClr val="646464"/>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rPr>
              <a:t>Candidate threshold to be searched. We start from 0 and increase gradually to find the minimum value that satisfies the condition.</a:t>
            </a:r>
            <a:endParaRPr lang="en-US" altLang="zh-CN" sz="1000" dirty="0">
              <a:solidFill>
                <a:srgbClr val="646464"/>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endParaRPr>
          </a:p>
        </p:txBody>
      </p:sp>
      <p:sp>
        <p:nvSpPr>
          <p:cNvPr id="28" name="AutoShape 22"/>
          <p:cNvSpPr/>
          <p:nvPr/>
        </p:nvSpPr>
        <p:spPr>
          <a:xfrm>
            <a:off x="6950075" y="2713161"/>
            <a:ext cx="1885950" cy="781873"/>
          </a:xfrm>
          <a:prstGeom prst="roundRect">
            <a:avLst>
              <a:gd name="adj" fmla="val 7692"/>
            </a:avLst>
          </a:prstGeom>
          <a:solidFill>
            <a:srgbClr val="F5F5F5">
              <a:alpha val="100000"/>
            </a:srgbClr>
          </a:solidFill>
          <a:ln w="25400" cap="flat" cmpd="sng">
            <a:noFill/>
            <a:prstDash val="solid"/>
            <a:round/>
          </a:ln>
        </p:spPr>
        <p:txBody>
          <a:bodyPr vert="horz" wrap="square" lIns="47625" tIns="47625" rIns="47625" bIns="47625"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sz="1350" dirty="0"/>
          </a:p>
        </p:txBody>
      </p:sp>
      <mc:AlternateContent xmlns:mc="http://schemas.openxmlformats.org/markup-compatibility/2006">
        <mc:Choice xmlns:a14="http://schemas.microsoft.com/office/drawing/2010/main" Requires="a14">
          <p:sp>
            <p:nvSpPr>
              <p:cNvPr id="29" name="AutoShape 23"/>
              <p:cNvSpPr/>
              <p:nvPr/>
            </p:nvSpPr>
            <p:spPr>
              <a:xfrm>
                <a:off x="7026276" y="2852592"/>
                <a:ext cx="1873250" cy="594818"/>
              </a:xfrm>
              <a:prstGeom prst="rect">
                <a:avLst/>
              </a:prstGeom>
              <a:noFill/>
              <a:ln w="12700" cap="flat" cmpd="sng">
                <a:noFill/>
                <a:prstDash val="solid"/>
                <a:round/>
              </a:ln>
            </p:spPr>
            <p:txBody>
              <a:bodyPr vert="horz" wrap="square" lIns="0" tIns="0" rIns="0" bIns="0" rtlCol="0" anchor="ctr"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defRPr/>
                </a:pPr>
                <a:r>
                  <a:rPr lang="en-US" altLang="zh-CN" sz="1000" dirty="0"/>
                  <a:t>Numerator :</a:t>
                </a:r>
                <a:endParaRPr lang="en-US" altLang="zh-CN" sz="1000" dirty="0"/>
              </a:p>
              <a:p>
                <a:pPr>
                  <a:lnSpc>
                    <a:spcPct val="125000"/>
                  </a:lnSpc>
                  <a:defRPr/>
                </a:pPr>
                <a:r>
                  <a:rPr lang="en-US" altLang="zh-CN" sz="1000" dirty="0">
                    <a:solidFill>
                      <a:srgbClr val="646464"/>
                    </a:solidFill>
                    <a:latin typeface="Times New Roman" panose="02020603050405020304" pitchFamily="18" charset="0"/>
                    <a:ea typeface="等线" panose="02010600030101010101" charset="-122"/>
                    <a:cs typeface="Times New Roman" panose="02020603050405020304" pitchFamily="18" charset="0"/>
                  </a:rPr>
                  <a:t>Number of features with statistics </a:t>
                </a:r>
                <a:r>
                  <a:rPr lang="en-US" altLang="zh-CN" sz="1000" dirty="0">
                    <a:solidFill>
                      <a:srgbClr val="646464"/>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rPr>
                  <a:t> </a:t>
                </a:r>
                <a14:m>
                  <m:oMath xmlns:m="http://schemas.openxmlformats.org/officeDocument/2006/math">
                    <m:r>
                      <a:rPr lang="en-US" altLang="zh-CN" sz="1000" dirty="0">
                        <a:solidFill>
                          <a:srgbClr val="646464"/>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rPr>
                      <m:t>&lt;</m:t>
                    </m:r>
                  </m:oMath>
                </a14:m>
                <a:r>
                  <a:rPr lang="en-US" altLang="zh-CN" sz="1000" dirty="0">
                    <a:solidFill>
                      <a:srgbClr val="646464"/>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rPr>
                  <a:t>-τ </a:t>
                </a:r>
                <a:r>
                  <a:rPr lang="en-US" altLang="zh-CN" sz="1000" dirty="0">
                    <a:solidFill>
                      <a:srgbClr val="646464"/>
                    </a:solidFill>
                    <a:latin typeface="Times New Roman" panose="02020603050405020304" pitchFamily="18" charset="0"/>
                    <a:ea typeface="等线" panose="02010600030101010101" charset="-122"/>
                    <a:cs typeface="Times New Roman" panose="02020603050405020304" pitchFamily="18" charset="0"/>
                  </a:rPr>
                  <a:t>Estimates the number of "false positives" using symmetry.</a:t>
                </a:r>
                <a:r>
                  <a:rPr lang="en-US" altLang="zh-CN" sz="1000" dirty="0">
                    <a:solidFill>
                      <a:srgbClr val="646464"/>
                    </a:solidFill>
                    <a:latin typeface="等线" panose="02010600030101010101" charset="-122"/>
                    <a:ea typeface="等线" panose="02010600030101010101" charset="-122"/>
                  </a:rPr>
                  <a:t> </a:t>
                </a:r>
                <a:endParaRPr lang="en-US" altLang="zh-CN" sz="1000" dirty="0">
                  <a:solidFill>
                    <a:srgbClr val="646464"/>
                  </a:solidFill>
                  <a:latin typeface="等线" panose="02010600030101010101" charset="-122"/>
                  <a:ea typeface="等线" panose="02010600030101010101" charset="-122"/>
                </a:endParaRPr>
              </a:p>
              <a:p>
                <a:pPr>
                  <a:lnSpc>
                    <a:spcPct val="125000"/>
                  </a:lnSpc>
                  <a:defRPr/>
                </a:pPr>
                <a:endParaRPr lang="en-US" sz="1000" dirty="0">
                  <a:solidFill>
                    <a:srgbClr val="646464"/>
                  </a:solidFill>
                  <a:latin typeface="等线" panose="02010600030101010101" charset="-122"/>
                  <a:ea typeface="等线" panose="02010600030101010101" charset="-122"/>
                  <a:cs typeface="Noto Sans SC" panose="020B0200000000000000" charset="-122"/>
                  <a:sym typeface="Noto Sans SC" panose="020B0200000000000000" charset="-122"/>
                </a:endParaRPr>
              </a:p>
            </p:txBody>
          </p:sp>
        </mc:Choice>
        <mc:Fallback>
          <p:sp>
            <p:nvSpPr>
              <p:cNvPr id="29" name="AutoShape 23"/>
              <p:cNvSpPr>
                <a:spLocks noRot="1" noChangeAspect="1" noMove="1" noResize="1" noEditPoints="1" noAdjustHandles="1" noChangeArrowheads="1" noChangeShapeType="1" noTextEdit="1"/>
              </p:cNvSpPr>
              <p:nvPr/>
            </p:nvSpPr>
            <p:spPr>
              <a:xfrm>
                <a:off x="7026276" y="2852592"/>
                <a:ext cx="1873250" cy="594818"/>
              </a:xfrm>
              <a:prstGeom prst="rect">
                <a:avLst/>
              </a:prstGeom>
              <a:blipFill rotWithShape="1">
                <a:blip r:embed="rId5"/>
                <a:stretch>
                  <a:fillRect t="-31735" b="-31707"/>
                </a:stretch>
              </a:blipFill>
              <a:ln w="12700" cap="flat" cmpd="sng">
                <a:noFill/>
                <a:prstDash val="solid"/>
                <a:round/>
              </a:ln>
            </p:spPr>
            <p:txBody>
              <a:bodyPr/>
              <a:lstStyle/>
              <a:p>
                <a:r>
                  <a:rPr lang="zh-CN" altLang="en-US">
                    <a:noFill/>
                  </a:rPr>
                  <a:t> </a:t>
                </a:r>
              </a:p>
            </p:txBody>
          </p:sp>
        </mc:Fallback>
      </mc:AlternateContent>
      <p:sp>
        <p:nvSpPr>
          <p:cNvPr id="30" name="AutoShape 24"/>
          <p:cNvSpPr/>
          <p:nvPr/>
        </p:nvSpPr>
        <p:spPr>
          <a:xfrm>
            <a:off x="4890135" y="3542665"/>
            <a:ext cx="2021840" cy="817880"/>
          </a:xfrm>
          <a:prstGeom prst="roundRect">
            <a:avLst>
              <a:gd name="adj" fmla="val 7692"/>
            </a:avLst>
          </a:prstGeom>
          <a:solidFill>
            <a:srgbClr val="F5F5F5">
              <a:alpha val="100000"/>
            </a:srgbClr>
          </a:solidFill>
          <a:ln w="25400" cap="flat" cmpd="sng">
            <a:noFill/>
            <a:prstDash val="solid"/>
            <a:round/>
          </a:ln>
        </p:spPr>
        <p:txBody>
          <a:bodyPr vert="horz" wrap="square" lIns="47625" tIns="47625" rIns="47625" bIns="47625"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sz="1350"/>
          </a:p>
        </p:txBody>
      </p:sp>
      <mc:AlternateContent xmlns:mc="http://schemas.openxmlformats.org/markup-compatibility/2006">
        <mc:Choice xmlns:a14="http://schemas.microsoft.com/office/drawing/2010/main" Requires="a14">
          <p:sp>
            <p:nvSpPr>
              <p:cNvPr id="31" name="AutoShape 25"/>
              <p:cNvSpPr/>
              <p:nvPr/>
            </p:nvSpPr>
            <p:spPr>
              <a:xfrm>
                <a:off x="4889500" y="3658235"/>
                <a:ext cx="1993900" cy="775335"/>
              </a:xfrm>
              <a:prstGeom prst="rect">
                <a:avLst/>
              </a:prstGeom>
              <a:noFill/>
              <a:ln w="12700" cap="flat" cmpd="sng">
                <a:noFill/>
                <a:prstDash val="solid"/>
                <a:round/>
              </a:ln>
            </p:spPr>
            <p:txBody>
              <a:bodyPr vert="horz" wrap="square" lIns="0" tIns="0" rIns="0" bIns="0" rtlCol="0" anchor="ctr"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defRPr/>
                </a:pPr>
                <a:r>
                  <a:rPr lang="en-US" sz="825" b="1"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1000" b="1" dirty="0"/>
                  <a:t>Denominator:</a:t>
                </a:r>
                <a:r>
                  <a:rPr lang="en-US" altLang="zh-CN" sz="1000" dirty="0"/>
                  <a:t> </a:t>
                </a:r>
                <a:endParaRPr lang="en-US" sz="1000" b="1" dirty="0">
                  <a:solidFill>
                    <a:srgbClr val="333333"/>
                  </a:solidFill>
                  <a:latin typeface="等线" panose="02010600030101010101" charset="-122"/>
                  <a:ea typeface="等线" panose="02010600030101010101" charset="-122"/>
                </a:endParaRPr>
              </a:p>
              <a:p>
                <a:pPr>
                  <a:lnSpc>
                    <a:spcPct val="125000"/>
                  </a:lnSpc>
                </a:pPr>
                <a:r>
                  <a:rPr lang="en-US" altLang="zh-CN" sz="1100" dirty="0">
                    <a:solidFill>
                      <a:srgbClr val="646464"/>
                    </a:solidFill>
                    <a:latin typeface="Times New Roman" panose="02020603050405020304" pitchFamily="18" charset="0"/>
                    <a:ea typeface="等线" panose="02010600030101010101" charset="-122"/>
                    <a:cs typeface="Times New Roman" panose="02020603050405020304" pitchFamily="18" charset="0"/>
                  </a:rPr>
                  <a:t>Number of features with statistics</a:t>
                </a:r>
                <a14:m>
                  <m:oMath xmlns:m="http://schemas.openxmlformats.org/officeDocument/2006/math">
                    <m:r>
                      <a:rPr lang="en-US" altLang="zh-CN" sz="1100" dirty="0">
                        <a:solidFill>
                          <a:srgbClr val="646464"/>
                        </a:solidFill>
                        <a:latin typeface="Times New Roman" panose="02020603050405020304" pitchFamily="18" charset="0"/>
                        <a:ea typeface="等线" panose="02010600030101010101" charset="-122"/>
                        <a:cs typeface="Times New Roman" panose="02020603050405020304" pitchFamily="18" charset="0"/>
                      </a:rPr>
                      <m:t>&gt;</m:t>
                    </m:r>
                  </m:oMath>
                </a14:m>
                <a:r>
                  <a:rPr lang="en-US" altLang="zh-CN" sz="1100" dirty="0">
                    <a:solidFill>
                      <a:srgbClr val="646464"/>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rPr>
                  <a:t> τ .</a:t>
                </a:r>
                <a:r>
                  <a:rPr lang="en-US" altLang="zh-CN" sz="1100" dirty="0">
                    <a:solidFill>
                      <a:srgbClr val="646464"/>
                    </a:solidFill>
                    <a:latin typeface="Times New Roman" panose="02020603050405020304" pitchFamily="18" charset="0"/>
                    <a:ea typeface="等线" panose="02010600030101010101" charset="-122"/>
                    <a:cs typeface="Times New Roman" panose="02020603050405020304" pitchFamily="18" charset="0"/>
                  </a:rPr>
                  <a:t> Represents total "candidate discoveries."</a:t>
                </a:r>
                <a:endParaRPr lang="en-US" altLang="zh-CN" sz="1100" dirty="0">
                  <a:solidFill>
                    <a:srgbClr val="646464"/>
                  </a:solidFill>
                  <a:latin typeface="Times New Roman" panose="02020603050405020304" pitchFamily="18" charset="0"/>
                  <a:ea typeface="等线" panose="02010600030101010101" charset="-122"/>
                  <a:cs typeface="Times New Roman" panose="02020603050405020304" pitchFamily="18" charset="0"/>
                </a:endParaRPr>
              </a:p>
              <a:p>
                <a:pPr>
                  <a:lnSpc>
                    <a:spcPct val="125000"/>
                  </a:lnSpc>
                </a:pPr>
                <a:endParaRPr lang="en-US" altLang="zh-CN" sz="1100" dirty="0">
                  <a:solidFill>
                    <a:srgbClr val="646464"/>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endParaRPr>
              </a:p>
            </p:txBody>
          </p:sp>
        </mc:Choice>
        <mc:Fallback>
          <p:sp>
            <p:nvSpPr>
              <p:cNvPr id="31" name="AutoShape 25"/>
              <p:cNvSpPr>
                <a:spLocks noRot="1" noChangeAspect="1" noMove="1" noResize="1" noEditPoints="1" noAdjustHandles="1" noChangeArrowheads="1" noChangeShapeType="1" noTextEdit="1"/>
              </p:cNvSpPr>
              <p:nvPr/>
            </p:nvSpPr>
            <p:spPr>
              <a:xfrm>
                <a:off x="4889500" y="3658235"/>
                <a:ext cx="1993900" cy="775335"/>
              </a:xfrm>
              <a:prstGeom prst="rect">
                <a:avLst/>
              </a:prstGeom>
              <a:blipFill rotWithShape="1">
                <a:blip r:embed="rId6"/>
                <a:stretch>
                  <a:fillRect t="-17772" b="-17854"/>
                </a:stretch>
              </a:blipFill>
              <a:ln w="12700" cap="flat" cmpd="sng">
                <a:noFill/>
                <a:prstDash val="solid"/>
                <a:round/>
              </a:ln>
            </p:spPr>
            <p:txBody>
              <a:bodyPr/>
              <a:lstStyle/>
              <a:p>
                <a:r>
                  <a:rPr lang="zh-CN" altLang="en-US">
                    <a:noFill/>
                  </a:rPr>
                  <a:t> </a:t>
                </a:r>
              </a:p>
            </p:txBody>
          </p:sp>
        </mc:Fallback>
      </mc:AlternateContent>
      <p:sp>
        <p:nvSpPr>
          <p:cNvPr id="32" name="AutoShape 26"/>
          <p:cNvSpPr/>
          <p:nvPr/>
        </p:nvSpPr>
        <p:spPr>
          <a:xfrm>
            <a:off x="6950075" y="3542659"/>
            <a:ext cx="1885950" cy="817808"/>
          </a:xfrm>
          <a:prstGeom prst="roundRect">
            <a:avLst>
              <a:gd name="adj" fmla="val 7692"/>
            </a:avLst>
          </a:prstGeom>
          <a:solidFill>
            <a:srgbClr val="F5F5F5">
              <a:alpha val="100000"/>
            </a:srgbClr>
          </a:solidFill>
          <a:ln w="25400" cap="flat" cmpd="sng">
            <a:noFill/>
            <a:prstDash val="solid"/>
            <a:round/>
          </a:ln>
        </p:spPr>
        <p:txBody>
          <a:bodyPr vert="horz" wrap="square" lIns="47625" tIns="47625" rIns="47625" bIns="47625"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sz="1350"/>
          </a:p>
        </p:txBody>
      </p:sp>
      <mc:AlternateContent xmlns:mc="http://schemas.openxmlformats.org/markup-compatibility/2006">
        <mc:Choice xmlns:a14="http://schemas.microsoft.com/office/drawing/2010/main" Requires="a14">
          <p:sp>
            <p:nvSpPr>
              <p:cNvPr id="33" name="AutoShape 27"/>
              <p:cNvSpPr/>
              <p:nvPr/>
            </p:nvSpPr>
            <p:spPr>
              <a:xfrm>
                <a:off x="7026275" y="3769557"/>
                <a:ext cx="1762125" cy="344602"/>
              </a:xfrm>
              <a:prstGeom prst="rect">
                <a:avLst/>
              </a:prstGeom>
              <a:noFill/>
              <a:ln w="12700" cap="flat" cmpd="sng">
                <a:noFill/>
                <a:prstDash val="solid"/>
                <a:round/>
              </a:ln>
            </p:spPr>
            <p:txBody>
              <a:bodyPr vert="horz" wrap="square" lIns="0" tIns="0" rIns="0" bIns="0" rtlCol="0" anchor="ctr"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defRPr/>
                </a:pPr>
                <a:r>
                  <a:rPr lang="en-US" altLang="zh-CN" sz="1000" b="1" dirty="0"/>
                  <a:t>Final Selection: </a:t>
                </a:r>
                <a:endParaRPr lang="en-US" altLang="zh-CN" sz="1000" b="1" dirty="0"/>
              </a:p>
              <a:p>
                <a:pPr>
                  <a:lnSpc>
                    <a:spcPct val="125000"/>
                  </a:lnSpc>
                  <a:defRPr/>
                </a:pPr>
                <a14:m>
                  <m:oMathPara xmlns:m="http://schemas.openxmlformats.org/officeDocument/2006/math">
                    <m:oMathParaPr>
                      <m:jc m:val="centerGroup"/>
                    </m:oMathParaPr>
                    <m:oMath xmlns:m="http://schemas.openxmlformats.org/officeDocument/2006/math">
                      <m:sSup>
                        <m:sSupPr>
                          <m:ctrlPr>
                            <a:rPr lang="en-US" altLang="zh-CN" sz="1000" i="1" smtClean="0">
                              <a:solidFill>
                                <a:srgbClr val="646464"/>
                              </a:solidFill>
                              <a:latin typeface="Cambria Math" panose="02040503050406030204" pitchFamily="18" charset="0"/>
                              <a:ea typeface="Noto Sans SC" panose="020B0200000000000000" charset="-122"/>
                              <a:sym typeface="Noto Sans SC" panose="020B0200000000000000" charset="-122"/>
                            </a:rPr>
                          </m:ctrlPr>
                        </m:sSupPr>
                        <m:e>
                          <m:acc>
                            <m:accPr>
                              <m:ctrlPr>
                                <a:rPr lang="en-US" altLang="zh-CN" sz="1000" i="1">
                                  <a:solidFill>
                                    <a:srgbClr val="646464"/>
                                  </a:solidFill>
                                  <a:latin typeface="Cambria Math" panose="02040503050406030204" pitchFamily="18" charset="0"/>
                                  <a:ea typeface="Noto Sans SC" panose="020B0200000000000000" charset="-122"/>
                                  <a:sym typeface="Noto Sans SC" panose="020B0200000000000000" charset="-122"/>
                                </a:rPr>
                              </m:ctrlPr>
                            </m:accPr>
                            <m:e>
                              <m:r>
                                <a:rPr lang="en-US" altLang="zh-CN" sz="1000" i="1">
                                  <a:solidFill>
                                    <a:srgbClr val="646464"/>
                                  </a:solidFill>
                                  <a:latin typeface="Cambria Math" panose="02040503050406030204" pitchFamily="18" charset="0"/>
                                  <a:ea typeface="Noto Sans SC" panose="020B0200000000000000" charset="-122"/>
                                  <a:sym typeface="Noto Sans SC" panose="020B0200000000000000" charset="-122"/>
                                </a:rPr>
                                <m:t>𝑆</m:t>
                              </m:r>
                            </m:e>
                          </m:acc>
                        </m:e>
                        <m:sup>
                          <m:r>
                            <a:rPr lang="en-US" altLang="zh-CN" sz="1000" b="0" i="1" smtClean="0">
                              <a:solidFill>
                                <a:srgbClr val="646464"/>
                              </a:solidFill>
                              <a:latin typeface="Cambria Math" panose="02040503050406030204" pitchFamily="18" charset="0"/>
                              <a:ea typeface="Noto Sans SC" panose="020B0200000000000000" charset="-122"/>
                              <a:sym typeface="Noto Sans SC" panose="020B0200000000000000" charset="-122"/>
                            </a:rPr>
                            <m:t>(</m:t>
                          </m:r>
                          <m:r>
                            <a:rPr lang="en-US" altLang="zh-CN" sz="1000" b="0" i="1" smtClean="0">
                              <a:solidFill>
                                <a:srgbClr val="646464"/>
                              </a:solidFill>
                              <a:latin typeface="Cambria Math" panose="02040503050406030204" pitchFamily="18" charset="0"/>
                              <a:ea typeface="Noto Sans SC" panose="020B0200000000000000" charset="-122"/>
                              <a:sym typeface="Noto Sans SC" panose="020B0200000000000000" charset="-122"/>
                            </a:rPr>
                            <m:t>𝑠</m:t>
                          </m:r>
                          <m:r>
                            <a:rPr lang="en-US" altLang="zh-CN" sz="1000" b="0" i="1" smtClean="0">
                              <a:solidFill>
                                <a:srgbClr val="646464"/>
                              </a:solidFill>
                              <a:latin typeface="Cambria Math" panose="02040503050406030204" pitchFamily="18" charset="0"/>
                              <a:ea typeface="Noto Sans SC" panose="020B0200000000000000" charset="-122"/>
                              <a:sym typeface="Noto Sans SC" panose="020B0200000000000000" charset="-122"/>
                            </a:rPr>
                            <m:t>,</m:t>
                          </m:r>
                          <m:r>
                            <a:rPr lang="en-US" altLang="zh-CN" sz="1000" b="0" i="1" smtClean="0">
                              <a:solidFill>
                                <a:srgbClr val="646464"/>
                              </a:solidFill>
                              <a:latin typeface="Cambria Math" panose="02040503050406030204" pitchFamily="18" charset="0"/>
                              <a:ea typeface="Noto Sans SC" panose="020B0200000000000000" charset="-122"/>
                              <a:sym typeface="Noto Sans SC" panose="020B0200000000000000" charset="-122"/>
                            </a:rPr>
                            <m:t>𝑡</m:t>
                          </m:r>
                          <m:r>
                            <a:rPr lang="en-US" altLang="zh-CN" sz="1000" b="0" i="1" smtClean="0">
                              <a:solidFill>
                                <a:srgbClr val="646464"/>
                              </a:solidFill>
                              <a:latin typeface="Cambria Math" panose="02040503050406030204" pitchFamily="18" charset="0"/>
                              <a:ea typeface="Noto Sans SC" panose="020B0200000000000000" charset="-122"/>
                              <a:sym typeface="Noto Sans SC" panose="020B0200000000000000" charset="-122"/>
                            </a:rPr>
                            <m:t>)</m:t>
                          </m:r>
                        </m:sup>
                      </m:sSup>
                      <m:r>
                        <a:rPr lang="en-US" altLang="zh-CN" sz="1000" b="0" i="1" smtClean="0">
                          <a:solidFill>
                            <a:srgbClr val="646464"/>
                          </a:solidFill>
                          <a:latin typeface="Cambria Math" panose="02040503050406030204" pitchFamily="18" charset="0"/>
                          <a:ea typeface="Noto Sans SC" panose="020B0200000000000000" charset="-122"/>
                          <a:sym typeface="Noto Sans SC" panose="020B0200000000000000" charset="-122"/>
                        </a:rPr>
                        <m:t>={</m:t>
                      </m:r>
                      <m:r>
                        <a:rPr lang="en-US" altLang="zh-CN" sz="1000" b="0" i="1" smtClean="0">
                          <a:solidFill>
                            <a:srgbClr val="646464"/>
                          </a:solidFill>
                          <a:latin typeface="Cambria Math" panose="02040503050406030204" pitchFamily="18" charset="0"/>
                          <a:ea typeface="Noto Sans SC" panose="020B0200000000000000" charset="-122"/>
                          <a:sym typeface="Noto Sans SC" panose="020B0200000000000000" charset="-122"/>
                        </a:rPr>
                        <m:t>𝐽</m:t>
                      </m:r>
                      <m:r>
                        <a:rPr lang="en-US" altLang="zh-CN" sz="1000" b="0" i="1" smtClean="0">
                          <a:solidFill>
                            <a:srgbClr val="646464"/>
                          </a:solidFill>
                          <a:latin typeface="Cambria Math" panose="02040503050406030204" pitchFamily="18" charset="0"/>
                          <a:ea typeface="Noto Sans SC" panose="020B0200000000000000" charset="-122"/>
                          <a:sym typeface="Noto Sans SC" panose="020B0200000000000000" charset="-122"/>
                        </a:rPr>
                        <m:t>:</m:t>
                      </m:r>
                      <m:sSubSup>
                        <m:sSubSupPr>
                          <m:ctrlPr>
                            <a:rPr lang="en-US" altLang="zh-CN" sz="1000" b="0" i="1" smtClean="0">
                              <a:solidFill>
                                <a:srgbClr val="646464"/>
                              </a:solidFill>
                              <a:latin typeface="Cambria Math" panose="02040503050406030204" pitchFamily="18" charset="0"/>
                              <a:ea typeface="Noto Sans SC" panose="020B0200000000000000" charset="-122"/>
                              <a:sym typeface="Noto Sans SC" panose="020B0200000000000000" charset="-122"/>
                            </a:rPr>
                          </m:ctrlPr>
                        </m:sSubSupPr>
                        <m:e>
                          <m:r>
                            <a:rPr lang="en-US" altLang="zh-CN" sz="1000" b="0" i="1" smtClean="0">
                              <a:solidFill>
                                <a:srgbClr val="646464"/>
                              </a:solidFill>
                              <a:latin typeface="Cambria Math" panose="02040503050406030204" pitchFamily="18" charset="0"/>
                              <a:ea typeface="Noto Sans SC" panose="020B0200000000000000" charset="-122"/>
                              <a:sym typeface="Noto Sans SC" panose="020B0200000000000000" charset="-122"/>
                            </a:rPr>
                            <m:t>𝑀</m:t>
                          </m:r>
                        </m:e>
                        <m:sub>
                          <m:r>
                            <a:rPr lang="en-US" altLang="zh-CN" sz="1000" b="0" i="1" smtClean="0">
                              <a:solidFill>
                                <a:srgbClr val="646464"/>
                              </a:solidFill>
                              <a:latin typeface="Cambria Math" panose="02040503050406030204" pitchFamily="18" charset="0"/>
                              <a:ea typeface="Noto Sans SC" panose="020B0200000000000000" charset="-122"/>
                              <a:sym typeface="Noto Sans SC" panose="020B0200000000000000" charset="-122"/>
                            </a:rPr>
                            <m:t>𝑗</m:t>
                          </m:r>
                        </m:sub>
                        <m:sup>
                          <m:d>
                            <m:dPr>
                              <m:ctrlPr>
                                <a:rPr lang="en-US" altLang="zh-CN" sz="1000" b="0" i="1" smtClean="0">
                                  <a:solidFill>
                                    <a:srgbClr val="646464"/>
                                  </a:solidFill>
                                  <a:latin typeface="Cambria Math" panose="02040503050406030204" pitchFamily="18" charset="0"/>
                                  <a:ea typeface="Noto Sans SC" panose="020B0200000000000000" charset="-122"/>
                                  <a:sym typeface="Noto Sans SC" panose="020B0200000000000000" charset="-122"/>
                                </a:rPr>
                              </m:ctrlPr>
                            </m:dPr>
                            <m:e>
                              <m:r>
                                <a:rPr lang="en-US" altLang="zh-CN" sz="1000" b="0" i="1" smtClean="0">
                                  <a:solidFill>
                                    <a:srgbClr val="646464"/>
                                  </a:solidFill>
                                  <a:latin typeface="Cambria Math" panose="02040503050406030204" pitchFamily="18" charset="0"/>
                                  <a:ea typeface="Noto Sans SC" panose="020B0200000000000000" charset="-122"/>
                                  <a:sym typeface="Noto Sans SC" panose="020B0200000000000000" charset="-122"/>
                                </a:rPr>
                                <m:t>𝑠</m:t>
                              </m:r>
                              <m:r>
                                <a:rPr lang="en-US" altLang="zh-CN" sz="1000" b="0" i="1" smtClean="0">
                                  <a:solidFill>
                                    <a:srgbClr val="646464"/>
                                  </a:solidFill>
                                  <a:latin typeface="Cambria Math" panose="02040503050406030204" pitchFamily="18" charset="0"/>
                                  <a:ea typeface="Noto Sans SC" panose="020B0200000000000000" charset="-122"/>
                                  <a:sym typeface="Noto Sans SC" panose="020B0200000000000000" charset="-122"/>
                                </a:rPr>
                                <m:t>,</m:t>
                              </m:r>
                              <m:r>
                                <a:rPr lang="en-US" altLang="zh-CN" sz="1000" b="0" i="1" smtClean="0">
                                  <a:solidFill>
                                    <a:srgbClr val="646464"/>
                                  </a:solidFill>
                                  <a:latin typeface="Cambria Math" panose="02040503050406030204" pitchFamily="18" charset="0"/>
                                  <a:ea typeface="Noto Sans SC" panose="020B0200000000000000" charset="-122"/>
                                  <a:sym typeface="Noto Sans SC" panose="020B0200000000000000" charset="-122"/>
                                </a:rPr>
                                <m:t>𝑡</m:t>
                              </m:r>
                            </m:e>
                          </m:d>
                        </m:sup>
                      </m:sSubSup>
                      <m:r>
                        <a:rPr lang="en-US" altLang="zh-CN" sz="1000" b="0" i="1" smtClean="0">
                          <a:solidFill>
                            <a:srgbClr val="646464"/>
                          </a:solidFill>
                          <a:latin typeface="Cambria Math" panose="02040503050406030204" pitchFamily="18" charset="0"/>
                          <a:ea typeface="Cambria Math" panose="02040503050406030204" pitchFamily="18" charset="0"/>
                          <a:sym typeface="Noto Sans SC" panose="020B0200000000000000" charset="-122"/>
                        </a:rPr>
                        <m:t>&gt;</m:t>
                      </m:r>
                      <m:sSubSup>
                        <m:sSubSupPr>
                          <m:ctrlPr>
                            <a:rPr lang="en-US" altLang="zh-CN" sz="1000" b="0" i="1" smtClean="0">
                              <a:solidFill>
                                <a:srgbClr val="646464"/>
                              </a:solidFill>
                              <a:latin typeface="Cambria Math" panose="02040503050406030204" pitchFamily="18" charset="0"/>
                              <a:ea typeface="Cambria Math" panose="02040503050406030204" pitchFamily="18" charset="0"/>
                              <a:sym typeface="Noto Sans SC" panose="020B0200000000000000" charset="-122"/>
                            </a:rPr>
                          </m:ctrlPr>
                        </m:sSubSupPr>
                        <m:e>
                          <m:r>
                            <a:rPr lang="zh-CN" altLang="en-US" sz="1000" b="0" i="1" smtClean="0">
                              <a:solidFill>
                                <a:srgbClr val="646464"/>
                              </a:solidFill>
                              <a:latin typeface="Cambria Math" panose="02040503050406030204" pitchFamily="18" charset="0"/>
                              <a:ea typeface="Cambria Math" panose="02040503050406030204" pitchFamily="18" charset="0"/>
                              <a:sym typeface="Noto Sans SC" panose="020B0200000000000000" charset="-122"/>
                            </a:rPr>
                            <m:t>𝜏</m:t>
                          </m:r>
                        </m:e>
                        <m:sub>
                          <m:r>
                            <a:rPr lang="zh-CN" altLang="en-US" sz="1000" b="0" i="1" smtClean="0">
                              <a:solidFill>
                                <a:srgbClr val="646464"/>
                              </a:solidFill>
                              <a:latin typeface="Cambria Math" panose="02040503050406030204" pitchFamily="18" charset="0"/>
                              <a:ea typeface="Cambria Math" panose="02040503050406030204" pitchFamily="18" charset="0"/>
                              <a:sym typeface="Noto Sans SC" panose="020B0200000000000000" charset="-122"/>
                            </a:rPr>
                            <m:t>𝛼</m:t>
                          </m:r>
                        </m:sub>
                        <m:sup>
                          <m:d>
                            <m:dPr>
                              <m:ctrlPr>
                                <a:rPr lang="en-US" altLang="zh-CN" sz="1000" b="0" i="1" smtClean="0">
                                  <a:solidFill>
                                    <a:srgbClr val="646464"/>
                                  </a:solidFill>
                                  <a:latin typeface="Cambria Math" panose="02040503050406030204" pitchFamily="18" charset="0"/>
                                  <a:ea typeface="Cambria Math" panose="02040503050406030204" pitchFamily="18" charset="0"/>
                                  <a:sym typeface="Noto Sans SC" panose="020B0200000000000000" charset="-122"/>
                                </a:rPr>
                              </m:ctrlPr>
                            </m:dPr>
                            <m:e>
                              <m:r>
                                <a:rPr lang="en-US" altLang="zh-CN" sz="1000" b="0" i="1" smtClean="0">
                                  <a:solidFill>
                                    <a:srgbClr val="646464"/>
                                  </a:solidFill>
                                  <a:latin typeface="Cambria Math" panose="02040503050406030204" pitchFamily="18" charset="0"/>
                                  <a:ea typeface="Cambria Math" panose="02040503050406030204" pitchFamily="18" charset="0"/>
                                  <a:sym typeface="Noto Sans SC" panose="020B0200000000000000" charset="-122"/>
                                </a:rPr>
                                <m:t>𝑠</m:t>
                              </m:r>
                              <m:r>
                                <a:rPr lang="en-US" altLang="zh-CN" sz="1000" b="0" i="1" smtClean="0">
                                  <a:solidFill>
                                    <a:srgbClr val="646464"/>
                                  </a:solidFill>
                                  <a:latin typeface="Cambria Math" panose="02040503050406030204" pitchFamily="18" charset="0"/>
                                  <a:ea typeface="Cambria Math" panose="02040503050406030204" pitchFamily="18" charset="0"/>
                                  <a:sym typeface="Noto Sans SC" panose="020B0200000000000000" charset="-122"/>
                                </a:rPr>
                                <m:t>,</m:t>
                              </m:r>
                              <m:r>
                                <a:rPr lang="en-US" altLang="zh-CN" sz="1000" b="0" i="1" smtClean="0">
                                  <a:solidFill>
                                    <a:srgbClr val="646464"/>
                                  </a:solidFill>
                                  <a:latin typeface="Cambria Math" panose="02040503050406030204" pitchFamily="18" charset="0"/>
                                  <a:ea typeface="Cambria Math" panose="02040503050406030204" pitchFamily="18" charset="0"/>
                                  <a:sym typeface="Noto Sans SC" panose="020B0200000000000000" charset="-122"/>
                                </a:rPr>
                                <m:t>𝑡</m:t>
                              </m:r>
                            </m:e>
                          </m:d>
                        </m:sup>
                      </m:sSubSup>
                      <m:r>
                        <a:rPr lang="en-US" altLang="zh-CN" sz="1000" b="0" i="1" smtClean="0">
                          <a:solidFill>
                            <a:srgbClr val="646464"/>
                          </a:solidFill>
                          <a:latin typeface="Cambria Math" panose="02040503050406030204" pitchFamily="18" charset="0"/>
                          <a:ea typeface="Cambria Math" panose="02040503050406030204" pitchFamily="18" charset="0"/>
                          <a:sym typeface="Noto Sans SC" panose="020B0200000000000000" charset="-122"/>
                        </a:rPr>
                        <m:t>}</m:t>
                      </m:r>
                    </m:oMath>
                  </m:oMathPara>
                </a14:m>
                <a:endParaRPr lang="en-US" sz="1000" dirty="0">
                  <a:solidFill>
                    <a:srgbClr val="646464"/>
                  </a:solidFill>
                  <a:latin typeface="等线" panose="02010600030101010101" charset="-122"/>
                  <a:ea typeface="等线" panose="02010600030101010101" charset="-122"/>
                  <a:cs typeface="Noto Sans SC" panose="020B0200000000000000" charset="-122"/>
                  <a:sym typeface="Noto Sans SC" panose="020B0200000000000000" charset="-122"/>
                </a:endParaRPr>
              </a:p>
            </p:txBody>
          </p:sp>
        </mc:Choice>
        <mc:Fallback>
          <p:sp>
            <p:nvSpPr>
              <p:cNvPr id="33" name="AutoShape 27"/>
              <p:cNvSpPr>
                <a:spLocks noRot="1" noChangeAspect="1" noMove="1" noResize="1" noEditPoints="1" noAdjustHandles="1" noChangeArrowheads="1" noChangeShapeType="1" noTextEdit="1"/>
              </p:cNvSpPr>
              <p:nvPr/>
            </p:nvSpPr>
            <p:spPr>
              <a:xfrm>
                <a:off x="7026275" y="3769557"/>
                <a:ext cx="1762125" cy="344602"/>
              </a:xfrm>
              <a:prstGeom prst="rect">
                <a:avLst/>
              </a:prstGeom>
              <a:blipFill rotWithShape="1">
                <a:blip r:embed="rId7"/>
                <a:stretch>
                  <a:fillRect t="-13877" b="-13822"/>
                </a:stretch>
              </a:blipFill>
              <a:ln w="12700" cap="flat" cmpd="sng">
                <a:noFill/>
                <a:prstDash val="solid"/>
                <a:round/>
              </a:ln>
            </p:spPr>
            <p:txBody>
              <a:bodyPr/>
              <a:lstStyle/>
              <a:p>
                <a:r>
                  <a:rPr lang="zh-CN" altLang="en-US">
                    <a:noFill/>
                  </a:rPr>
                  <a:t> </a:t>
                </a:r>
              </a:p>
            </p:txBody>
          </p:sp>
        </mc:Fallback>
      </mc:AlternateContent>
      <p:sp>
        <p:nvSpPr>
          <p:cNvPr id="43" name="AutoShape 32"/>
          <p:cNvSpPr/>
          <p:nvPr/>
        </p:nvSpPr>
        <p:spPr>
          <a:xfrm>
            <a:off x="4972050" y="4572577"/>
            <a:ext cx="4000500" cy="428625"/>
          </a:xfrm>
          <a:prstGeom prst="rect">
            <a:avLst/>
          </a:prstGeom>
          <a:noFill/>
          <a:ln w="12700" cap="flat" cmpd="sng">
            <a:noFill/>
            <a:prstDash val="solid"/>
            <a:round/>
          </a:ln>
        </p:spPr>
        <p:txBody>
          <a:bodyPr vert="horz" wrap="square" lIns="0" tIns="0" rIns="0" bIns="0" rtlCol="0" anchor="ctr" anchorCtr="0"/>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pPr>
            <a:r>
              <a:rPr lang="en-US" altLang="zh-CN" sz="1000" dirty="0">
                <a:solidFill>
                  <a:srgbClr val="4B5563"/>
                </a:solidFill>
                <a:latin typeface="等线" panose="02010600030101010101" charset="-122"/>
                <a:ea typeface="等线" panose="02010600030101010101" charset="-122"/>
                <a:cs typeface="Noto Sans SC" panose="020B0200000000000000" charset="-122"/>
                <a:sym typeface="Noto Sans SC" panose="020B0200000000000000" charset="-122"/>
              </a:rPr>
              <a:t>For multi-site scenarios with K&gt;2, we further propose an aggregation strategy that significantly improves statistical power while ensuring FDR control.</a:t>
            </a:r>
            <a:endParaRPr lang="en-US" altLang="zh-CN" sz="1000" dirty="0">
              <a:solidFill>
                <a:srgbClr val="4B5563"/>
              </a:solidFill>
              <a:latin typeface="等线" panose="02010600030101010101" charset="-122"/>
              <a:ea typeface="等线" panose="02010600030101010101" charset="-122"/>
              <a:cs typeface="Noto Sans SC" panose="020B0200000000000000" charset="-122"/>
              <a:sym typeface="Noto Sans SC" panose="020B02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9276" r="9276"/>
          <a:stretch>
            <a:fillRect/>
          </a:stretch>
        </p:blipFill>
        <p:spPr>
          <a:xfrm>
            <a:off x="0" y="0"/>
            <a:ext cx="9144000" cy="1028700"/>
          </a:xfrm>
          <a:prstGeom prst="rect">
            <a:avLst/>
          </a:prstGeom>
          <a:noFill/>
          <a:ln w="25400" cap="flat" cmpd="sng">
            <a:noFill/>
            <a:prstDash val="solid"/>
            <a:round/>
          </a:ln>
        </p:spPr>
      </p:pic>
      <p:sp>
        <p:nvSpPr>
          <p:cNvPr id="3" name="AutoShape 3"/>
          <p:cNvSpPr/>
          <p:nvPr/>
        </p:nvSpPr>
        <p:spPr>
          <a:xfrm>
            <a:off x="508000" y="25400"/>
            <a:ext cx="8001000" cy="800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ts val="3150"/>
              </a:lnSpc>
              <a:defRPr/>
            </a:pPr>
            <a:r>
              <a:rPr lang="en-US" sz="23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Desparsified Lasso</a:t>
            </a:r>
            <a:endParaRPr lang="en-US" sz="1100"/>
          </a:p>
        </p:txBody>
      </p:sp>
      <p:sp>
        <p:nvSpPr>
          <p:cNvPr id="4" name="AutoShape 4"/>
          <p:cNvSpPr/>
          <p:nvPr/>
        </p:nvSpPr>
        <p:spPr>
          <a:xfrm>
            <a:off x="292100" y="901700"/>
            <a:ext cx="8572500" cy="2286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Theoretical Foundation: High-Dimensional GLM &amp; Lasso Estimation</a:t>
            </a:r>
            <a:endParaRPr lang="en-US" sz="1100"/>
          </a:p>
        </p:txBody>
      </p:sp>
      <p:sp>
        <p:nvSpPr>
          <p:cNvPr id="5" name="AutoShape 5"/>
          <p:cNvSpPr/>
          <p:nvPr/>
        </p:nvSpPr>
        <p:spPr>
          <a:xfrm>
            <a:off x="292100" y="1193800"/>
            <a:ext cx="4144010" cy="1247140"/>
          </a:xfrm>
          <a:prstGeom prst="roundRect">
            <a:avLst>
              <a:gd name="adj" fmla="val 8139"/>
            </a:avLst>
          </a:prstGeom>
          <a:solidFill>
            <a:srgbClr val="F0F4FF">
              <a:alpha val="100000"/>
            </a:srgbClr>
          </a:solidFill>
          <a:ln w="12700" cap="flat" cmpd="sng">
            <a:solidFill>
              <a:srgbClr val="C1CBE6">
                <a:alpha val="100000"/>
              </a:srgbClr>
            </a:solidFill>
            <a:prstDash val="solid"/>
            <a:round/>
          </a:ln>
        </p:spPr>
        <p:txBody>
          <a:bodyPr vert="horz" wrap="square" lIns="63500" tIns="63500" rIns="63500" bIns="63500" rtlCol="0" anchor="ctr"/>
          <a:lstStyle/>
          <a:p>
            <a:pPr algn="ctr">
              <a:defRPr/>
            </a:pPr>
          </a:p>
        </p:txBody>
      </p:sp>
      <mc:AlternateContent xmlns:mc="http://schemas.openxmlformats.org/markup-compatibility/2006">
        <mc:Choice xmlns:a14="http://schemas.microsoft.com/office/drawing/2010/main" Requires="a14">
          <p:sp>
            <p:nvSpPr>
              <p:cNvPr id="6" name="AutoShape 6"/>
              <p:cNvSpPr/>
              <p:nvPr/>
            </p:nvSpPr>
            <p:spPr>
              <a:xfrm>
                <a:off x="381000" y="1616710"/>
                <a:ext cx="4055110" cy="47752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▍High-Dimensional Lasso Estimation</a:t>
                </a:r>
                <a:endParaRPr lang="en-US" sz="1100"/>
              </a:p>
              <a:p>
                <a:pPr indent="0" algn="l">
                  <a:lnSpc>
                    <a:spcPct val="100000"/>
                  </a:lnSpc>
                </a:pPr>
                <a:r>
                  <a:rPr lang="en-US" sz="1000" b="0" i="0" u="none" strike="noStrike">
                    <a:solidFill>
                      <a:srgbClr val="505050"/>
                    </a:solidFill>
                    <a:latin typeface="Times New Roman" panose="02020603050405020304" pitchFamily="18" charset="0"/>
                    <a:ea typeface="等线" panose="02010600030101010101" charset="-122"/>
                    <a:cs typeface="Times New Roman" panose="02020603050405020304" pitchFamily="18" charset="0"/>
                    <a:sym typeface="等线" panose="02010600030101010101" charset="-122"/>
                  </a:rPr>
                  <a:t> </a:t>
                </a:r>
                <a:r>
                  <a:rPr lang="en-US" altLang="zh-CN" sz="1000" b="0" i="0" u="none" strike="noStrike">
                    <a:solidFill>
                      <a:srgbClr val="505050"/>
                    </a:solidFill>
                    <a:latin typeface="Times New Roman" panose="02020603050405020304" pitchFamily="18" charset="0"/>
                    <a:ea typeface="等线" panose="02010600030101010101" charset="-122"/>
                    <a:cs typeface="Times New Roman" panose="02020603050405020304" pitchFamily="18" charset="0"/>
                    <a:sym typeface="等线" panose="02010600030101010101" charset="-122"/>
                  </a:rPr>
                  <a:t>Based on the definition of the Generalized Linear Model (GLM), its core loss function is:</a:t>
                </a:r>
                <a:endParaRPr lang="en-US" altLang="zh-CN" sz="1000" b="0" i="0" u="none" strike="noStrike">
                  <a:solidFill>
                    <a:srgbClr val="505050"/>
                  </a:solidFill>
                  <a:latin typeface="Times New Roman" panose="02020603050405020304" pitchFamily="18" charset="0"/>
                  <a:ea typeface="等线" panose="02010600030101010101" charset="-122"/>
                  <a:cs typeface="Times New Roman" panose="02020603050405020304" pitchFamily="18" charset="0"/>
                  <a:sym typeface="等线" panose="02010600030101010101" charset="-122"/>
                </a:endParaRPr>
              </a:p>
              <a:p>
                <a:pPr indent="0" algn="l">
                  <a:lnSpc>
                    <a:spcPct val="100000"/>
                  </a:lnSpc>
                </a:pPr>
                <a:endParaRPr lang="en-US" altLang="zh-CN" sz="1200" b="0" i="0" u="none" strike="noStrike">
                  <a:solidFill>
                    <a:srgbClr val="505050"/>
                  </a:solidFill>
                  <a:latin typeface="Times New Roman" panose="02020603050405020304" pitchFamily="18" charset="0"/>
                  <a:ea typeface="等线" panose="02010600030101010101" charset="-122"/>
                  <a:cs typeface="Times New Roman" panose="02020603050405020304" pitchFamily="18" charset="0"/>
                  <a:sym typeface="等线" panose="02010600030101010101" charset="-122"/>
                </a:endParaRPr>
              </a:p>
              <a:p>
                <a:pPr indent="0" algn="l">
                  <a:lnSpc>
                    <a:spcPct val="100000"/>
                  </a:lnSpc>
                </a:pPr>
                <a:endParaRPr lang="en-US" altLang="zh-CN" sz="1200" b="0" i="0" u="none" strike="noStrike">
                  <a:solidFill>
                    <a:srgbClr val="505050"/>
                  </a:solidFill>
                  <a:latin typeface="Times New Roman" panose="02020603050405020304" pitchFamily="18" charset="0"/>
                  <a:ea typeface="等线" panose="02010600030101010101" charset="-122"/>
                  <a:cs typeface="Times New Roman" panose="02020603050405020304" pitchFamily="18" charset="0"/>
                  <a:sym typeface="等线" panose="02010600030101010101" charset="-122"/>
                </a:endParaRPr>
              </a:p>
              <a:p>
                <a:pPr indent="0" algn="l">
                  <a:lnSpc>
                    <a:spcPct val="100000"/>
                  </a:lnSpc>
                </a:pPr>
                <a:r>
                  <a:rPr lang="en-US" altLang="zh-CN" sz="1000" b="0" i="0" u="none" strike="noStrike">
                    <a:solidFill>
                      <a:srgbClr val="505050"/>
                    </a:solidFill>
                    <a:latin typeface="Times New Roman" panose="02020603050405020304" pitchFamily="18" charset="0"/>
                    <a:ea typeface="等线" panose="02010600030101010101" charset="-122"/>
                    <a:cs typeface="Times New Roman" panose="02020603050405020304" pitchFamily="18" charset="0"/>
                    <a:sym typeface="等线" panose="02010600030101010101" charset="-122"/>
                  </a:rPr>
                  <a:t>where </a:t>
                </a:r>
                <a14:m>
                  <m:oMath xmlns:m="http://schemas.openxmlformats.org/officeDocument/2006/math">
                    <m:r>
                      <a:rPr lang="en-US" sz="1000" i="1" smtClean="0">
                        <a:solidFill>
                          <a:srgbClr val="505050"/>
                        </a:solidFill>
                        <a:latin typeface="Cambria Math" panose="02040503050406030204" pitchFamily="18" charset="0"/>
                        <a:ea typeface="Cambria Math" panose="02040503050406030204" pitchFamily="18" charset="0"/>
                        <a:cs typeface="Noto Sans SC" panose="020B0200000000000000" charset="-122"/>
                        <a:sym typeface="Noto Sans SC" panose="020B0200000000000000" charset="-122"/>
                      </a:rPr>
                      <m:t>𝜌</m:t>
                    </m:r>
                    <m:d>
                      <m:dPr>
                        <m:ctrlPr>
                          <a:rPr lang="en-US" altLang="zh-CN" sz="1000" i="1" smtClean="0">
                            <a:solidFill>
                              <a:srgbClr val="505050"/>
                            </a:solidFill>
                            <a:latin typeface="Cambria Math" panose="02040503050406030204" pitchFamily="18" charset="0"/>
                            <a:ea typeface="Cambria Math" panose="02040503050406030204" pitchFamily="18" charset="0"/>
                            <a:sym typeface="Noto Sans SC" panose="020B0200000000000000" charset="-122"/>
                          </a:rPr>
                        </m:ctrlPr>
                      </m:dPr>
                      <m:e>
                        <m:r>
                          <a:rPr lang="en-US" altLang="zh-CN" sz="1000" i="1" smtClean="0">
                            <a:solidFill>
                              <a:srgbClr val="505050"/>
                            </a:solidFill>
                            <a:latin typeface="Cambria Math" panose="02040503050406030204" pitchFamily="18" charset="0"/>
                            <a:ea typeface="Cambria Math" panose="02040503050406030204" pitchFamily="18" charset="0"/>
                            <a:sym typeface="Noto Sans SC" panose="020B0200000000000000" charset="-122"/>
                          </a:rPr>
                          <m:t>∙</m:t>
                        </m:r>
                      </m:e>
                    </m:d>
                  </m:oMath>
                </a14:m>
                <a:r>
                  <a:rPr lang="en-US" altLang="zh-CN" sz="1000" b="0" i="0" u="none" strike="noStrike">
                    <a:solidFill>
                      <a:srgbClr val="505050"/>
                    </a:solidFill>
                    <a:latin typeface="Times New Roman" panose="02020603050405020304" pitchFamily="18" charset="0"/>
                    <a:ea typeface="等线" panose="02010600030101010101" charset="-122"/>
                    <a:cs typeface="Times New Roman" panose="02020603050405020304" pitchFamily="18" charset="0"/>
                    <a:sym typeface="等线" panose="02010600030101010101" charset="-122"/>
                  </a:rPr>
                  <a:t> is a strictly convex function that supports different scenarios such as linear regression and logistic regression, and serves as the foundation for subsequent derivations.</a:t>
                </a:r>
                <a:endParaRPr lang="en-US" altLang="zh-CN" sz="1000" b="0" i="0" u="none" strike="noStrike">
                  <a:solidFill>
                    <a:srgbClr val="505050"/>
                  </a:solidFill>
                  <a:latin typeface="Times New Roman" panose="02020603050405020304" pitchFamily="18" charset="0"/>
                  <a:ea typeface="等线" panose="02010600030101010101" charset="-122"/>
                  <a:cs typeface="Times New Roman" panose="02020603050405020304" pitchFamily="18" charset="0"/>
                  <a:sym typeface="等线" panose="02010600030101010101" charset="-122"/>
                </a:endParaRPr>
              </a:p>
              <a:p>
                <a:pPr indent="0" algn="l">
                  <a:lnSpc>
                    <a:spcPct val="100000"/>
                  </a:lnSpc>
                </a:pPr>
                <a:endParaRPr lang="en-US" altLang="zh-CN" sz="1000" b="0" i="0" u="none" strike="noStrike">
                  <a:solidFill>
                    <a:srgbClr val="505050"/>
                  </a:solidFill>
                  <a:latin typeface="Times New Roman" panose="02020603050405020304" pitchFamily="18" charset="0"/>
                  <a:ea typeface="等线" panose="02010600030101010101" charset="-122"/>
                  <a:cs typeface="Times New Roman" panose="02020603050405020304" pitchFamily="18" charset="0"/>
                  <a:sym typeface="等线" panose="02010600030101010101" charset="-122"/>
                </a:endParaRPr>
              </a:p>
            </p:txBody>
          </p:sp>
        </mc:Choice>
        <mc:Fallback>
          <p:sp>
            <p:nvSpPr>
              <p:cNvPr id="6" name="AutoShape 6"/>
              <p:cNvSpPr>
                <a:spLocks noRot="1" noChangeAspect="1" noMove="1" noResize="1" noEditPoints="1" noAdjustHandles="1" noChangeArrowheads="1" noChangeShapeType="1" noTextEdit="1"/>
              </p:cNvSpPr>
              <p:nvPr/>
            </p:nvSpPr>
            <p:spPr>
              <a:xfrm>
                <a:off x="381000" y="1616710"/>
                <a:ext cx="4055110" cy="477520"/>
              </a:xfrm>
              <a:prstGeom prst="roundRect">
                <a:avLst>
                  <a:gd name="adj" fmla="val 0"/>
                </a:avLst>
              </a:prstGeom>
              <a:blipFill rotWithShape="1">
                <a:blip r:embed="rId2"/>
                <a:stretch>
                  <a:fillRect t="-105851" b="-98138"/>
                </a:stretch>
              </a:blipFill>
              <a:ln w="25400" cap="flat" cmpd="sng">
                <a:noFill/>
                <a:prstDash val="solid"/>
                <a:round/>
              </a:ln>
            </p:spPr>
            <p:txBody>
              <a:bodyPr/>
              <a:lstStyle/>
              <a:p>
                <a:r>
                  <a:rPr lang="zh-CN" altLang="en-US">
                    <a:noFill/>
                  </a:rPr>
                  <a:t> </a:t>
                </a:r>
              </a:p>
            </p:txBody>
          </p:sp>
        </mc:Fallback>
      </mc:AlternateContent>
      <p:sp>
        <p:nvSpPr>
          <p:cNvPr id="7" name="AutoShape 7"/>
          <p:cNvSpPr/>
          <p:nvPr/>
        </p:nvSpPr>
        <p:spPr>
          <a:xfrm>
            <a:off x="4572000" y="1037590"/>
            <a:ext cx="4000500" cy="1459230"/>
          </a:xfrm>
          <a:prstGeom prst="roundRect">
            <a:avLst>
              <a:gd name="adj" fmla="val 8139"/>
            </a:avLst>
          </a:prstGeom>
          <a:solidFill>
            <a:srgbClr val="ECFDF5">
              <a:alpha val="100000"/>
            </a:srgbClr>
          </a:solidFill>
          <a:ln w="12700" cap="flat" cmpd="sng">
            <a:solidFill>
              <a:srgbClr val="BDE4D2">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4673600" y="1037590"/>
            <a:ext cx="3998595" cy="1566545"/>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100" b="1" i="0" u="none" strike="noStrike" dirty="0">
                <a:solidFill>
                  <a:srgbClr val="10B981"/>
                </a:solidFill>
                <a:latin typeface="等线" panose="02010600030101010101" charset="-122"/>
                <a:ea typeface="等线" panose="02010600030101010101" charset="-122"/>
                <a:cs typeface="等线" panose="02010600030101010101" charset="-122"/>
                <a:sym typeface="等线" panose="02010600030101010101" charset="-122"/>
              </a:rPr>
              <a:t>▍Lasso Parameter Estimation:</a:t>
            </a:r>
            <a:r>
              <a:rPr lang="en-US" sz="1000">
                <a:solidFill>
                  <a:srgbClr val="505050"/>
                </a:solidFill>
                <a:latin typeface="Times New Roman" panose="02020603050405020304" pitchFamily="18" charset="0"/>
                <a:ea typeface="等线" panose="02010600030101010101" charset="-122"/>
                <a:cs typeface="Times New Roman" panose="02020603050405020304" pitchFamily="18" charset="0"/>
                <a:sym typeface="等线" panose="02010600030101010101" charset="-122"/>
              </a:rPr>
              <a:t>When feature dimension p ≫ sample size n, L1 regularization is used for sparse estimation:</a:t>
            </a:r>
            <a:endParaRPr lang="en-US" sz="1100">
              <a:solidFill>
                <a:srgbClr val="505050"/>
              </a:solidFill>
              <a:latin typeface="Times New Roman" panose="02020603050405020304" pitchFamily="18" charset="0"/>
              <a:ea typeface="等线" panose="02010600030101010101" charset="-122"/>
              <a:cs typeface="Times New Roman" panose="02020603050405020304" pitchFamily="18" charset="0"/>
              <a:sym typeface="等线" panose="02010600030101010101" charset="-122"/>
            </a:endParaRPr>
          </a:p>
          <a:p>
            <a:pPr indent="0" algn="l">
              <a:lnSpc>
                <a:spcPct val="100000"/>
              </a:lnSpc>
              <a:defRPr/>
            </a:pPr>
            <a:endParaRPr lang="en-US" sz="1100" b="1" i="0" u="none" strike="noStrike" dirty="0">
              <a:solidFill>
                <a:srgbClr val="10B981"/>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defRPr/>
            </a:pPr>
            <a:endParaRPr lang="en-US" sz="1100" b="1" dirty="0">
              <a:solidFill>
                <a:srgbClr val="10B981"/>
              </a:solidFill>
              <a:latin typeface="等线" panose="02010600030101010101" charset="-122"/>
              <a:ea typeface="等线" panose="02010600030101010101" charset="-122"/>
              <a:sym typeface="等线" panose="02010600030101010101" charset="-122"/>
            </a:endParaRPr>
          </a:p>
          <a:p>
            <a:pPr indent="0" algn="l">
              <a:lnSpc>
                <a:spcPct val="100000"/>
              </a:lnSpc>
              <a:defRPr/>
            </a:pPr>
            <a:endParaRPr lang="en-US" sz="1100" dirty="0"/>
          </a:p>
          <a:p>
            <a:pPr indent="0" algn="l">
              <a:lnSpc>
                <a:spcPct val="100000"/>
              </a:lnSpc>
            </a:pPr>
            <a:r>
              <a:rPr lang="en-US" sz="1000" b="0" i="0" u="none" strike="noStrike" dirty="0">
                <a:solidFill>
                  <a:srgbClr val="505050"/>
                </a:solidFill>
                <a:latin typeface="Times New Roman" panose="02020603050405020304" pitchFamily="18" charset="0"/>
                <a:ea typeface="等线" panose="02010600030101010101" charset="-122"/>
                <a:cs typeface="Times New Roman" panose="02020603050405020304" pitchFamily="18" charset="0"/>
                <a:sym typeface="等线" panose="02010600030101010101" charset="-122"/>
              </a:rPr>
              <a:t>Feature selection is achieved through L1 penalization, which effectively addresses the problem of model overfitting in high-dimensional spaces and identifies important variables.</a:t>
            </a:r>
            <a:endParaRPr lang="en-US" sz="1000" b="0" i="0" u="none" strike="noStrike" dirty="0">
              <a:solidFill>
                <a:srgbClr val="505050"/>
              </a:solidFill>
              <a:latin typeface="Times New Roman" panose="02020603050405020304" pitchFamily="18" charset="0"/>
              <a:ea typeface="等线" panose="02010600030101010101" charset="-122"/>
              <a:cs typeface="Times New Roman" panose="02020603050405020304" pitchFamily="18" charset="0"/>
              <a:sym typeface="等线" panose="02010600030101010101" charset="-122"/>
            </a:endParaRPr>
          </a:p>
        </p:txBody>
      </p:sp>
      <p:sp>
        <p:nvSpPr>
          <p:cNvPr id="9" name="AutoShape 9"/>
          <p:cNvSpPr/>
          <p:nvPr/>
        </p:nvSpPr>
        <p:spPr>
          <a:xfrm>
            <a:off x="292100" y="2387600"/>
            <a:ext cx="8572500" cy="2286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Conflict: Lasso Bias &amp; Classic Debiasing</a:t>
            </a:r>
            <a:endParaRPr lang="en-US" sz="1100"/>
          </a:p>
        </p:txBody>
      </p:sp>
      <p:sp>
        <p:nvSpPr>
          <p:cNvPr id="10" name="AutoShape 10"/>
          <p:cNvSpPr/>
          <p:nvPr/>
        </p:nvSpPr>
        <p:spPr>
          <a:xfrm>
            <a:off x="292100" y="2667000"/>
            <a:ext cx="4000500" cy="1003300"/>
          </a:xfrm>
          <a:prstGeom prst="roundRect">
            <a:avLst>
              <a:gd name="adj" fmla="val 8860"/>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381000" y="2654300"/>
            <a:ext cx="3911600" cy="9652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50000"/>
              </a:lnSpc>
              <a:defRPr/>
            </a:pPr>
            <a:r>
              <a:rPr lang="en-US" sz="1100" b="1" i="0" u="none" strike="noStrike" dirty="0">
                <a:solidFill>
                  <a:srgbClr val="DC2626"/>
                </a:solidFill>
                <a:latin typeface="等线" panose="02010600030101010101" charset="-122"/>
                <a:ea typeface="等线" panose="02010600030101010101" charset="-122"/>
                <a:cs typeface="等线" panose="02010600030101010101" charset="-122"/>
                <a:sym typeface="等线" panose="02010600030101010101" charset="-122"/>
              </a:rPr>
              <a:t>Existing Defect: Shrinkage Bias</a:t>
            </a:r>
            <a:endParaRPr lang="en-US" sz="1100" dirty="0"/>
          </a:p>
          <a:p>
            <a:pPr indent="0" algn="l">
              <a:lnSpc>
                <a:spcPct val="150000"/>
              </a:lnSpc>
            </a:pPr>
            <a:r>
              <a:rPr lang="en-US" sz="10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L</a:t>
            </a:r>
            <a:r>
              <a:rPr lang="en-US" altLang="zh-CN" sz="1000" b="0" i="0" u="none" strike="noStrike">
                <a:solidFill>
                  <a:srgbClr val="505050"/>
                </a:solidFill>
                <a:latin typeface="Times New Roman" panose="02020603050405020304" pitchFamily="18" charset="0"/>
                <a:ea typeface="等线" panose="02010600030101010101" charset="-122"/>
                <a:cs typeface="Times New Roman" panose="02020603050405020304" pitchFamily="18" charset="0"/>
                <a:sym typeface="等线" panose="02010600030101010101" charset="-122"/>
              </a:rPr>
              <a:t>1 regularization introduces shrinkage bias, causing coefficient estimates to lose asymptotic normality. This breaks the zero symmetry of the mirror statistic and invalidates FDR control.</a:t>
            </a:r>
            <a:endParaRPr lang="en-US" altLang="zh-CN" sz="1000" b="0" i="0" u="none" strike="noStrike">
              <a:solidFill>
                <a:srgbClr val="505050"/>
              </a:solidFill>
              <a:latin typeface="Times New Roman" panose="02020603050405020304" pitchFamily="18" charset="0"/>
              <a:ea typeface="等线" panose="02010600030101010101" charset="-122"/>
              <a:cs typeface="Times New Roman" panose="02020603050405020304" pitchFamily="18" charset="0"/>
              <a:sym typeface="等线" panose="02010600030101010101" charset="-122"/>
            </a:endParaRPr>
          </a:p>
        </p:txBody>
      </p:sp>
      <p:sp>
        <p:nvSpPr>
          <p:cNvPr id="12" name="AutoShape 12"/>
          <p:cNvSpPr/>
          <p:nvPr/>
        </p:nvSpPr>
        <p:spPr>
          <a:xfrm>
            <a:off x="4572000" y="2507617"/>
            <a:ext cx="4000500" cy="1162683"/>
          </a:xfrm>
          <a:prstGeom prst="roundRect">
            <a:avLst>
              <a:gd name="adj" fmla="val 8860"/>
            </a:avLst>
          </a:prstGeom>
          <a:solidFill>
            <a:srgbClr val="FFFBEB">
              <a:alpha val="100000"/>
            </a:srgbClr>
          </a:solidFill>
          <a:ln w="12700" cap="flat" cmpd="sng">
            <a:solidFill>
              <a:srgbClr val="E6DDBD">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4673600" y="2501777"/>
            <a:ext cx="3898900" cy="1137283"/>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00" b="1" i="0" u="none" strike="noStrike" dirty="0">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Solution: </a:t>
            </a:r>
            <a:r>
              <a:rPr lang="en-US" sz="1000" b="1" i="0" u="none" strike="noStrike" dirty="0" err="1">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Desparsified</a:t>
            </a:r>
            <a:r>
              <a:rPr lang="en-US" sz="1000" b="1" i="0" u="none" strike="noStrike" dirty="0">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 Lasso (2014)</a:t>
            </a:r>
            <a:endParaRPr lang="en-US" sz="1000" b="1" i="0" u="none" strike="noStrike" dirty="0">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defRPr/>
            </a:pPr>
            <a:r>
              <a:rPr lang="en-US" sz="1000" dirty="0"/>
              <a:t>Corrects the bias by subtracting the gradient of the L1 regularization term, restoring asymptotic normality</a:t>
            </a:r>
            <a:r>
              <a:rPr lang="en-US" sz="1100" dirty="0"/>
              <a:t>.</a:t>
            </a:r>
            <a:endParaRPr lang="en-US" sz="1100" dirty="0"/>
          </a:p>
          <a:p>
            <a:pPr indent="0" algn="l">
              <a:lnSpc>
                <a:spcPct val="100000"/>
              </a:lnSpc>
            </a:pPr>
            <a:endParaRPr lang="en-US" sz="900" dirty="0">
              <a:solidFill>
                <a:srgbClr val="50505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endParaRPr lang="en-US" sz="900" dirty="0">
              <a:solidFill>
                <a:srgbClr val="50505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900" b="0" i="0" u="none" strike="noStrike" dirty="0">
                <a:solidFill>
                  <a:srgbClr val="505050"/>
                </a:solidFill>
                <a:latin typeface="等线" panose="02010600030101010101" charset="-122"/>
                <a:ea typeface="等线" panose="02010600030101010101" charset="-122"/>
                <a:cs typeface="等线" panose="02010600030101010101" charset="-122"/>
                <a:sym typeface="等线" panose="02010600030101010101" charset="-122"/>
              </a:rPr>
              <a:t> </a:t>
            </a:r>
            <a:r>
              <a:rPr lang="en-US" sz="1000" b="0" i="0" u="none" strike="noStrike" dirty="0">
                <a:solidFill>
                  <a:srgbClr val="505050"/>
                </a:solidFill>
                <a:latin typeface="等线" panose="02010600030101010101" charset="-122"/>
                <a:ea typeface="等线" panose="02010600030101010101" charset="-122"/>
                <a:cs typeface="等线" panose="02010600030101010101" charset="-122"/>
                <a:sym typeface="等线" panose="02010600030101010101" charset="-122"/>
              </a:rPr>
              <a:t>Restores normality for valid statistical inference, but faces new challenges in federated learning.</a:t>
            </a:r>
            <a:endParaRPr lang="en-US" sz="900" b="0" i="0" u="none" strike="noStrike" dirty="0">
              <a:solidFill>
                <a:srgbClr val="50505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14" name="AutoShape 14"/>
          <p:cNvSpPr/>
          <p:nvPr/>
        </p:nvSpPr>
        <p:spPr>
          <a:xfrm>
            <a:off x="292100" y="3721100"/>
            <a:ext cx="8674100" cy="812800"/>
          </a:xfrm>
          <a:prstGeom prst="roundRect">
            <a:avLst>
              <a:gd name="adj" fmla="val 10937"/>
            </a:avLst>
          </a:prstGeom>
          <a:solidFill>
            <a:srgbClr val="FEF2F2">
              <a:alpha val="60000"/>
            </a:srgbClr>
          </a:solidFill>
          <a:ln w="12700" cap="flat" cmpd="sng">
            <a:solidFill>
              <a:srgbClr val="E5C3C3">
                <a:alpha val="6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381000" y="3759200"/>
            <a:ext cx="8483600" cy="2159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000" b="1" i="0" u="none" strike="noStrike">
                <a:solidFill>
                  <a:srgbClr val="B91C1C"/>
                </a:solidFill>
                <a:latin typeface="等线" panose="02010600030101010101" charset="-122"/>
                <a:ea typeface="等线" panose="02010600030101010101" charset="-122"/>
                <a:cs typeface="等线" panose="02010600030101010101" charset="-122"/>
                <a:sym typeface="等线" panose="02010600030101010101" charset="-122"/>
              </a:rPr>
              <a:t>❌ Three Critical Issues in Federated High-Dimensional Settings</a:t>
            </a:r>
            <a:endParaRPr lang="en-US" sz="1100"/>
          </a:p>
        </p:txBody>
      </p:sp>
      <p:sp>
        <p:nvSpPr>
          <p:cNvPr id="16" name="AutoShape 16"/>
          <p:cNvSpPr/>
          <p:nvPr/>
        </p:nvSpPr>
        <p:spPr>
          <a:xfrm>
            <a:off x="381000" y="4025900"/>
            <a:ext cx="2781300" cy="482600"/>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92000"/>
              </a:lnSpc>
              <a:defRPr/>
            </a:pPr>
            <a:r>
              <a:rPr lang="en-US" sz="10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Infeasibility:</a:t>
            </a:r>
            <a:r>
              <a:rPr lang="en-US" altLang="zh-CN" sz="1000">
                <a:solidFill>
                  <a:srgbClr val="505050"/>
                </a:solidFill>
                <a:latin typeface="Times New Roman" panose="02020603050405020304" pitchFamily="18" charset="0"/>
                <a:ea typeface="等线" panose="02010600030101010101" charset="-122"/>
                <a:cs typeface="Times New Roman" panose="02020603050405020304" pitchFamily="18" charset="0"/>
              </a:rPr>
              <a:t> Constructing the inverse Hessian matrix requires P node-wise regressions, which is computationally infeasible in high dimensions and renders the underlying assumptions unrealistic.</a:t>
            </a:r>
            <a:endParaRPr lang="en-US" altLang="zh-CN" sz="1000">
              <a:solidFill>
                <a:srgbClr val="505050"/>
              </a:solidFill>
              <a:latin typeface="Times New Roman" panose="02020603050405020304" pitchFamily="18" charset="0"/>
              <a:ea typeface="等线" panose="02010600030101010101" charset="-122"/>
              <a:cs typeface="Times New Roman" panose="02020603050405020304" pitchFamily="18" charset="0"/>
            </a:endParaRPr>
          </a:p>
        </p:txBody>
      </p:sp>
      <p:sp>
        <p:nvSpPr>
          <p:cNvPr id="17" name="AutoShape 17"/>
          <p:cNvSpPr/>
          <p:nvPr/>
        </p:nvSpPr>
        <p:spPr>
          <a:xfrm>
            <a:off x="3327400" y="4025900"/>
            <a:ext cx="2458720" cy="482600"/>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92000"/>
              </a:lnSpc>
              <a:defRPr/>
            </a:pPr>
            <a:r>
              <a:rPr lang="en-US" sz="9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Sparsity Loss:</a:t>
            </a:r>
            <a:r>
              <a:rPr lang="en-US" altLang="zh-CN" sz="1000">
                <a:solidFill>
                  <a:srgbClr val="505050"/>
                </a:solidFill>
                <a:latin typeface="Times New Roman" panose="02020603050405020304" pitchFamily="18" charset="0"/>
                <a:ea typeface="等线" panose="02010600030101010101" charset="-122"/>
                <a:cs typeface="Times New Roman" panose="02020603050405020304" pitchFamily="18" charset="0"/>
              </a:rPr>
              <a:t> the coefficients become entirely non-zero after debiasing, stripping away Lasso's core capability of sparse selection.</a:t>
            </a:r>
            <a:endParaRPr lang="en-US" altLang="zh-CN" sz="1000">
              <a:solidFill>
                <a:srgbClr val="505050"/>
              </a:solidFill>
              <a:latin typeface="Times New Roman" panose="02020603050405020304" pitchFamily="18" charset="0"/>
              <a:ea typeface="等线" panose="02010600030101010101" charset="-122"/>
              <a:cs typeface="Times New Roman" panose="02020603050405020304" pitchFamily="18" charset="0"/>
            </a:endParaRPr>
          </a:p>
        </p:txBody>
      </p:sp>
      <p:sp>
        <p:nvSpPr>
          <p:cNvPr id="18" name="AutoShape 18"/>
          <p:cNvSpPr/>
          <p:nvPr/>
        </p:nvSpPr>
        <p:spPr>
          <a:xfrm>
            <a:off x="5903595" y="3822700"/>
            <a:ext cx="3049905" cy="685800"/>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92000"/>
              </a:lnSpc>
              <a:defRPr/>
            </a:pPr>
            <a:r>
              <a:rPr lang="en-US" sz="9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High Cost:</a:t>
            </a:r>
            <a:r>
              <a:rPr lang="en-US" altLang="zh-CN" sz="1000">
                <a:solidFill>
                  <a:srgbClr val="505050"/>
                </a:solidFill>
                <a:latin typeface="Times New Roman" panose="02020603050405020304" pitchFamily="18" charset="0"/>
                <a:ea typeface="等线" panose="02010600030101010101" charset="-122"/>
                <a:cs typeface="Times New Roman" panose="02020603050405020304" pitchFamily="18" charset="0"/>
              </a:rPr>
              <a:t> it requires transmitting the complete P-dimensional coefficient vector to the central node, resulting in exorbitant communication costs. This massive data transmission creates a severe communication bottleneck, running counter to the original efficiency-driven purpose of federated learning.</a:t>
            </a:r>
            <a:endParaRPr lang="en-US" altLang="zh-CN" sz="1000">
              <a:solidFill>
                <a:srgbClr val="505050"/>
              </a:solidFill>
              <a:latin typeface="Times New Roman" panose="02020603050405020304" pitchFamily="18" charset="0"/>
              <a:ea typeface="等线" panose="02010600030101010101" charset="-122"/>
              <a:cs typeface="Times New Roman" panose="02020603050405020304" pitchFamily="18" charset="0"/>
            </a:endParaRPr>
          </a:p>
        </p:txBody>
      </p:sp>
      <p:sp>
        <p:nvSpPr>
          <p:cNvPr id="19" name="AutoShape 19"/>
          <p:cNvSpPr/>
          <p:nvPr/>
        </p:nvSpPr>
        <p:spPr>
          <a:xfrm>
            <a:off x="292100" y="4572000"/>
            <a:ext cx="8674100" cy="431800"/>
          </a:xfrm>
          <a:prstGeom prst="roundRect">
            <a:avLst>
              <a:gd name="adj" fmla="val 20588"/>
            </a:avLst>
          </a:prstGeom>
          <a:solidFill>
            <a:srgbClr val="DBEAFE">
              <a:alpha val="100000"/>
            </a:srgbClr>
          </a:solidFill>
          <a:ln w="12700" cap="flat" cmpd="sng">
            <a:solidFill>
              <a:srgbClr val="AEC5E5">
                <a:alpha val="10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381000" y="4622800"/>
            <a:ext cx="8483600" cy="3302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10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Proposed:</a:t>
            </a:r>
            <a:r>
              <a:rPr lang="en-US" sz="1000" b="1" i="0" u="none" strike="noStrike" dirty="0" err="1">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Cross-Site</a:t>
            </a:r>
            <a:r>
              <a:rPr lang="en-US" sz="10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 Feature Support Exchange Mechanism</a:t>
            </a:r>
            <a:r>
              <a:rPr lang="en-US" sz="10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(to reduce computation/communication costs while maintaining debiasing).</a:t>
            </a:r>
            <a:endParaRPr lang="en-US" sz="1100" dirty="0"/>
          </a:p>
        </p:txBody>
      </p:sp>
      <p:pic>
        <p:nvPicPr>
          <p:cNvPr id="21" name="图片 20"/>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5139911" y="1522097"/>
            <a:ext cx="2668472" cy="444745"/>
          </a:xfrm>
          <a:prstGeom prst="rect">
            <a:avLst/>
          </a:prstGeom>
        </p:spPr>
      </p:pic>
      <p:pic>
        <p:nvPicPr>
          <p:cNvPr id="22" name="图片 21"/>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5368424" y="2977936"/>
            <a:ext cx="2328802" cy="368727"/>
          </a:xfrm>
          <a:prstGeom prst="rect">
            <a:avLst/>
          </a:prstGeom>
        </p:spPr>
      </p:pic>
      <p:pic>
        <p:nvPicPr>
          <p:cNvPr id="24" name="图片 23"/>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1297434" y="1577501"/>
            <a:ext cx="2214794" cy="32162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pic>
        <p:nvPicPr>
          <p:cNvPr id="18" name="图片 17"/>
          <p:cNvPicPr>
            <a:picLocks noChangeAspect="1"/>
          </p:cNvPicPr>
          <p:nvPr/>
        </p:nvPicPr>
        <p:blipFill>
          <a:blip r:embed="rId1"/>
          <a:stretch>
            <a:fillRect/>
          </a:stretch>
        </p:blipFill>
        <p:spPr>
          <a:xfrm>
            <a:off x="4691923" y="1079500"/>
            <a:ext cx="4513079" cy="2671901"/>
          </a:xfrm>
          <a:prstGeom prst="rect">
            <a:avLst/>
          </a:prstGeom>
        </p:spPr>
      </p:pic>
      <p:pic>
        <p:nvPicPr>
          <p:cNvPr id="2" name="Picture 2"/>
          <p:cNvPicPr>
            <a:picLocks noChangeAspect="1"/>
          </p:cNvPicPr>
          <p:nvPr/>
        </p:nvPicPr>
        <p:blipFill>
          <a:blip r:embed="rId2"/>
          <a:srcRect l="9276" r="9276"/>
          <a:stretch>
            <a:fillRect/>
          </a:stretch>
        </p:blipFill>
        <p:spPr>
          <a:xfrm>
            <a:off x="0" y="0"/>
            <a:ext cx="9144000" cy="1028700"/>
          </a:xfrm>
          <a:prstGeom prst="rect">
            <a:avLst/>
          </a:prstGeom>
          <a:noFill/>
          <a:ln w="25400" cap="flat" cmpd="sng">
            <a:noFill/>
            <a:prstDash val="solid"/>
            <a:round/>
          </a:ln>
        </p:spPr>
      </p:pic>
      <p:sp>
        <p:nvSpPr>
          <p:cNvPr id="3" name="AutoShape 3"/>
          <p:cNvSpPr/>
          <p:nvPr/>
        </p:nvSpPr>
        <p:spPr>
          <a:xfrm>
            <a:off x="381000" y="190500"/>
            <a:ext cx="8382000" cy="508000"/>
          </a:xfrm>
          <a:prstGeom prst="rect">
            <a:avLst/>
          </a:prstGeom>
          <a:noFill/>
          <a:ln w="9525"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E3A8A"/>
                </a:solidFill>
                <a:latin typeface="Arial" panose="020B0604020202020204"/>
                <a:ea typeface="Arial" panose="020B0604020202020204"/>
                <a:cs typeface="Arial" panose="020B0604020202020204"/>
                <a:sym typeface="Arial" panose="020B0604020202020204"/>
              </a:rPr>
              <a:t>Cross-Site Local Exchange (Algorithm 2)</a:t>
            </a:r>
            <a:endParaRPr lang="en-US" sz="1100"/>
          </a:p>
        </p:txBody>
      </p:sp>
      <p:sp>
        <p:nvSpPr>
          <p:cNvPr id="4" name="AutoShape 4"/>
          <p:cNvSpPr/>
          <p:nvPr/>
        </p:nvSpPr>
        <p:spPr>
          <a:xfrm>
            <a:off x="381000" y="698500"/>
            <a:ext cx="8382000" cy="381000"/>
          </a:xfrm>
          <a:prstGeom prst="rect">
            <a:avLst/>
          </a:prstGeom>
          <a:noFill/>
          <a:ln w="9525"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Arial" panose="020B0604020202020204"/>
                <a:ea typeface="Arial" panose="020B0604020202020204"/>
                <a:cs typeface="Arial" panose="020B0604020202020204"/>
                <a:sym typeface="Arial" panose="020B0604020202020204"/>
              </a:rPr>
              <a:t>The Swap Strategy: Solving the Legitimacy Problem of FDR Control</a:t>
            </a:r>
            <a:endParaRPr lang="en-US" sz="1100"/>
          </a:p>
        </p:txBody>
      </p:sp>
      <p:pic>
        <p:nvPicPr>
          <p:cNvPr id="17" name="图片 16"/>
          <p:cNvPicPr>
            <a:picLocks noChangeAspect="1"/>
          </p:cNvPicPr>
          <p:nvPr/>
        </p:nvPicPr>
        <p:blipFill>
          <a:blip r:embed="rId3"/>
          <a:stretch>
            <a:fillRect/>
          </a:stretch>
        </p:blipFill>
        <p:spPr>
          <a:xfrm>
            <a:off x="111037" y="1028700"/>
            <a:ext cx="4745999" cy="400652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9276" r="9276"/>
          <a:stretch>
            <a:fillRect/>
          </a:stretch>
        </p:blipFill>
        <p:spPr>
          <a:xfrm>
            <a:off x="0" y="0"/>
            <a:ext cx="9144000" cy="1028700"/>
          </a:xfrm>
          <a:prstGeom prst="rect">
            <a:avLst/>
          </a:prstGeom>
          <a:noFill/>
          <a:ln w="25400" cap="flat" cmpd="sng">
            <a:noFill/>
            <a:prstDash val="solid"/>
            <a:round/>
          </a:ln>
        </p:spPr>
      </p:pic>
      <p:sp>
        <p:nvSpPr>
          <p:cNvPr id="3" name="AutoShape 3"/>
          <p:cNvSpPr/>
          <p:nvPr/>
        </p:nvSpPr>
        <p:spPr>
          <a:xfrm>
            <a:off x="381000" y="190500"/>
            <a:ext cx="8382000" cy="508000"/>
          </a:xfrm>
          <a:prstGeom prst="rect">
            <a:avLst/>
          </a:prstGeom>
          <a:noFill/>
          <a:ln w="9525"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E3A8A"/>
                </a:solidFill>
                <a:latin typeface="Arial" panose="020B0604020202020204"/>
                <a:ea typeface="Arial" panose="020B0604020202020204"/>
                <a:cs typeface="Arial" panose="020B0604020202020204"/>
                <a:sym typeface="Arial" panose="020B0604020202020204"/>
              </a:rPr>
              <a:t>Cross-Site Local Exchange (Algorithm 2)</a:t>
            </a:r>
            <a:endParaRPr lang="en-US" sz="1100"/>
          </a:p>
        </p:txBody>
      </p:sp>
      <p:sp>
        <p:nvSpPr>
          <p:cNvPr id="4" name="AutoShape 4"/>
          <p:cNvSpPr/>
          <p:nvPr/>
        </p:nvSpPr>
        <p:spPr>
          <a:xfrm>
            <a:off x="381000" y="698500"/>
            <a:ext cx="8382000" cy="381000"/>
          </a:xfrm>
          <a:prstGeom prst="rect">
            <a:avLst/>
          </a:prstGeom>
          <a:noFill/>
          <a:ln w="9525" cap="flat" cmpd="sng">
            <a:noFill/>
            <a:prstDash val="solid"/>
            <a:round/>
          </a:ln>
        </p:spPr>
        <p:txBody>
          <a:bodyPr vert="horz" wrap="square" lIns="0" tIns="0" rIns="0" bIns="0" rtlCol="0" anchor="ctr" anchorCtr="0"/>
          <a:lstStyle/>
          <a:p>
            <a:pPr indent="0" algn="l">
              <a:lnSpc>
                <a:spcPct val="125000"/>
              </a:lnSpc>
              <a:defRPr/>
            </a:pPr>
            <a:r>
              <a:rPr lang="en-US" sz="1400" b="1" i="0" u="none" strike="noStrike" dirty="0">
                <a:solidFill>
                  <a:srgbClr val="374151"/>
                </a:solidFill>
                <a:latin typeface="Arial" panose="020B0604020202020204"/>
                <a:ea typeface="Arial" panose="020B0604020202020204"/>
                <a:cs typeface="Arial" panose="020B0604020202020204"/>
                <a:sym typeface="Arial" panose="020B0604020202020204"/>
              </a:rPr>
              <a:t>The Swap Strategy: Solving the Legitimacy Problem of FDR Control</a:t>
            </a:r>
            <a:endParaRPr lang="en-US" sz="1100" dirty="0"/>
          </a:p>
        </p:txBody>
      </p:sp>
      <p:pic>
        <p:nvPicPr>
          <p:cNvPr id="6" name="图片 5"/>
          <p:cNvPicPr>
            <a:picLocks noChangeAspect="1"/>
          </p:cNvPicPr>
          <p:nvPr/>
        </p:nvPicPr>
        <p:blipFill>
          <a:blip r:embed="rId2"/>
          <a:stretch>
            <a:fillRect/>
          </a:stretch>
        </p:blipFill>
        <p:spPr>
          <a:xfrm>
            <a:off x="0" y="1028700"/>
            <a:ext cx="4704026" cy="1019383"/>
          </a:xfrm>
          <a:prstGeom prst="rect">
            <a:avLst/>
          </a:prstGeom>
        </p:spPr>
      </p:pic>
      <p:pic>
        <p:nvPicPr>
          <p:cNvPr id="8" name="图片 7"/>
          <p:cNvPicPr>
            <a:picLocks noChangeAspect="1"/>
          </p:cNvPicPr>
          <p:nvPr/>
        </p:nvPicPr>
        <p:blipFill>
          <a:blip r:embed="rId3"/>
          <a:stretch>
            <a:fillRect/>
          </a:stretch>
        </p:blipFill>
        <p:spPr>
          <a:xfrm>
            <a:off x="0" y="2370601"/>
            <a:ext cx="4606229" cy="2074399"/>
          </a:xfrm>
          <a:prstGeom prst="rect">
            <a:avLst/>
          </a:prstGeom>
        </p:spPr>
      </p:pic>
      <p:pic>
        <p:nvPicPr>
          <p:cNvPr id="9" name="图片 8"/>
          <p:cNvPicPr>
            <a:picLocks noChangeAspect="1"/>
          </p:cNvPicPr>
          <p:nvPr/>
        </p:nvPicPr>
        <p:blipFill>
          <a:blip r:embed="rId4"/>
          <a:stretch>
            <a:fillRect/>
          </a:stretch>
        </p:blipFill>
        <p:spPr>
          <a:xfrm>
            <a:off x="4691923" y="1079500"/>
            <a:ext cx="4513079" cy="267190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9276" r="9276"/>
          <a:stretch>
            <a:fillRect/>
          </a:stretch>
        </p:blipFill>
        <p:spPr>
          <a:xfrm>
            <a:off x="0" y="0"/>
            <a:ext cx="9144000" cy="1028700"/>
          </a:xfrm>
          <a:prstGeom prst="rect">
            <a:avLst/>
          </a:prstGeom>
          <a:noFill/>
          <a:ln w="25400" cap="flat" cmpd="sng">
            <a:noFill/>
            <a:prstDash val="solid"/>
            <a:round/>
          </a:ln>
        </p:spPr>
      </p:pic>
      <p:sp>
        <p:nvSpPr>
          <p:cNvPr id="3" name="AutoShape 3"/>
          <p:cNvSpPr/>
          <p:nvPr/>
        </p:nvSpPr>
        <p:spPr>
          <a:xfrm>
            <a:off x="381000" y="190500"/>
            <a:ext cx="8382000" cy="508000"/>
          </a:xfrm>
          <a:prstGeom prst="rect">
            <a:avLst/>
          </a:prstGeom>
          <a:noFill/>
          <a:ln w="9525"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E3A8A"/>
                </a:solidFill>
                <a:latin typeface="Arial" panose="020B0604020202020204"/>
                <a:ea typeface="Arial" panose="020B0604020202020204"/>
                <a:cs typeface="Arial" panose="020B0604020202020204"/>
                <a:sym typeface="Arial" panose="020B0604020202020204"/>
              </a:rPr>
              <a:t>Cross-Site Local Exchange (Algorithm 2)</a:t>
            </a:r>
            <a:endParaRPr lang="en-US" sz="1100"/>
          </a:p>
        </p:txBody>
      </p:sp>
      <p:sp>
        <p:nvSpPr>
          <p:cNvPr id="4" name="AutoShape 4"/>
          <p:cNvSpPr/>
          <p:nvPr/>
        </p:nvSpPr>
        <p:spPr>
          <a:xfrm>
            <a:off x="381000" y="698500"/>
            <a:ext cx="8382000" cy="381000"/>
          </a:xfrm>
          <a:prstGeom prst="rect">
            <a:avLst/>
          </a:prstGeom>
          <a:noFill/>
          <a:ln w="9525" cap="flat" cmpd="sng">
            <a:noFill/>
            <a:prstDash val="solid"/>
            <a:round/>
          </a:ln>
        </p:spPr>
        <p:txBody>
          <a:bodyPr vert="horz" wrap="square" lIns="0" tIns="0" rIns="0" bIns="0" rtlCol="0" anchor="ctr" anchorCtr="0"/>
          <a:lstStyle/>
          <a:p>
            <a:pPr indent="0" algn="l">
              <a:lnSpc>
                <a:spcPct val="125000"/>
              </a:lnSpc>
              <a:defRPr/>
            </a:pPr>
            <a:r>
              <a:rPr lang="en-US" sz="1400" b="1" i="0" u="none" strike="noStrike" dirty="0">
                <a:solidFill>
                  <a:srgbClr val="374151"/>
                </a:solidFill>
                <a:latin typeface="Arial" panose="020B0604020202020204"/>
                <a:ea typeface="Arial" panose="020B0604020202020204"/>
                <a:cs typeface="Arial" panose="020B0604020202020204"/>
                <a:sym typeface="Arial" panose="020B0604020202020204"/>
              </a:rPr>
              <a:t>The Swap Strategy: Solving the Legitimacy Problem of FDR Control</a:t>
            </a:r>
            <a:endParaRPr lang="en-US" sz="1100" dirty="0"/>
          </a:p>
        </p:txBody>
      </p:sp>
      <p:pic>
        <p:nvPicPr>
          <p:cNvPr id="9" name="图片 8"/>
          <p:cNvPicPr>
            <a:picLocks noChangeAspect="1"/>
          </p:cNvPicPr>
          <p:nvPr/>
        </p:nvPicPr>
        <p:blipFill>
          <a:blip r:embed="rId2"/>
          <a:stretch>
            <a:fillRect/>
          </a:stretch>
        </p:blipFill>
        <p:spPr>
          <a:xfrm>
            <a:off x="4691923" y="1079500"/>
            <a:ext cx="4513079" cy="2671901"/>
          </a:xfrm>
          <a:prstGeom prst="rect">
            <a:avLst/>
          </a:prstGeom>
        </p:spPr>
      </p:pic>
      <p:pic>
        <p:nvPicPr>
          <p:cNvPr id="11" name="图片 10"/>
          <p:cNvPicPr>
            <a:picLocks noChangeAspect="1"/>
          </p:cNvPicPr>
          <p:nvPr/>
        </p:nvPicPr>
        <p:blipFill>
          <a:blip r:embed="rId3"/>
          <a:stretch>
            <a:fillRect/>
          </a:stretch>
        </p:blipFill>
        <p:spPr>
          <a:xfrm>
            <a:off x="44007" y="1460685"/>
            <a:ext cx="4627213" cy="20746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9276" r="9276"/>
          <a:stretch>
            <a:fillRect/>
          </a:stretch>
        </p:blipFill>
        <p:spPr>
          <a:xfrm>
            <a:off x="0" y="0"/>
            <a:ext cx="9144000" cy="1028700"/>
          </a:xfrm>
          <a:prstGeom prst="rect">
            <a:avLst/>
          </a:prstGeom>
          <a:noFill/>
          <a:ln w="25400" cap="flat" cmpd="sng">
            <a:noFill/>
            <a:prstDash val="solid"/>
            <a:round/>
          </a:ln>
        </p:spPr>
      </p:pic>
      <p:sp>
        <p:nvSpPr>
          <p:cNvPr id="3" name="AutoShape 3"/>
          <p:cNvSpPr/>
          <p:nvPr/>
        </p:nvSpPr>
        <p:spPr>
          <a:xfrm>
            <a:off x="381000" y="190500"/>
            <a:ext cx="8382000" cy="508000"/>
          </a:xfrm>
          <a:prstGeom prst="rect">
            <a:avLst/>
          </a:prstGeom>
          <a:noFill/>
          <a:ln w="9525"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1E3A8A"/>
                </a:solidFill>
                <a:latin typeface="Arial" panose="020B0604020202020204"/>
                <a:ea typeface="Arial" panose="020B0604020202020204"/>
                <a:cs typeface="Arial" panose="020B0604020202020204"/>
                <a:sym typeface="Arial" panose="020B0604020202020204"/>
              </a:rPr>
              <a:t>Cross-Site Local Exchange (Algorithm 2)</a:t>
            </a:r>
            <a:endParaRPr lang="en-US" sz="1100"/>
          </a:p>
        </p:txBody>
      </p:sp>
      <p:sp>
        <p:nvSpPr>
          <p:cNvPr id="4" name="AutoShape 4"/>
          <p:cNvSpPr/>
          <p:nvPr/>
        </p:nvSpPr>
        <p:spPr>
          <a:xfrm>
            <a:off x="381000" y="698500"/>
            <a:ext cx="8382000" cy="381000"/>
          </a:xfrm>
          <a:prstGeom prst="rect">
            <a:avLst/>
          </a:prstGeom>
          <a:noFill/>
          <a:ln w="9525" cap="flat" cmpd="sng">
            <a:noFill/>
            <a:prstDash val="solid"/>
            <a:round/>
          </a:ln>
        </p:spPr>
        <p:txBody>
          <a:bodyPr vert="horz" wrap="square" lIns="0" tIns="0" rIns="0" bIns="0" rtlCol="0" anchor="ctr" anchorCtr="0"/>
          <a:lstStyle/>
          <a:p>
            <a:pPr indent="0" algn="l">
              <a:lnSpc>
                <a:spcPct val="125000"/>
              </a:lnSpc>
              <a:defRPr/>
            </a:pPr>
            <a:r>
              <a:rPr lang="en-US" sz="1400" b="1" i="0" u="none" strike="noStrike" dirty="0">
                <a:solidFill>
                  <a:srgbClr val="374151"/>
                </a:solidFill>
                <a:latin typeface="Arial" panose="020B0604020202020204"/>
                <a:ea typeface="Arial" panose="020B0604020202020204"/>
                <a:cs typeface="Arial" panose="020B0604020202020204"/>
                <a:sym typeface="Arial" panose="020B0604020202020204"/>
              </a:rPr>
              <a:t>The Swap Strategy: Solving the Legitimacy Problem of FDR Control</a:t>
            </a:r>
            <a:endParaRPr lang="en-US" sz="1100" dirty="0"/>
          </a:p>
        </p:txBody>
      </p:sp>
      <p:pic>
        <p:nvPicPr>
          <p:cNvPr id="9" name="图片 8"/>
          <p:cNvPicPr>
            <a:picLocks noChangeAspect="1"/>
          </p:cNvPicPr>
          <p:nvPr/>
        </p:nvPicPr>
        <p:blipFill>
          <a:blip r:embed="rId2"/>
          <a:stretch>
            <a:fillRect/>
          </a:stretch>
        </p:blipFill>
        <p:spPr>
          <a:xfrm>
            <a:off x="4691923" y="1079500"/>
            <a:ext cx="4513079" cy="2671901"/>
          </a:xfrm>
          <a:prstGeom prst="rect">
            <a:avLst/>
          </a:prstGeom>
        </p:spPr>
      </p:pic>
      <p:pic>
        <p:nvPicPr>
          <p:cNvPr id="6" name="图片 5"/>
          <p:cNvPicPr>
            <a:picLocks noChangeAspect="1"/>
          </p:cNvPicPr>
          <p:nvPr/>
        </p:nvPicPr>
        <p:blipFill>
          <a:blip r:embed="rId3"/>
          <a:stretch>
            <a:fillRect/>
          </a:stretch>
        </p:blipFill>
        <p:spPr>
          <a:xfrm>
            <a:off x="0" y="1374903"/>
            <a:ext cx="4757814" cy="249218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9276" r="9276"/>
          <a:stretch>
            <a:fillRect/>
          </a:stretch>
        </p:blipFill>
        <p:spPr>
          <a:xfrm>
            <a:off x="0" y="0"/>
            <a:ext cx="9144000" cy="1028700"/>
          </a:xfrm>
          <a:prstGeom prst="rect">
            <a:avLst/>
          </a:prstGeom>
          <a:noFill/>
          <a:ln w="25400" cap="flat" cmpd="sng">
            <a:noFill/>
            <a:prstDash val="solid"/>
            <a:round/>
          </a:ln>
        </p:spPr>
      </p:pic>
      <p:sp>
        <p:nvSpPr>
          <p:cNvPr id="3" name="AutoShape 3"/>
          <p:cNvSpPr/>
          <p:nvPr/>
        </p:nvSpPr>
        <p:spPr>
          <a:xfrm>
            <a:off x="292100" y="1142999"/>
            <a:ext cx="2667000" cy="3404551"/>
          </a:xfrm>
          <a:prstGeom prst="roundRect">
            <a:avLst>
              <a:gd name="adj" fmla="val 6194"/>
            </a:avLst>
          </a:prstGeom>
          <a:solidFill>
            <a:srgbClr val="FFFFFF">
              <a:alpha val="100000"/>
            </a:srgbClr>
          </a:solidFill>
          <a:ln w="25400" cap="flat" cmpd="sng">
            <a:noFill/>
            <a:prstDash val="solid"/>
            <a:round/>
          </a:ln>
          <a:effectLst>
            <a:outerShdw blurRad="1016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4" name="AutoShape 4"/>
          <p:cNvSpPr/>
          <p:nvPr/>
        </p:nvSpPr>
        <p:spPr>
          <a:xfrm>
            <a:off x="381000" y="1244600"/>
            <a:ext cx="2476500" cy="241300"/>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125000"/>
              </a:lnSpc>
              <a:defRPr/>
            </a:pPr>
            <a:r>
              <a:rPr lang="en-US" b="1" dirty="0">
                <a:solidFill>
                  <a:srgbClr val="FF0000"/>
                </a:solidFill>
                <a:latin typeface="Noto Sans SC" panose="020B0200000000000000" charset="-122"/>
                <a:ea typeface="Noto Sans SC" panose="020B0200000000000000" charset="-122"/>
                <a:sym typeface="等线" panose="02010600030101010101" charset="-122"/>
              </a:rPr>
              <a:t>Addressing the Validity Issue of FDR Control</a:t>
            </a:r>
            <a:endParaRPr lang="en-US" b="1" dirty="0">
              <a:solidFill>
                <a:srgbClr val="FF0000"/>
              </a:solidFill>
              <a:latin typeface="Noto Sans SC" panose="020B0200000000000000" charset="-122"/>
              <a:ea typeface="Noto Sans SC" panose="020B0200000000000000" charset="-122"/>
            </a:endParaRPr>
          </a:p>
        </p:txBody>
      </p:sp>
      <p:sp>
        <p:nvSpPr>
          <p:cNvPr id="5" name="AutoShape 5"/>
          <p:cNvSpPr/>
          <p:nvPr/>
        </p:nvSpPr>
        <p:spPr>
          <a:xfrm>
            <a:off x="381000" y="1748934"/>
            <a:ext cx="2476500" cy="2691040"/>
          </a:xfrm>
          <a:prstGeom prst="roundRect">
            <a:avLst>
              <a:gd name="adj" fmla="val 0"/>
            </a:avLst>
          </a:prstGeom>
          <a:noFill/>
          <a:ln w="25400" cap="flat" cmpd="sng">
            <a:noFill/>
            <a:prstDash val="solid"/>
            <a:round/>
          </a:ln>
        </p:spPr>
        <p:txBody>
          <a:bodyPr vert="horz" wrap="square" lIns="0" tIns="0" rIns="0" bIns="0" rtlCol="0" anchor="ctr" anchorCtr="0"/>
          <a:lstStyle/>
          <a:p>
            <a:pPr>
              <a:defRPr/>
            </a:pPr>
            <a:r>
              <a:rPr lang="en-US" altLang="zh-CN" sz="1000" b="1" dirty="0"/>
              <a:t>Problem 1:</a:t>
            </a:r>
            <a:r>
              <a:rPr lang="en-US" altLang="zh-CN" sz="1000" dirty="0"/>
              <a:t> Selecting features and performing inference within a single site leads to severe selection bias, destroying zero-symmetry and causing FDR to spiral out of control.</a:t>
            </a:r>
            <a:endParaRPr lang="en-US" altLang="zh-CN" sz="1000" dirty="0"/>
          </a:p>
          <a:p>
            <a:pPr>
              <a:defRPr/>
            </a:pPr>
            <a:endParaRPr lang="en-US" sz="1000" dirty="0"/>
          </a:p>
          <a:p>
            <a:pPr>
              <a:spcBef>
                <a:spcPts val="200"/>
              </a:spcBef>
            </a:pPr>
            <a:r>
              <a:rPr lang="en-US" altLang="zh-CN" sz="1000" b="1" dirty="0"/>
              <a:t>Main Cause:</a:t>
            </a:r>
            <a:r>
              <a:rPr lang="en-US" altLang="zh-CN" sz="1000" dirty="0"/>
              <a:t> The bias stems from the fact that the selection data and inference data originate from the same source.</a:t>
            </a:r>
            <a:endParaRPr lang="en-US" altLang="zh-CN" sz="1000" dirty="0"/>
          </a:p>
          <a:p>
            <a:pPr>
              <a:spcBef>
                <a:spcPts val="200"/>
              </a:spcBef>
            </a:pPr>
            <a:endParaRPr lang="en-US" altLang="zh-CN" sz="1000" dirty="0"/>
          </a:p>
          <a:p>
            <a:pPr>
              <a:spcBef>
                <a:spcPts val="200"/>
              </a:spcBef>
            </a:pPr>
            <a:r>
              <a:rPr lang="en-US" altLang="zh-CN" sz="1000" b="1" dirty="0"/>
              <a:t>Solution:</a:t>
            </a:r>
            <a:r>
              <a:rPr lang="en-US" altLang="zh-CN" sz="1000" dirty="0"/>
              <a:t> Perform inference using the union of features from other independent sites, thereby achieving complete independence between feature selection and statistical inference.</a:t>
            </a:r>
            <a:endParaRPr lang="en-US" sz="1000" b="0" i="0" u="none" strike="noStrike" dirty="0">
              <a:solidFill>
                <a:srgbClr val="525252"/>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AutoShape 6"/>
          <p:cNvSpPr/>
          <p:nvPr/>
        </p:nvSpPr>
        <p:spPr>
          <a:xfrm>
            <a:off x="3149600" y="1143000"/>
            <a:ext cx="2667000" cy="3404550"/>
          </a:xfrm>
          <a:prstGeom prst="roundRect">
            <a:avLst>
              <a:gd name="adj" fmla="val 6194"/>
            </a:avLst>
          </a:prstGeom>
          <a:solidFill>
            <a:srgbClr val="FFFFFF">
              <a:alpha val="100000"/>
            </a:srgbClr>
          </a:solidFill>
          <a:ln w="25400" cap="flat" cmpd="sng">
            <a:noFill/>
            <a:prstDash val="solid"/>
            <a:round/>
          </a:ln>
          <a:effectLst>
            <a:outerShdw blurRad="1016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7" name="AutoShape 7"/>
          <p:cNvSpPr/>
          <p:nvPr/>
        </p:nvSpPr>
        <p:spPr>
          <a:xfrm>
            <a:off x="3340100" y="1244600"/>
            <a:ext cx="2476500" cy="2413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b="1" i="0" u="none" strike="noStrike" dirty="0">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Substantially Reducing Computational Complexity</a:t>
            </a:r>
            <a:endParaRPr lang="en-US" dirty="0"/>
          </a:p>
        </p:txBody>
      </p:sp>
      <p:sp>
        <p:nvSpPr>
          <p:cNvPr id="8" name="AutoShape 8"/>
          <p:cNvSpPr/>
          <p:nvPr/>
        </p:nvSpPr>
        <p:spPr>
          <a:xfrm>
            <a:off x="3340100" y="1524000"/>
            <a:ext cx="2381012" cy="3023550"/>
          </a:xfrm>
          <a:prstGeom prst="roundRect">
            <a:avLst>
              <a:gd name="adj" fmla="val 0"/>
            </a:avLst>
          </a:prstGeom>
          <a:noFill/>
          <a:ln w="25400" cap="flat" cmpd="sng">
            <a:noFill/>
            <a:prstDash val="solid"/>
            <a:round/>
          </a:ln>
        </p:spPr>
        <p:txBody>
          <a:bodyPr vert="horz" wrap="square" lIns="0" tIns="0" rIns="0" bIns="0" rtlCol="0" anchor="ctr" anchorCtr="0"/>
          <a:lstStyle/>
          <a:p>
            <a:pPr>
              <a:defRPr/>
            </a:pPr>
            <a:r>
              <a:rPr lang="en-US" altLang="zh-CN" sz="1000" b="1" dirty="0"/>
              <a:t>Problem 2: </a:t>
            </a:r>
            <a:r>
              <a:rPr lang="en-US" altLang="zh-CN" sz="1000" dirty="0"/>
              <a:t>Traditional methods require p node-wise regressions, leading to a computational explosion in high dimensions.</a:t>
            </a:r>
            <a:endParaRPr lang="en-US" altLang="zh-CN" sz="1000" dirty="0"/>
          </a:p>
          <a:p>
            <a:pPr>
              <a:defRPr/>
            </a:pPr>
            <a:endParaRPr lang="en-US" sz="1000" dirty="0"/>
          </a:p>
          <a:p>
            <a:pPr>
              <a:spcBef>
                <a:spcPts val="200"/>
              </a:spcBef>
            </a:pPr>
            <a:r>
              <a:rPr lang="en-US" altLang="zh-CN" sz="1000" b="1" dirty="0"/>
              <a:t>Main Cause: </a:t>
            </a:r>
            <a:r>
              <a:rPr lang="en-US" altLang="zh-CN" sz="1000" dirty="0"/>
              <a:t>The high-dimensional Hessian matrix is singular and cannot be directly inverted.</a:t>
            </a:r>
            <a:endParaRPr lang="en-US" altLang="zh-CN" sz="1000" dirty="0"/>
          </a:p>
          <a:p>
            <a:pPr>
              <a:spcBef>
                <a:spcPts val="200"/>
              </a:spcBef>
            </a:pPr>
            <a:endParaRPr lang="en-US" altLang="zh-CN" sz="1000" dirty="0"/>
          </a:p>
          <a:p>
            <a:pPr>
              <a:spcBef>
                <a:spcPts val="200"/>
              </a:spcBef>
            </a:pPr>
            <a:r>
              <a:rPr lang="en-US" altLang="zh-CN" sz="1000" b="1" dirty="0"/>
              <a:t>Solution: </a:t>
            </a:r>
            <a:r>
              <a:rPr lang="en-US" altLang="zh-CN" sz="1000" dirty="0"/>
              <a:t>The low-dimensional matrix is full-rank and can be directly inverted, drastically reducing the computational complexity from </a:t>
            </a:r>
            <a:r>
              <a:rPr lang="en-US" sz="1000" dirty="0">
                <a:sym typeface="等线" panose="02010600030101010101" charset="-122"/>
              </a:rPr>
              <a:t>O(p²) to O(p₁²).</a:t>
            </a:r>
            <a:endParaRPr lang="en-US" sz="1000" dirty="0">
              <a:sym typeface="等线" panose="02010600030101010101" charset="-122"/>
            </a:endParaRPr>
          </a:p>
        </p:txBody>
      </p:sp>
      <p:sp>
        <p:nvSpPr>
          <p:cNvPr id="9" name="AutoShape 9"/>
          <p:cNvSpPr/>
          <p:nvPr/>
        </p:nvSpPr>
        <p:spPr>
          <a:xfrm>
            <a:off x="6128939" y="1136650"/>
            <a:ext cx="2476500" cy="3410900"/>
          </a:xfrm>
          <a:prstGeom prst="roundRect">
            <a:avLst>
              <a:gd name="adj" fmla="val 6194"/>
            </a:avLst>
          </a:prstGeom>
          <a:solidFill>
            <a:srgbClr val="FFFFFF">
              <a:alpha val="100000"/>
            </a:srgbClr>
          </a:solidFill>
          <a:ln w="25400" cap="flat" cmpd="sng">
            <a:noFill/>
            <a:prstDash val="solid"/>
            <a:round/>
          </a:ln>
          <a:effectLst>
            <a:outerShdw blurRad="1016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10" name="AutoShape 10"/>
          <p:cNvSpPr/>
          <p:nvPr/>
        </p:nvSpPr>
        <p:spPr>
          <a:xfrm>
            <a:off x="6286500" y="1244600"/>
            <a:ext cx="2476500" cy="2413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b="1" dirty="0">
                <a:solidFill>
                  <a:schemeClr val="accent6">
                    <a:lumMod val="75000"/>
                  </a:schemeClr>
                </a:solidFill>
                <a:latin typeface="Noto Sans SC" panose="020B0200000000000000" charset="-122"/>
                <a:ea typeface="Noto Sans SC" panose="020B0200000000000000" charset="-122"/>
                <a:sym typeface="Noto Sans SC" panose="020B0200000000000000" charset="-122"/>
              </a:rPr>
              <a:t>Significantly Decreasing Communication Costs</a:t>
            </a:r>
            <a:endParaRPr lang="en-US" b="1" dirty="0">
              <a:solidFill>
                <a:schemeClr val="accent6">
                  <a:lumMod val="75000"/>
                </a:schemeClr>
              </a:solidFill>
              <a:latin typeface="Noto Sans SC" panose="020B0200000000000000" charset="-122"/>
              <a:ea typeface="Noto Sans SC" panose="020B0200000000000000" charset="-122"/>
            </a:endParaRPr>
          </a:p>
        </p:txBody>
      </p:sp>
      <p:sp>
        <p:nvSpPr>
          <p:cNvPr id="11" name="AutoShape 11"/>
          <p:cNvSpPr/>
          <p:nvPr/>
        </p:nvSpPr>
        <p:spPr>
          <a:xfrm>
            <a:off x="6286500" y="1523999"/>
            <a:ext cx="2138694" cy="2642143"/>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92000"/>
              </a:lnSpc>
              <a:defRPr/>
            </a:pPr>
            <a:r>
              <a:rPr lang="en-US" altLang="zh-CN" sz="1000" b="1" dirty="0"/>
              <a:t>Problem 3: </a:t>
            </a:r>
            <a:r>
              <a:rPr lang="en-US" altLang="zh-CN" sz="1000" dirty="0"/>
              <a:t>The estimators become non-sparse after debiasing, which requires transmitting the complete p-dimensional coefficient vector.</a:t>
            </a:r>
            <a:endParaRPr lang="en-US" altLang="zh-CN" sz="1000" dirty="0"/>
          </a:p>
          <a:p>
            <a:pPr>
              <a:lnSpc>
                <a:spcPct val="92000"/>
              </a:lnSpc>
              <a:defRPr/>
            </a:pPr>
            <a:endParaRPr lang="en-US" sz="1000" dirty="0"/>
          </a:p>
          <a:p>
            <a:pPr>
              <a:lnSpc>
                <a:spcPct val="92000"/>
              </a:lnSpc>
              <a:spcBef>
                <a:spcPts val="200"/>
              </a:spcBef>
            </a:pPr>
            <a:r>
              <a:rPr lang="en-US" altLang="zh-CN" sz="1000" b="1" dirty="0"/>
              <a:t>Solution: </a:t>
            </a:r>
            <a:r>
              <a:rPr lang="en-US" altLang="zh-CN" sz="1000" dirty="0"/>
              <a:t>Transmit only the feature indices and the low-dimensional coefficients, reducing the communication cost to </a:t>
            </a:r>
            <a:r>
              <a:rPr lang="en-US" sz="1000" dirty="0">
                <a:sym typeface="等线" panose="02010600030101010101" charset="-122"/>
              </a:rPr>
              <a:t>O(</a:t>
            </a:r>
            <a:r>
              <a:rPr lang="en-US" sz="1000" dirty="0" err="1">
                <a:sym typeface="等线" panose="02010600030101010101" charset="-122"/>
              </a:rPr>
              <a:t>Kp</a:t>
            </a:r>
            <a:r>
              <a:rPr lang="en-US" sz="1000" dirty="0">
                <a:sym typeface="等线" panose="02010600030101010101" charset="-122"/>
              </a:rPr>
              <a:t>₁).</a:t>
            </a:r>
            <a:endParaRPr lang="en-US" sz="1000" dirty="0">
              <a:sym typeface="等线" panose="02010600030101010101" charset="-122"/>
            </a:endParaRPr>
          </a:p>
        </p:txBody>
      </p:sp>
      <p:sp>
        <p:nvSpPr>
          <p:cNvPr id="13" name="AutoShape 13"/>
          <p:cNvSpPr/>
          <p:nvPr/>
        </p:nvSpPr>
        <p:spPr>
          <a:xfrm>
            <a:off x="4864100" y="3149600"/>
            <a:ext cx="3911600" cy="10541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508000" y="25400"/>
            <a:ext cx="8001000" cy="800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ts val="3150"/>
              </a:lnSpc>
              <a:defRPr/>
            </a:pPr>
            <a:r>
              <a:rPr lang="en-US" sz="2300" b="1" i="0" u="none" strike="noStrike" dirty="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The Swap Strategy</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9276" r="9276"/>
          <a:stretch>
            <a:fillRect/>
          </a:stretch>
        </p:blipFill>
        <p:spPr>
          <a:xfrm>
            <a:off x="0" y="0"/>
            <a:ext cx="9144000" cy="1028700"/>
          </a:xfrm>
          <a:prstGeom prst="rect">
            <a:avLst/>
          </a:prstGeom>
          <a:noFill/>
          <a:ln w="25400" cap="flat" cmpd="sng">
            <a:noFill/>
            <a:prstDash val="solid"/>
            <a:round/>
          </a:ln>
        </p:spPr>
      </p:pic>
      <p:graphicFrame>
        <p:nvGraphicFramePr>
          <p:cNvPr id="3" name="Table 3"/>
          <p:cNvGraphicFramePr>
            <a:graphicFrameLocks noGrp="1"/>
          </p:cNvGraphicFramePr>
          <p:nvPr/>
        </p:nvGraphicFramePr>
        <p:xfrm>
          <a:off x="185814" y="2614971"/>
          <a:ext cx="8462378" cy="2459674"/>
        </p:xfrm>
        <a:graphic>
          <a:graphicData uri="http://schemas.openxmlformats.org/drawingml/2006/table">
            <a:tbl>
              <a:tblPr>
                <a:effectLst/>
              </a:tblPr>
              <a:tblGrid>
                <a:gridCol w="769307"/>
                <a:gridCol w="3461882"/>
                <a:gridCol w="4231189"/>
              </a:tblGrid>
              <a:tr h="256145">
                <a:tc>
                  <a:txBody>
                    <a:bodyPr/>
                    <a:lstStyle/>
                    <a:p>
                      <a:pPr indent="0" algn="ctr">
                        <a:lnSpc>
                          <a:spcPct val="100000"/>
                        </a:lnSpc>
                        <a:defRPr/>
                      </a:pPr>
                      <a:r>
                        <a:rPr lang="en-US" sz="1100" b="1" i="0" u="none" strike="noStrike">
                          <a:solidFill>
                            <a:srgbClr val="000000"/>
                          </a:solidFill>
                          <a:latin typeface="Calibri" panose="020F0502020204030204"/>
                          <a:ea typeface="Calibri" panose="020F0502020204030204"/>
                          <a:cs typeface="Calibri" panose="020F0502020204030204"/>
                          <a:sym typeface="Calibri" panose="020F0502020204030204"/>
                        </a:rPr>
                        <a:t>Assumption No.</a:t>
                      </a:r>
                      <a:endParaRPr lang="en-US" sz="1100"/>
                    </a:p>
                  </a:txBody>
                  <a:tcPr marL="50800" marR="0" marT="50800" marB="508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noFill/>
                  </a:tcPr>
                </a:tc>
                <a:tc>
                  <a:txBody>
                    <a:bodyPr/>
                    <a:lstStyle/>
                    <a:p>
                      <a:pPr indent="0" algn="ctr">
                        <a:lnSpc>
                          <a:spcPct val="100000"/>
                        </a:lnSpc>
                        <a:defRPr/>
                      </a:pPr>
                      <a:r>
                        <a:rPr lang="en-US" sz="1100" b="1" i="0" u="none" strike="noStrike">
                          <a:solidFill>
                            <a:srgbClr val="000000"/>
                          </a:solidFill>
                          <a:latin typeface="Calibri" panose="020F0502020204030204"/>
                          <a:ea typeface="Calibri" panose="020F0502020204030204"/>
                          <a:cs typeface="Calibri" panose="020F0502020204030204"/>
                          <a:sym typeface="Calibri" panose="020F0502020204030204"/>
                        </a:rPr>
                        <a:t>Mathematical Statement</a:t>
                      </a:r>
                      <a:endParaRPr lang="en-US" sz="1100"/>
                    </a:p>
                  </a:txBody>
                  <a:tcPr marL="50800" marR="0" marT="50800" marB="508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noFill/>
                  </a:tcPr>
                </a:tc>
                <a:tc>
                  <a:txBody>
                    <a:bodyPr/>
                    <a:lstStyle/>
                    <a:p>
                      <a:pPr indent="0" algn="ctr">
                        <a:lnSpc>
                          <a:spcPct val="100000"/>
                        </a:lnSpc>
                        <a:defRPr/>
                      </a:pPr>
                      <a:r>
                        <a:rPr lang="en-US" sz="1100" b="1" i="0" u="none" strike="noStrike">
                          <a:solidFill>
                            <a:srgbClr val="000000"/>
                          </a:solidFill>
                          <a:latin typeface="Calibri" panose="020F0502020204030204"/>
                          <a:ea typeface="Calibri" panose="020F0502020204030204"/>
                          <a:cs typeface="Calibri" panose="020F0502020204030204"/>
                          <a:sym typeface="Calibri" panose="020F0502020204030204"/>
                        </a:rPr>
                        <a:t>Corresponding Algorithmic Meaning</a:t>
                      </a:r>
                      <a:endParaRPr lang="en-US" sz="1100"/>
                    </a:p>
                  </a:txBody>
                  <a:tcPr marL="50800" marR="0" marT="50800" marB="508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noFill/>
                  </a:tcPr>
                </a:tc>
              </a:tr>
              <a:tr h="395366">
                <a:tc>
                  <a:txBody>
                    <a:bodyPr/>
                    <a:lstStyle/>
                    <a:p>
                      <a:pPr indent="0" algn="ctr">
                        <a:lnSpc>
                          <a:spcPct val="100000"/>
                        </a:lnSpc>
                        <a:defRPr/>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A2</a:t>
                      </a:r>
                      <a:endParaRPr lang="en-US" sz="1100"/>
                    </a:p>
                  </a:txBody>
                  <a:tcPr marL="76200" marR="0" marT="76200" marB="762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noFill/>
                  </a:tcPr>
                </a:tc>
                <a:tc>
                  <a:txBody>
                    <a:bodyPr/>
                    <a:lstStyle/>
                    <a:p>
                      <a:pPr indent="0" algn="l">
                        <a:lnSpc>
                          <a:spcPct val="100000"/>
                        </a:lnSpc>
                        <a:defRPr/>
                      </a:pPr>
                      <a:r>
                        <a:rPr lang="en-US" sz="1000" b="0" i="0" u="none" strike="noStrike">
                          <a:solidFill>
                            <a:srgbClr val="333333"/>
                          </a:solidFill>
                          <a:latin typeface="Calibri" panose="020F0502020204030204"/>
                          <a:ea typeface="Calibri" panose="020F0502020204030204"/>
                          <a:cs typeface="Calibri" panose="020F0502020204030204"/>
                          <a:sym typeface="Calibri" panose="020F0502020204030204"/>
                        </a:rPr>
                        <a:t>Covariates</a:t>
                      </a:r>
                      <a:r>
                        <a:rPr lang="en-US" sz="1000" b="0" i="1" u="none" strike="noStrike">
                          <a:solidFill>
                            <a:srgbClr val="333333"/>
                          </a:solidFill>
                          <a:latin typeface="Calibri" panose="020F0502020204030204"/>
                          <a:ea typeface="Calibri" panose="020F0502020204030204"/>
                          <a:cs typeface="Calibri" panose="020F0502020204030204"/>
                          <a:sym typeface="Calibri" panose="020F0502020204030204"/>
                        </a:rPr>
                        <a:t>xᵏᵢ</a:t>
                      </a:r>
                      <a:r>
                        <a:rPr lang="en-US" sz="1000" b="0" i="0" u="none" strike="noStrike">
                          <a:solidFill>
                            <a:srgbClr val="333333"/>
                          </a:solidFill>
                          <a:latin typeface="Calibri" panose="020F0502020204030204"/>
                          <a:ea typeface="Calibri" panose="020F0502020204030204"/>
                          <a:cs typeface="Calibri" panose="020F0502020204030204"/>
                          <a:sym typeface="Calibri" panose="020F0502020204030204"/>
                        </a:rPr>
                        <a:t>for all sites are sub-Gaussian random variables.</a:t>
                      </a:r>
                      <a:endParaRPr lang="en-US" sz="1100"/>
                    </a:p>
                  </a:txBody>
                  <a:tcPr marL="76200" marR="0" marT="76200" marB="762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noFill/>
                  </a:tcPr>
                </a:tc>
                <a:tc>
                  <a:txBody>
                    <a:bodyPr/>
                    <a:lstStyle/>
                    <a:p>
                      <a:pPr indent="0" algn="l">
                        <a:lnSpc>
                          <a:spcPct val="100000"/>
                        </a:lnSpc>
                        <a:defRPr/>
                      </a:pPr>
                      <a:r>
                        <a:rPr lang="en-US" sz="1000" b="0" i="0" u="none" strike="noStrike">
                          <a:solidFill>
                            <a:srgbClr val="333333"/>
                          </a:solidFill>
                          <a:latin typeface="Calibri" panose="020F0502020204030204"/>
                          <a:ea typeface="Calibri" panose="020F0502020204030204"/>
                          <a:cs typeface="Calibri" panose="020F0502020204030204"/>
                          <a:sym typeface="Calibri" panose="020F0502020204030204"/>
                        </a:rPr>
                        <a:t>Ensures that the concentration inequality for Lasso estimation holds, preventing extreme outliers from causing estimation failure.</a:t>
                      </a:r>
                      <a:endParaRPr lang="en-US" sz="1100"/>
                    </a:p>
                  </a:txBody>
                  <a:tcPr marL="76200" marR="0" marT="76200" marB="762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noFill/>
                  </a:tcPr>
                </a:tc>
              </a:tr>
              <a:tr h="395366">
                <a:tc>
                  <a:txBody>
                    <a:bodyPr/>
                    <a:lstStyle/>
                    <a:p>
                      <a:pPr indent="0" algn="ctr">
                        <a:lnSpc>
                          <a:spcPct val="100000"/>
                        </a:lnSpc>
                        <a:defRPr/>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A3</a:t>
                      </a:r>
                      <a:endParaRPr lang="en-US" sz="1100"/>
                    </a:p>
                  </a:txBody>
                  <a:tcPr marL="76200" marR="0" marT="76200" marB="762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noFill/>
                  </a:tcPr>
                </a:tc>
                <a:tc>
                  <a:txBody>
                    <a:bodyPr/>
                    <a:lstStyle/>
                    <a:p>
                      <a:pPr indent="0" algn="l">
                        <a:lnSpc>
                          <a:spcPct val="100000"/>
                        </a:lnSpc>
                        <a:defRPr/>
                      </a:pPr>
                      <a:r>
                        <a:rPr lang="en-US" sz="1000" b="0" i="0" u="none" strike="noStrike">
                          <a:solidFill>
                            <a:srgbClr val="333333"/>
                          </a:solidFill>
                          <a:latin typeface="Calibri" panose="020F0502020204030204"/>
                          <a:ea typeface="Calibri" panose="020F0502020204030204"/>
                          <a:cs typeface="Calibri" panose="020F0502020204030204"/>
                          <a:sym typeface="Calibri" panose="020F0502020204030204"/>
                        </a:rPr>
                        <a:t>The design matrix and the weighted Hessian matrix are positive definite, with strictly bounded eigenvalues.</a:t>
                      </a:r>
                      <a:endParaRPr lang="en-US" sz="1100"/>
                    </a:p>
                  </a:txBody>
                  <a:tcPr marL="76200" marR="0" marT="76200" marB="762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noFill/>
                  </a:tcPr>
                </a:tc>
                <a:tc>
                  <a:txBody>
                    <a:bodyPr/>
                    <a:lstStyle/>
                    <a:p>
                      <a:pPr indent="0" algn="l">
                        <a:lnSpc>
                          <a:spcPct val="100000"/>
                        </a:lnSpc>
                        <a:defRPr/>
                      </a:pPr>
                      <a:r>
                        <a:rPr lang="en-US" sz="1000" b="0" i="0" u="none" strike="noStrike">
                          <a:solidFill>
                            <a:srgbClr val="333333"/>
                          </a:solidFill>
                          <a:latin typeface="Calibri" panose="020F0502020204030204"/>
                          <a:ea typeface="Calibri" panose="020F0502020204030204"/>
                          <a:cs typeface="Calibri" panose="020F0502020204030204"/>
                          <a:sym typeface="Calibri" panose="020F0502020204030204"/>
                        </a:rPr>
                        <a:t>Ensures the Hessian matrix is invertible during low-dimensional debiasing, a core prerequisite for the refined desparsified Lasso to be computable.</a:t>
                      </a:r>
                      <a:endParaRPr lang="en-US" sz="1100"/>
                    </a:p>
                  </a:txBody>
                  <a:tcPr marL="76200" marR="0" marT="76200" marB="762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noFill/>
                  </a:tcPr>
                </a:tc>
              </a:tr>
              <a:tr h="284166">
                <a:tc>
                  <a:txBody>
                    <a:bodyPr/>
                    <a:lstStyle/>
                    <a:p>
                      <a:pPr indent="0" algn="ctr">
                        <a:lnSpc>
                          <a:spcPct val="100000"/>
                        </a:lnSpc>
                        <a:defRPr/>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A4</a:t>
                      </a:r>
                      <a:endParaRPr lang="en-US" sz="1100"/>
                    </a:p>
                  </a:txBody>
                  <a:tcPr marL="76200" marR="0" marT="76200" marB="762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noFill/>
                  </a:tcPr>
                </a:tc>
                <a:tc>
                  <a:txBody>
                    <a:bodyPr/>
                    <a:lstStyle/>
                    <a:p>
                      <a:pPr indent="0" algn="l">
                        <a:lnSpc>
                          <a:spcPct val="100000"/>
                        </a:lnSpc>
                        <a:defRPr/>
                      </a:pPr>
                      <a:r>
                        <a:rPr lang="en-US" sz="1000" b="0" i="0" u="none" strike="noStrike" dirty="0">
                          <a:solidFill>
                            <a:srgbClr val="333333"/>
                          </a:solidFill>
                          <a:latin typeface="Calibri" panose="020F0502020204030204"/>
                          <a:ea typeface="Calibri" panose="020F0502020204030204"/>
                          <a:cs typeface="Calibri" panose="020F0502020204030204"/>
                          <a:sym typeface="Calibri" panose="020F0502020204030204"/>
                        </a:rPr>
                        <a:t>The third-order derivative of the GLM link function </a:t>
                      </a:r>
                      <a:r>
                        <a:rPr lang="en-US" sz="1000" b="0" i="1" u="none" strike="noStrike" dirty="0">
                          <a:solidFill>
                            <a:srgbClr val="333333"/>
                          </a:solidFill>
                          <a:latin typeface="Calibri" panose="020F0502020204030204"/>
                          <a:ea typeface="Calibri" panose="020F0502020204030204"/>
                          <a:cs typeface="Calibri" panose="020F0502020204030204"/>
                          <a:sym typeface="Calibri" panose="020F0502020204030204"/>
                        </a:rPr>
                        <a:t>ρ </a:t>
                      </a:r>
                      <a:r>
                        <a:rPr lang="en-US" sz="1000" b="0" i="0" u="none" strike="noStrike" dirty="0">
                          <a:solidFill>
                            <a:srgbClr val="333333"/>
                          </a:solidFill>
                          <a:latin typeface="Calibri" panose="020F0502020204030204"/>
                          <a:ea typeface="Calibri" panose="020F0502020204030204"/>
                          <a:cs typeface="Calibri" panose="020F0502020204030204"/>
                          <a:sym typeface="Calibri" panose="020F0502020204030204"/>
                        </a:rPr>
                        <a:t>is continuous.</a:t>
                      </a:r>
                      <a:endParaRPr lang="en-US" sz="1100" dirty="0"/>
                    </a:p>
                  </a:txBody>
                  <a:tcPr marL="76200" marR="0" marT="76200" marB="762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noFill/>
                  </a:tcPr>
                </a:tc>
                <a:tc>
                  <a:txBody>
                    <a:bodyPr/>
                    <a:lstStyle/>
                    <a:p>
                      <a:pPr indent="0" algn="l">
                        <a:lnSpc>
                          <a:spcPct val="100000"/>
                        </a:lnSpc>
                        <a:defRPr/>
                      </a:pPr>
                      <a:r>
                        <a:rPr lang="en-US" sz="1000" b="0" i="0" u="none" strike="noStrike">
                          <a:solidFill>
                            <a:srgbClr val="333333"/>
                          </a:solidFill>
                          <a:latin typeface="Calibri" panose="020F0502020204030204"/>
                          <a:ea typeface="Calibri" panose="020F0502020204030204"/>
                          <a:cs typeface="Calibri" panose="020F0502020204030204"/>
                          <a:sym typeface="Calibri" panose="020F0502020204030204"/>
                        </a:rPr>
                        <a:t>Ensures the remainder term of the Taylor expansion is controllable, allowing the debiasing operation to effectively eliminate the shrinkage bias of Lasso.</a:t>
                      </a:r>
                      <a:endParaRPr lang="en-US" sz="1100"/>
                    </a:p>
                  </a:txBody>
                  <a:tcPr marL="76200" marR="0" marT="76200" marB="762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noFill/>
                  </a:tcPr>
                </a:tc>
              </a:tr>
              <a:tr h="651194">
                <a:tc>
                  <a:txBody>
                    <a:bodyPr/>
                    <a:lstStyle/>
                    <a:p>
                      <a:pPr indent="0" algn="ctr">
                        <a:lnSpc>
                          <a:spcPct val="100000"/>
                        </a:lnSpc>
                        <a:defRPr/>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A5</a:t>
                      </a:r>
                      <a:endParaRPr lang="en-US" sz="1100"/>
                    </a:p>
                  </a:txBody>
                  <a:tcPr marL="76200" marR="0" marT="76200" marB="762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noFill/>
                  </a:tcPr>
                </a:tc>
                <a:tc>
                  <a:txBody>
                    <a:bodyPr/>
                    <a:lstStyle/>
                    <a:p>
                      <a:pPr indent="0" algn="l">
                        <a:lnSpc>
                          <a:spcPct val="100000"/>
                        </a:lnSpc>
                        <a:defRPr/>
                      </a:pPr>
                      <a:r>
                        <a:rPr lang="en-US" sz="900" b="0" i="0" u="none" strike="noStrike" dirty="0">
                          <a:solidFill>
                            <a:srgbClr val="333333"/>
                          </a:solidFill>
                          <a:latin typeface="Calibri" panose="020F0502020204030204"/>
                          <a:ea typeface="Calibri" panose="020F0502020204030204"/>
                          <a:cs typeface="Calibri" panose="020F0502020204030204"/>
                          <a:sym typeface="Calibri" panose="020F0502020204030204"/>
                        </a:rPr>
                        <a:t>Sparsity:</a:t>
                      </a:r>
                      <a:br>
                        <a:rPr lang="en-US" sz="900" b="0" i="0" u="none" strike="noStrike" dirty="0">
                          <a:solidFill>
                            <a:srgbClr val="333333"/>
                          </a:solidFill>
                          <a:latin typeface="Calibri" panose="020F0502020204030204"/>
                          <a:ea typeface="Calibri" panose="020F0502020204030204"/>
                          <a:cs typeface="Calibri" panose="020F0502020204030204"/>
                          <a:sym typeface="Calibri" panose="020F0502020204030204"/>
                        </a:rPr>
                      </a:br>
                      <a:r>
                        <a:rPr lang="en-US" sz="900" b="0" i="0" u="none" strike="noStrike" dirty="0">
                          <a:solidFill>
                            <a:srgbClr val="333333"/>
                          </a:solidFill>
                          <a:latin typeface="Calibri" panose="020F0502020204030204"/>
                          <a:ea typeface="Calibri" panose="020F0502020204030204"/>
                          <a:cs typeface="Calibri" panose="020F0502020204030204"/>
                          <a:sym typeface="Calibri" panose="020F0502020204030204"/>
                        </a:rPr>
                        <a:t>Min signal strength:.</a:t>
                      </a:r>
                      <a:endParaRPr lang="en-US" sz="1100" dirty="0"/>
                    </a:p>
                  </a:txBody>
                  <a:tcPr marL="76200" marR="0" marT="76200" marB="762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noFill/>
                  </a:tcPr>
                </a:tc>
                <a:tc>
                  <a:txBody>
                    <a:bodyPr/>
                    <a:lstStyle/>
                    <a:p>
                      <a:pPr indent="0" algn="l">
                        <a:lnSpc>
                          <a:spcPct val="100000"/>
                        </a:lnSpc>
                        <a:defRPr/>
                      </a:pPr>
                      <a:r>
                        <a:rPr lang="en-US" sz="1000" b="0" i="0" u="none" strike="noStrike" dirty="0">
                          <a:solidFill>
                            <a:srgbClr val="333333"/>
                          </a:solidFill>
                          <a:latin typeface="Calibri" panose="020F0502020204030204"/>
                          <a:ea typeface="Calibri" panose="020F0502020204030204"/>
                          <a:cs typeface="Calibri" panose="020F0502020204030204"/>
                          <a:sym typeface="Calibri" panose="020F0502020204030204"/>
                        </a:rPr>
                        <a:t>Ensures that the initial Lasso screening can include all true features, preventing true signals from being drowned out by noise.</a:t>
                      </a:r>
                      <a:endParaRPr lang="en-US" sz="1100" dirty="0"/>
                    </a:p>
                  </a:txBody>
                  <a:tcPr marL="76200" marR="0" marT="76200" marB="762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noFill/>
                  </a:tcPr>
                </a:tc>
              </a:tr>
            </a:tbl>
          </a:graphicData>
        </a:graphic>
      </p:graphicFrame>
      <p:sp>
        <p:nvSpPr>
          <p:cNvPr id="4" name="AutoShape 4"/>
          <p:cNvSpPr/>
          <p:nvPr/>
        </p:nvSpPr>
        <p:spPr>
          <a:xfrm>
            <a:off x="285750" y="358938"/>
            <a:ext cx="85725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1F2329"/>
                </a:solidFill>
                <a:latin typeface="Calibri" panose="020F0502020204030204"/>
                <a:ea typeface="Calibri" panose="020F0502020204030204"/>
                <a:cs typeface="Calibri" panose="020F0502020204030204"/>
                <a:sym typeface="Calibri" panose="020F0502020204030204"/>
              </a:rPr>
              <a:t>Assumptions A2-A5</a:t>
            </a:r>
            <a:endParaRPr lang="en-US" sz="1100"/>
          </a:p>
        </p:txBody>
      </p:sp>
      <p:pic>
        <p:nvPicPr>
          <p:cNvPr id="5" name="图片 4"/>
          <p:cNvPicPr>
            <a:picLocks noChangeAspect="1"/>
          </p:cNvPicPr>
          <p:nvPr/>
        </p:nvPicPr>
        <p:blipFill>
          <a:blip r:embed="rId2"/>
          <a:stretch>
            <a:fillRect/>
          </a:stretch>
        </p:blipFill>
        <p:spPr>
          <a:xfrm>
            <a:off x="1180977" y="896087"/>
            <a:ext cx="6918960" cy="1689735"/>
          </a:xfrm>
          <a:prstGeom prst="rect">
            <a:avLst/>
          </a:prstGeom>
        </p:spPr>
      </p:pic>
      <p:pic>
        <p:nvPicPr>
          <p:cNvPr id="6" name="图片 5"/>
          <p:cNvPicPr>
            <a:picLocks noChangeAspect="1"/>
          </p:cNvPicPr>
          <p:nvPr/>
        </p:nvPicPr>
        <p:blipFill>
          <a:blip r:embed="rId3"/>
          <a:stretch>
            <a:fillRect/>
          </a:stretch>
        </p:blipFill>
        <p:spPr>
          <a:xfrm>
            <a:off x="2340872" y="4464138"/>
            <a:ext cx="1293637" cy="210216"/>
          </a:xfrm>
          <a:prstGeom prst="rect">
            <a:avLst/>
          </a:prstGeom>
        </p:spPr>
      </p:pic>
      <p:pic>
        <p:nvPicPr>
          <p:cNvPr id="7" name="图片 6"/>
          <p:cNvPicPr>
            <a:picLocks noChangeAspect="1"/>
          </p:cNvPicPr>
          <p:nvPr/>
        </p:nvPicPr>
        <p:blipFill>
          <a:blip r:embed="rId4"/>
          <a:stretch>
            <a:fillRect/>
          </a:stretch>
        </p:blipFill>
        <p:spPr>
          <a:xfrm>
            <a:off x="1405942" y="4794036"/>
            <a:ext cx="2830989" cy="17865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Image 0" descr="preencoded.png"/>
          <p:cNvPicPr>
            <a:picLocks noChangeAspect="1"/>
          </p:cNvPicPr>
          <p:nvPr/>
        </p:nvPicPr>
        <p:blipFill>
          <a:blip r:embed="rId1"/>
          <a:srcRect l="9302" r="9302"/>
          <a:stretch>
            <a:fillRect/>
          </a:stretch>
        </p:blipFill>
        <p:spPr>
          <a:xfrm>
            <a:off x="0" y="0"/>
            <a:ext cx="9144000" cy="1027511"/>
          </a:xfrm>
          <a:prstGeom prst="rect">
            <a:avLst/>
          </a:prstGeom>
        </p:spPr>
      </p:pic>
      <p:sp>
        <p:nvSpPr>
          <p:cNvPr id="2" name="AutoShape 2"/>
          <p:cNvSpPr/>
          <p:nvPr/>
        </p:nvSpPr>
        <p:spPr>
          <a:xfrm>
            <a:off x="381000" y="333375"/>
            <a:ext cx="8382000" cy="571500"/>
          </a:xfrm>
          <a:prstGeom prst="rect">
            <a:avLst/>
          </a:prstGeom>
          <a:noFill/>
          <a:ln w="12700" cap="flat" cmpd="sng">
            <a:noFill/>
            <a:prstDash val="solid"/>
            <a:round/>
          </a:ln>
        </p:spPr>
        <p:txBody>
          <a:bodyPr vert="horz" wrap="square" lIns="0" tIns="0" rIns="0" bIns="0" rtlCol="0" anchor="ctr" anchorCtr="0"/>
          <a:lstStyle/>
          <a:p>
            <a:pPr>
              <a:lnSpc>
                <a:spcPts val="3150"/>
              </a:lnSpc>
              <a:defRPr/>
            </a:pPr>
            <a:r>
              <a:rPr lang="en-US" sz="2250" b="1" dirty="0">
                <a:solidFill>
                  <a:srgbClr val="333333"/>
                </a:solidFill>
                <a:latin typeface="微软雅黑" panose="020B0503020204020204" charset="-122"/>
                <a:ea typeface="微软雅黑" panose="020B0503020204020204" charset="-122"/>
                <a:sym typeface="Noto Sans SC" panose="020B0200000000000000" charset="-122"/>
              </a:rPr>
              <a:t>Proposition 2：Lasso Deterministic Screening</a:t>
            </a:r>
            <a:endParaRPr lang="en-US" sz="2250" b="1" dirty="0">
              <a:solidFill>
                <a:srgbClr val="333333"/>
              </a:solidFill>
              <a:latin typeface="微软雅黑" panose="020B0503020204020204" charset="-122"/>
              <a:ea typeface="微软雅黑" panose="020B0503020204020204" charset="-122"/>
            </a:endParaRPr>
          </a:p>
        </p:txBody>
      </p:sp>
      <p:sp>
        <p:nvSpPr>
          <p:cNvPr id="3" name="AutoShape 3"/>
          <p:cNvSpPr/>
          <p:nvPr/>
        </p:nvSpPr>
        <p:spPr>
          <a:xfrm>
            <a:off x="381000" y="1027510"/>
            <a:ext cx="8382000" cy="448865"/>
          </a:xfrm>
          <a:prstGeom prst="roundRect">
            <a:avLst>
              <a:gd name="adj" fmla="val 15625"/>
            </a:avLst>
          </a:prstGeom>
          <a:solidFill>
            <a:srgbClr val="42A5F5">
              <a:alpha val="15000"/>
            </a:srgbClr>
          </a:solidFill>
          <a:ln w="12700" cap="flat" cmpd="sng">
            <a:solidFill>
              <a:srgbClr val="00529B">
                <a:alpha val="30000"/>
              </a:srgbClr>
            </a:solidFill>
            <a:prstDash val="solid"/>
            <a:round/>
          </a:ln>
        </p:spPr>
        <p:txBody>
          <a:bodyPr vert="horz" wrap="square" lIns="47625" tIns="47625" rIns="47625" bIns="47625" rtlCol="0" anchor="ctr"/>
          <a:lstStyle/>
          <a:p>
            <a:pPr algn="ctr">
              <a:defRPr/>
            </a:pPr>
            <a:endParaRPr sz="1350"/>
          </a:p>
        </p:txBody>
      </p:sp>
      <p:sp>
        <p:nvSpPr>
          <p:cNvPr id="4" name="AutoShape 4"/>
          <p:cNvSpPr/>
          <p:nvPr/>
        </p:nvSpPr>
        <p:spPr>
          <a:xfrm>
            <a:off x="533400" y="1047750"/>
            <a:ext cx="8001000" cy="419100"/>
          </a:xfrm>
          <a:prstGeom prst="rect">
            <a:avLst/>
          </a:prstGeom>
          <a:noFill/>
          <a:ln w="12700" cap="flat" cmpd="sng">
            <a:noFill/>
            <a:prstDash val="solid"/>
            <a:round/>
          </a:ln>
        </p:spPr>
        <p:txBody>
          <a:bodyPr vert="horz" wrap="square" lIns="0" tIns="0" rIns="0" bIns="0" rtlCol="0" anchor="ctr" anchorCtr="0"/>
          <a:lstStyle/>
          <a:p>
            <a:pPr>
              <a:lnSpc>
                <a:spcPct val="108000"/>
              </a:lnSpc>
              <a:defRPr/>
            </a:pPr>
            <a:r>
              <a:rPr lang="en-US" sz="1050"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In the first step of the algorithm, we use local Lasso for pre-screening. Is this step reliable enough? Can it eliminate a large number of irrelevant features while absolutely guaranteeing that no true features genuinely useful for prediction are missed?</a:t>
            </a:r>
            <a:endParaRPr lang="en-US" sz="825" dirty="0"/>
          </a:p>
        </p:txBody>
      </p:sp>
      <p:sp>
        <p:nvSpPr>
          <p:cNvPr id="5" name="AutoShape 5"/>
          <p:cNvSpPr/>
          <p:nvPr/>
        </p:nvSpPr>
        <p:spPr>
          <a:xfrm>
            <a:off x="381000" y="1564749"/>
            <a:ext cx="3905250" cy="3290862"/>
          </a:xfrm>
          <a:prstGeom prst="roundRect">
            <a:avLst>
              <a:gd name="adj" fmla="val 2758"/>
            </a:avLst>
          </a:prstGeom>
          <a:solidFill>
            <a:srgbClr val="FFFFFF">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47625" tIns="47625" rIns="47625" bIns="47625" rtlCol="0" anchor="ctr"/>
          <a:lstStyle/>
          <a:p>
            <a:pPr algn="ctr">
              <a:defRPr/>
            </a:pPr>
            <a:endParaRPr sz="1350"/>
          </a:p>
        </p:txBody>
      </p:sp>
      <p:sp>
        <p:nvSpPr>
          <p:cNvPr id="7" name="AutoShape 7"/>
          <p:cNvSpPr/>
          <p:nvPr/>
        </p:nvSpPr>
        <p:spPr>
          <a:xfrm>
            <a:off x="449865" y="1664451"/>
            <a:ext cx="3836385" cy="413233"/>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200" b="1" dirty="0">
                <a:solidFill>
                  <a:srgbClr val="21212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1200" b="1" dirty="0">
                <a:solidFill>
                  <a:srgbClr val="212121"/>
                </a:solidFill>
                <a:latin typeface="Noto Sans SC" panose="020B0200000000000000" charset="-122"/>
                <a:ea typeface="Noto Sans SC" panose="020B0200000000000000" charset="-122"/>
              </a:rPr>
              <a:t>Mathematical Conclusion: Theoretical Guarantees of Proposition 2</a:t>
            </a:r>
            <a:endParaRPr lang="en-US" sz="1200" b="1" dirty="0">
              <a:solidFill>
                <a:srgbClr val="212121"/>
              </a:solidFill>
              <a:latin typeface="Noto Sans SC" panose="020B0200000000000000" charset="-122"/>
              <a:ea typeface="Noto Sans SC" panose="020B0200000000000000" charset="-122"/>
            </a:endParaRPr>
          </a:p>
        </p:txBody>
      </p:sp>
      <mc:AlternateContent xmlns:mc="http://schemas.openxmlformats.org/markup-compatibility/2006">
        <mc:Choice xmlns:a14="http://schemas.microsoft.com/office/drawing/2010/main" Requires="a14">
          <p:sp>
            <p:nvSpPr>
              <p:cNvPr id="8" name="AutoShape 8"/>
              <p:cNvSpPr/>
              <p:nvPr/>
            </p:nvSpPr>
            <p:spPr>
              <a:xfrm>
                <a:off x="533400" y="2077685"/>
                <a:ext cx="3619500" cy="1115614"/>
              </a:xfrm>
              <a:prstGeom prst="rect">
                <a:avLst/>
              </a:prstGeom>
              <a:noFill/>
              <a:ln w="12700" cap="flat" cmpd="sng">
                <a:noFill/>
                <a:prstDash val="solid"/>
                <a:round/>
              </a:ln>
            </p:spPr>
            <p:txBody>
              <a:bodyPr vert="horz" wrap="square" lIns="0" tIns="0" rIns="0" bIns="0" rtlCol="0" anchor="ctr" anchorCtr="0"/>
              <a:lstStyle/>
              <a:p>
                <a:pPr>
                  <a:lnSpc>
                    <a:spcPct val="117000"/>
                  </a:lnSpc>
                  <a:defRPr/>
                </a:pPr>
                <a:r>
                  <a:rPr lang="en-US" sz="1000" dirty="0">
                    <a:solidFill>
                      <a:schemeClr val="tx1"/>
                    </a:solidFill>
                    <a:latin typeface="等线" panose="02010600030101010101" charset="-122"/>
                    <a:ea typeface="等线" panose="02010600030101010101" charset="-122"/>
                    <a:cs typeface="Noto Sans SC" panose="020B0200000000000000" charset="-122"/>
                    <a:sym typeface="Noto Sans SC" panose="020B0200000000000000" charset="-122"/>
                  </a:rPr>
                  <a:t>Under the regularity assumptions of A1–A5, with a properly selected tuning parameter </a:t>
                </a:r>
                <a14:m>
                  <m:oMath xmlns:m="http://schemas.openxmlformats.org/officeDocument/2006/math">
                    <m:sSub>
                      <m:sSubPr>
                        <m:ctrlPr>
                          <a:rPr lang="en-US" altLang="zh-CN" sz="1000" i="1" smtClean="0">
                            <a:solidFill>
                              <a:schemeClr val="tx1"/>
                            </a:solidFill>
                            <a:latin typeface="Cambria Math" panose="02040503050406030204" pitchFamily="18" charset="0"/>
                            <a:ea typeface="Noto Sans SC" panose="020B0200000000000000" charset="-122"/>
                            <a:sym typeface="Noto Sans SC" panose="020B0200000000000000" charset="-122"/>
                          </a:rPr>
                        </m:ctrlPr>
                      </m:sSubPr>
                      <m:e>
                        <m:r>
                          <a:rPr lang="zh-CN" altLang="en-US" sz="1000" i="1" smtClean="0">
                            <a:solidFill>
                              <a:schemeClr val="tx1"/>
                            </a:solidFill>
                            <a:latin typeface="Cambria Math" panose="02040503050406030204" pitchFamily="18" charset="0"/>
                            <a:ea typeface="Noto Sans SC" panose="020B0200000000000000" charset="-122"/>
                            <a:sym typeface="Noto Sans SC" panose="020B0200000000000000" charset="-122"/>
                          </a:rPr>
                          <m:t>𝜆</m:t>
                        </m:r>
                      </m:e>
                      <m:sub>
                        <m:r>
                          <a:rPr lang="en-US" altLang="zh-CN" sz="1000" b="0" i="1" smtClean="0">
                            <a:solidFill>
                              <a:schemeClr val="tx1"/>
                            </a:solidFill>
                            <a:latin typeface="Cambria Math" panose="02040503050406030204" pitchFamily="18" charset="0"/>
                            <a:ea typeface="Noto Sans SC" panose="020B0200000000000000" charset="-122"/>
                            <a:sym typeface="Noto Sans SC" panose="020B0200000000000000" charset="-122"/>
                          </a:rPr>
                          <m:t>1</m:t>
                        </m:r>
                        <m:r>
                          <a:rPr lang="en-US" altLang="zh-CN" sz="1000" b="0" i="1" smtClean="0">
                            <a:solidFill>
                              <a:schemeClr val="tx1"/>
                            </a:solidFill>
                            <a:latin typeface="Cambria Math" panose="02040503050406030204" pitchFamily="18" charset="0"/>
                            <a:ea typeface="Noto Sans SC" panose="020B0200000000000000" charset="-122"/>
                            <a:sym typeface="Noto Sans SC" panose="020B0200000000000000" charset="-122"/>
                          </a:rPr>
                          <m:t>𝑘</m:t>
                        </m:r>
                      </m:sub>
                    </m:sSub>
                    <m:r>
                      <a:rPr lang="en-US" altLang="zh-CN" sz="1000" b="0" i="1" smtClean="0">
                        <a:solidFill>
                          <a:schemeClr val="tx1"/>
                        </a:solidFill>
                        <a:latin typeface="Cambria Math" panose="02040503050406030204" pitchFamily="18" charset="0"/>
                        <a:ea typeface="Noto Sans SC" panose="020B0200000000000000" charset="-122"/>
                        <a:sym typeface="Noto Sans SC" panose="020B0200000000000000" charset="-122"/>
                      </a:rPr>
                      <m:t>=</m:t>
                    </m:r>
                    <m:r>
                      <m:rPr>
                        <m:sty m:val="p"/>
                      </m:rPr>
                      <a:rPr lang="el-GR" altLang="zh-CN" sz="1000" b="0" i="1" smtClean="0">
                        <a:solidFill>
                          <a:schemeClr val="tx1"/>
                        </a:solidFill>
                        <a:latin typeface="Cambria Math" panose="02040503050406030204" pitchFamily="18" charset="0"/>
                        <a:ea typeface="Cambria Math" panose="02040503050406030204" pitchFamily="18" charset="0"/>
                        <a:sym typeface="Noto Sans SC" panose="020B0200000000000000" charset="-122"/>
                      </a:rPr>
                      <m:t>Ο</m:t>
                    </m:r>
                    <m:r>
                      <a:rPr lang="en-US" altLang="zh-CN" sz="1000" b="0" i="1" smtClean="0">
                        <a:solidFill>
                          <a:schemeClr val="tx1"/>
                        </a:solidFill>
                        <a:latin typeface="Cambria Math" panose="02040503050406030204" pitchFamily="18" charset="0"/>
                        <a:ea typeface="Cambria Math" panose="02040503050406030204" pitchFamily="18" charset="0"/>
                        <a:sym typeface="Noto Sans SC" panose="020B0200000000000000" charset="-122"/>
                      </a:rPr>
                      <m:t>(</m:t>
                    </m:r>
                    <m:rad>
                      <m:radPr>
                        <m:degHide m:val="on"/>
                        <m:ctrlPr>
                          <a:rPr lang="en-US" altLang="zh-CN" sz="1000" b="0" i="1" smtClean="0">
                            <a:solidFill>
                              <a:schemeClr val="tx1"/>
                            </a:solidFill>
                            <a:latin typeface="Cambria Math" panose="02040503050406030204" pitchFamily="18" charset="0"/>
                            <a:ea typeface="Cambria Math" panose="02040503050406030204" pitchFamily="18" charset="0"/>
                            <a:sym typeface="Noto Sans SC" panose="020B0200000000000000" charset="-122"/>
                          </a:rPr>
                        </m:ctrlPr>
                      </m:radPr>
                      <m:deg/>
                      <m:e>
                        <m:f>
                          <m:fPr>
                            <m:ctrlPr>
                              <a:rPr lang="en-US" altLang="zh-CN" sz="1000" b="0" i="1" smtClean="0">
                                <a:solidFill>
                                  <a:schemeClr val="tx1"/>
                                </a:solidFill>
                                <a:latin typeface="Cambria Math" panose="02040503050406030204" pitchFamily="18" charset="0"/>
                                <a:ea typeface="Cambria Math" panose="02040503050406030204" pitchFamily="18" charset="0"/>
                                <a:sym typeface="Noto Sans SC" panose="020B0200000000000000" charset="-122"/>
                              </a:rPr>
                            </m:ctrlPr>
                          </m:fPr>
                          <m:num>
                            <m:func>
                              <m:funcPr>
                                <m:ctrlPr>
                                  <a:rPr lang="en-US" altLang="zh-CN" sz="1000" b="0" i="1" smtClean="0">
                                    <a:solidFill>
                                      <a:schemeClr val="tx1"/>
                                    </a:solidFill>
                                    <a:latin typeface="Cambria Math" panose="02040503050406030204" pitchFamily="18" charset="0"/>
                                    <a:ea typeface="Cambria Math" panose="02040503050406030204" pitchFamily="18" charset="0"/>
                                    <a:sym typeface="Noto Sans SC" panose="020B0200000000000000" charset="-122"/>
                                  </a:rPr>
                                </m:ctrlPr>
                              </m:funcPr>
                              <m:fName>
                                <m:r>
                                  <m:rPr>
                                    <m:sty m:val="p"/>
                                  </m:rPr>
                                  <a:rPr lang="en-US" altLang="zh-CN" sz="1000" b="0" i="0" smtClean="0">
                                    <a:solidFill>
                                      <a:schemeClr val="tx1"/>
                                    </a:solidFill>
                                    <a:latin typeface="Cambria Math" panose="02040503050406030204" pitchFamily="18" charset="0"/>
                                    <a:ea typeface="Cambria Math" panose="02040503050406030204" pitchFamily="18" charset="0"/>
                                    <a:sym typeface="Noto Sans SC" panose="020B0200000000000000" charset="-122"/>
                                  </a:rPr>
                                  <m:t>log</m:t>
                                </m:r>
                              </m:fName>
                              <m:e>
                                <m:d>
                                  <m:dPr>
                                    <m:ctrlPr>
                                      <a:rPr lang="en-US" altLang="zh-CN" sz="1000" b="0" i="1" smtClean="0">
                                        <a:solidFill>
                                          <a:schemeClr val="tx1"/>
                                        </a:solidFill>
                                        <a:latin typeface="Cambria Math" panose="02040503050406030204" pitchFamily="18" charset="0"/>
                                        <a:ea typeface="Cambria Math" panose="02040503050406030204" pitchFamily="18" charset="0"/>
                                        <a:sym typeface="Noto Sans SC" panose="020B0200000000000000" charset="-122"/>
                                      </a:rPr>
                                    </m:ctrlPr>
                                  </m:dPr>
                                  <m:e>
                                    <m:r>
                                      <a:rPr lang="en-US" altLang="zh-CN" sz="1000" b="0" i="1" smtClean="0">
                                        <a:solidFill>
                                          <a:schemeClr val="tx1"/>
                                        </a:solidFill>
                                        <a:latin typeface="Cambria Math" panose="02040503050406030204" pitchFamily="18" charset="0"/>
                                        <a:ea typeface="Cambria Math" panose="02040503050406030204" pitchFamily="18" charset="0"/>
                                        <a:sym typeface="Noto Sans SC" panose="020B0200000000000000" charset="-122"/>
                                      </a:rPr>
                                      <m:t>𝑝</m:t>
                                    </m:r>
                                  </m:e>
                                </m:d>
                              </m:e>
                            </m:func>
                          </m:num>
                          <m:den>
                            <m:r>
                              <a:rPr lang="en-US" altLang="zh-CN" sz="1000" b="0" i="1" smtClean="0">
                                <a:solidFill>
                                  <a:schemeClr val="tx1"/>
                                </a:solidFill>
                                <a:latin typeface="Cambria Math" panose="02040503050406030204" pitchFamily="18" charset="0"/>
                                <a:ea typeface="Cambria Math" panose="02040503050406030204" pitchFamily="18" charset="0"/>
                                <a:sym typeface="Noto Sans SC" panose="020B0200000000000000" charset="-122"/>
                              </a:rPr>
                              <m:t>𝑛</m:t>
                            </m:r>
                          </m:den>
                        </m:f>
                      </m:e>
                    </m:rad>
                    <m:r>
                      <a:rPr lang="en-US" altLang="zh-CN" sz="1000" b="0" i="1" smtClean="0">
                        <a:solidFill>
                          <a:schemeClr val="tx1"/>
                        </a:solidFill>
                        <a:latin typeface="Cambria Math" panose="02040503050406030204" pitchFamily="18" charset="0"/>
                        <a:ea typeface="Cambria Math" panose="02040503050406030204" pitchFamily="18" charset="0"/>
                        <a:sym typeface="Noto Sans SC" panose="020B0200000000000000" charset="-122"/>
                      </a:rPr>
                      <m:t>)</m:t>
                    </m:r>
                  </m:oMath>
                </a14:m>
                <a:r>
                  <a:rPr lang="en-US" sz="1000" dirty="0">
                    <a:solidFill>
                      <a:schemeClr val="tx1"/>
                    </a:solidFill>
                    <a:latin typeface="等线" panose="02010600030101010101" charset="-122"/>
                    <a:ea typeface="等线" panose="02010600030101010101" charset="-122"/>
                    <a:cs typeface="Noto Sans SC" panose="020B0200000000000000" charset="-122"/>
                    <a:sym typeface="Noto Sans SC" panose="020B0200000000000000" charset="-122"/>
                  </a:rPr>
                  <a:t> ，the Lasso estimator of the Generalized Linear Model (GLM) will satisfy the following inequality with an extremely high probability:</a:t>
                </a:r>
                <a:endParaRPr lang="en-US" sz="1000" dirty="0">
                  <a:solidFill>
                    <a:schemeClr val="tx1"/>
                  </a:solidFill>
                  <a:latin typeface="等线" panose="02010600030101010101" charset="-122"/>
                  <a:ea typeface="等线" panose="02010600030101010101" charset="-122"/>
                </a:endParaRPr>
              </a:p>
            </p:txBody>
          </p:sp>
        </mc:Choice>
        <mc:Fallback>
          <p:sp>
            <p:nvSpPr>
              <p:cNvPr id="8" name="AutoShape 8"/>
              <p:cNvSpPr>
                <a:spLocks noRot="1" noChangeAspect="1" noMove="1" noResize="1" noEditPoints="1" noAdjustHandles="1" noChangeArrowheads="1" noChangeShapeType="1" noTextEdit="1"/>
              </p:cNvSpPr>
              <p:nvPr/>
            </p:nvSpPr>
            <p:spPr>
              <a:xfrm>
                <a:off x="533400" y="2077685"/>
                <a:ext cx="3619500" cy="1115614"/>
              </a:xfrm>
              <a:prstGeom prst="rect">
                <a:avLst/>
              </a:prstGeom>
              <a:blipFill rotWithShape="1">
                <a:blip r:embed="rId2"/>
                <a:stretch>
                  <a:fillRect t="-54" b="47"/>
                </a:stretch>
              </a:blipFill>
              <a:ln w="12700" cap="flat" cmpd="sng">
                <a:noFill/>
                <a:prstDash val="solid"/>
                <a:round/>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AutoShape 11"/>
              <p:cNvSpPr/>
              <p:nvPr/>
            </p:nvSpPr>
            <p:spPr>
              <a:xfrm>
                <a:off x="533400" y="3702315"/>
                <a:ext cx="3619500" cy="1213045"/>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000" dirty="0">
                    <a:solidFill>
                      <a:schemeClr val="tx1"/>
                    </a:solidFill>
                    <a:latin typeface="等线" panose="02010600030101010101" charset="-122"/>
                    <a:ea typeface="等线" panose="02010600030101010101" charset="-122"/>
                    <a:cs typeface="Noto Sans SC" panose="020B0200000000000000" charset="-122"/>
                    <a:sym typeface="Noto Sans SC" panose="020B0200000000000000" charset="-122"/>
                  </a:rPr>
                  <a:t>Where:</a:t>
                </a:r>
                <a14:m>
                  <m:oMath xmlns:m="http://schemas.openxmlformats.org/officeDocument/2006/math">
                    <m:sSub>
                      <m:sSubPr>
                        <m:ctrlPr>
                          <a:rPr lang="en-US" altLang="zh-CN" sz="1000" i="1" smtClean="0">
                            <a:solidFill>
                              <a:schemeClr val="tx1"/>
                            </a:solidFill>
                            <a:latin typeface="Cambria Math" panose="02040503050406030204" pitchFamily="18" charset="0"/>
                            <a:ea typeface="Noto Sans SC" panose="020B0200000000000000" charset="-122"/>
                            <a:sym typeface="Noto Sans SC" panose="020B0200000000000000" charset="-122"/>
                          </a:rPr>
                        </m:ctrlPr>
                      </m:sSubPr>
                      <m:e>
                        <m:r>
                          <a:rPr lang="en-US" altLang="zh-CN" sz="1000" b="0" i="1" smtClean="0">
                            <a:solidFill>
                              <a:schemeClr val="tx1"/>
                            </a:solidFill>
                            <a:latin typeface="Cambria Math" panose="02040503050406030204" pitchFamily="18" charset="0"/>
                            <a:ea typeface="Noto Sans SC" panose="020B0200000000000000" charset="-122"/>
                            <a:sym typeface="Noto Sans SC" panose="020B0200000000000000" charset="-122"/>
                          </a:rPr>
                          <m:t>𝑆</m:t>
                        </m:r>
                      </m:e>
                      <m:sub>
                        <m:r>
                          <a:rPr lang="en-US" altLang="zh-CN" sz="1000" b="0" i="1" smtClean="0">
                            <a:solidFill>
                              <a:schemeClr val="tx1"/>
                            </a:solidFill>
                            <a:latin typeface="Cambria Math" panose="02040503050406030204" pitchFamily="18" charset="0"/>
                            <a:ea typeface="Noto Sans SC" panose="020B0200000000000000" charset="-122"/>
                            <a:sym typeface="Noto Sans SC" panose="020B0200000000000000" charset="-122"/>
                          </a:rPr>
                          <m:t>1</m:t>
                        </m:r>
                      </m:sub>
                    </m:sSub>
                  </m:oMath>
                </a14:m>
                <a:r>
                  <a:rPr lang="en-US" altLang="zh-CN" sz="1000" dirty="0"/>
                  <a:t> </a:t>
                </a:r>
                <a:r>
                  <a:rPr lang="en-US" altLang="zh-CN" sz="1000" dirty="0">
                    <a:solidFill>
                      <a:schemeClr val="tx1"/>
                    </a:solidFill>
                    <a:latin typeface="等线" panose="02010600030101010101" charset="-122"/>
                    <a:ea typeface="等线" panose="02010600030101010101" charset="-122"/>
                    <a:cs typeface="Noto Sans SC" panose="020B0200000000000000" charset="-122"/>
                  </a:rPr>
                  <a:t>is the set of truly relevant features; </a:t>
                </a:r>
                <a:r>
                  <a:rPr lang="en-US" sz="1000" dirty="0">
                    <a:solidFill>
                      <a:schemeClr val="tx1"/>
                    </a:solidFill>
                    <a:latin typeface="等线" panose="02010600030101010101" charset="-122"/>
                    <a:ea typeface="等线" panose="02010600030101010101" charset="-122"/>
                    <a:cs typeface="Noto Sans SC" panose="020B0200000000000000" charset="-122"/>
                    <a:sym typeface="Noto Sans SC" panose="020B0200000000000000" charset="-122"/>
                  </a:rPr>
                  <a:t>；</a:t>
                </a:r>
                <a14:m>
                  <m:oMath xmlns:m="http://schemas.openxmlformats.org/officeDocument/2006/math">
                    <m:sSup>
                      <m:sSupPr>
                        <m:ctrlPr>
                          <a:rPr lang="en-US" altLang="zh-CN" sz="1000" i="1" smtClean="0">
                            <a:solidFill>
                              <a:schemeClr val="tx1"/>
                            </a:solidFill>
                            <a:latin typeface="Cambria Math" panose="02040503050406030204" pitchFamily="18" charset="0"/>
                            <a:ea typeface="Noto Sans SC" panose="020B0200000000000000" charset="-122"/>
                            <a:sym typeface="Noto Sans SC" panose="020B0200000000000000" charset="-122"/>
                          </a:rPr>
                        </m:ctrlPr>
                      </m:sSupPr>
                      <m:e>
                        <m:acc>
                          <m:accPr>
                            <m:ctrlPr>
                              <a:rPr lang="en-US" altLang="zh-CN" sz="1000" i="1" smtClean="0">
                                <a:solidFill>
                                  <a:schemeClr val="tx1"/>
                                </a:solidFill>
                                <a:latin typeface="Cambria Math" panose="02040503050406030204" pitchFamily="18" charset="0"/>
                                <a:ea typeface="Noto Sans SC" panose="020B0200000000000000" charset="-122"/>
                                <a:sym typeface="Noto Sans SC" panose="020B0200000000000000" charset="-122"/>
                              </a:rPr>
                            </m:ctrlPr>
                          </m:accPr>
                          <m:e>
                            <m:r>
                              <a:rPr lang="en-US" altLang="zh-CN" sz="1000" b="0" i="1" smtClean="0">
                                <a:solidFill>
                                  <a:schemeClr val="tx1"/>
                                </a:solidFill>
                                <a:latin typeface="Cambria Math" panose="02040503050406030204" pitchFamily="18" charset="0"/>
                                <a:ea typeface="Noto Sans SC" panose="020B0200000000000000" charset="-122"/>
                                <a:sym typeface="Noto Sans SC" panose="020B0200000000000000" charset="-122"/>
                              </a:rPr>
                              <m:t>𝑆</m:t>
                            </m:r>
                          </m:e>
                        </m:acc>
                      </m:e>
                      <m:sup>
                        <m:r>
                          <a:rPr lang="en-US" altLang="zh-CN" sz="1000" b="0" i="1" smtClean="0">
                            <a:solidFill>
                              <a:schemeClr val="tx1"/>
                            </a:solidFill>
                            <a:latin typeface="Cambria Math" panose="02040503050406030204" pitchFamily="18" charset="0"/>
                            <a:ea typeface="Noto Sans SC" panose="020B0200000000000000" charset="-122"/>
                            <a:sym typeface="Noto Sans SC" panose="020B0200000000000000" charset="-122"/>
                          </a:rPr>
                          <m:t>(</m:t>
                        </m:r>
                        <m:r>
                          <a:rPr lang="en-US" altLang="zh-CN" sz="1000" b="0" i="1" smtClean="0">
                            <a:solidFill>
                              <a:schemeClr val="tx1"/>
                            </a:solidFill>
                            <a:latin typeface="Cambria Math" panose="02040503050406030204" pitchFamily="18" charset="0"/>
                            <a:ea typeface="Noto Sans SC" panose="020B0200000000000000" charset="-122"/>
                            <a:sym typeface="Noto Sans SC" panose="020B0200000000000000" charset="-122"/>
                          </a:rPr>
                          <m:t>𝐾</m:t>
                        </m:r>
                        <m:r>
                          <a:rPr lang="en-US" altLang="zh-CN" sz="1000" b="0" i="1" smtClean="0">
                            <a:solidFill>
                              <a:schemeClr val="tx1"/>
                            </a:solidFill>
                            <a:latin typeface="Cambria Math" panose="02040503050406030204" pitchFamily="18" charset="0"/>
                            <a:ea typeface="Noto Sans SC" panose="020B0200000000000000" charset="-122"/>
                            <a:sym typeface="Noto Sans SC" panose="020B0200000000000000" charset="-122"/>
                          </a:rPr>
                          <m:t>)</m:t>
                        </m:r>
                      </m:sup>
                    </m:sSup>
                  </m:oMath>
                </a14:m>
                <a:r>
                  <a:rPr lang="en-US" altLang="zh-CN" sz="1000" dirty="0"/>
                  <a:t> </a:t>
                </a:r>
                <a:r>
                  <a:rPr lang="en-US" altLang="zh-CN" sz="1000" dirty="0">
                    <a:solidFill>
                      <a:schemeClr val="tx1"/>
                    </a:solidFill>
                    <a:latin typeface="等线" panose="02010600030101010101" charset="-122"/>
                    <a:ea typeface="等线" panose="02010600030101010101" charset="-122"/>
                    <a:cs typeface="Noto Sans SC" panose="020B0200000000000000" charset="-122"/>
                  </a:rPr>
                  <a:t>is the Lasso pre-screening result of site k</a:t>
                </a:r>
                <a:r>
                  <a:rPr lang="en-US" altLang="zh-CN" dirty="0"/>
                  <a:t> </a:t>
                </a:r>
                <a:r>
                  <a:rPr lang="en-US" sz="1000" dirty="0">
                    <a:solidFill>
                      <a:schemeClr val="tx1"/>
                    </a:solidFill>
                    <a:latin typeface="等线" panose="02010600030101010101" charset="-122"/>
                    <a:ea typeface="等线" panose="02010600030101010101" charset="-122"/>
                    <a:cs typeface="Noto Sans SC" panose="020B0200000000000000" charset="-122"/>
                    <a:sym typeface="Noto Sans SC" panose="020B0200000000000000" charset="-122"/>
                  </a:rPr>
                  <a:t>；</a:t>
                </a:r>
                <a14:m>
                  <m:oMath xmlns:m="http://schemas.openxmlformats.org/officeDocument/2006/math">
                    <m:sSub>
                      <m:sSubPr>
                        <m:ctrlPr>
                          <a:rPr lang="en-US" altLang="zh-CN" sz="1000" i="1" smtClean="0">
                            <a:solidFill>
                              <a:schemeClr val="tx1"/>
                            </a:solidFill>
                            <a:latin typeface="Cambria Math" panose="02040503050406030204" pitchFamily="18" charset="0"/>
                            <a:ea typeface="Noto Sans SC" panose="020B0200000000000000" charset="-122"/>
                            <a:sym typeface="Noto Sans SC" panose="020B0200000000000000" charset="-122"/>
                          </a:rPr>
                        </m:ctrlPr>
                      </m:sSubPr>
                      <m:e>
                        <m:r>
                          <a:rPr lang="en-US" altLang="zh-CN" sz="1000" b="0" i="1" smtClean="0">
                            <a:solidFill>
                              <a:schemeClr val="tx1"/>
                            </a:solidFill>
                            <a:latin typeface="Cambria Math" panose="02040503050406030204" pitchFamily="18" charset="0"/>
                            <a:ea typeface="Noto Sans SC" panose="020B0200000000000000" charset="-122"/>
                            <a:sym typeface="Noto Sans SC" panose="020B0200000000000000" charset="-122"/>
                          </a:rPr>
                          <m:t>𝑝</m:t>
                        </m:r>
                      </m:e>
                      <m:sub>
                        <m:r>
                          <a:rPr lang="en-US" altLang="zh-CN" sz="1000" b="0" i="1" smtClean="0">
                            <a:solidFill>
                              <a:schemeClr val="tx1"/>
                            </a:solidFill>
                            <a:latin typeface="Cambria Math" panose="02040503050406030204" pitchFamily="18" charset="0"/>
                            <a:ea typeface="Noto Sans SC" panose="020B0200000000000000" charset="-122"/>
                            <a:sym typeface="Noto Sans SC" panose="020B0200000000000000" charset="-122"/>
                          </a:rPr>
                          <m:t>1</m:t>
                        </m:r>
                      </m:sub>
                    </m:sSub>
                    <m:r>
                      <a:rPr lang="en-US" altLang="zh-CN" sz="1000" b="0" i="1" smtClean="0">
                        <a:solidFill>
                          <a:schemeClr val="tx1"/>
                        </a:solidFill>
                        <a:latin typeface="Cambria Math" panose="02040503050406030204" pitchFamily="18" charset="0"/>
                        <a:ea typeface="Noto Sans SC" panose="020B0200000000000000" charset="-122"/>
                        <a:sym typeface="Noto Sans SC" panose="020B0200000000000000" charset="-122"/>
                      </a:rPr>
                      <m:t>=</m:t>
                    </m:r>
                    <m:d>
                      <m:dPr>
                        <m:begChr m:val="|"/>
                        <m:endChr m:val="|"/>
                        <m:ctrlPr>
                          <a:rPr lang="en-US" altLang="zh-CN" sz="1000" b="0" i="1" smtClean="0">
                            <a:solidFill>
                              <a:schemeClr val="tx1"/>
                            </a:solidFill>
                            <a:latin typeface="Cambria Math" panose="02040503050406030204" pitchFamily="18" charset="0"/>
                            <a:ea typeface="Noto Sans SC" panose="020B0200000000000000" charset="-122"/>
                            <a:sym typeface="Noto Sans SC" panose="020B0200000000000000" charset="-122"/>
                          </a:rPr>
                        </m:ctrlPr>
                      </m:dPr>
                      <m:e>
                        <m:sSub>
                          <m:sSubPr>
                            <m:ctrlPr>
                              <a:rPr lang="en-US" altLang="zh-CN" sz="1000" b="0" i="1" smtClean="0">
                                <a:solidFill>
                                  <a:schemeClr val="tx1"/>
                                </a:solidFill>
                                <a:latin typeface="Cambria Math" panose="02040503050406030204" pitchFamily="18" charset="0"/>
                                <a:ea typeface="Noto Sans SC" panose="020B0200000000000000" charset="-122"/>
                                <a:sym typeface="Noto Sans SC" panose="020B0200000000000000" charset="-122"/>
                              </a:rPr>
                            </m:ctrlPr>
                          </m:sSubPr>
                          <m:e>
                            <m:r>
                              <a:rPr lang="en-US" altLang="zh-CN" sz="1000" b="0" i="1" smtClean="0">
                                <a:solidFill>
                                  <a:schemeClr val="tx1"/>
                                </a:solidFill>
                                <a:latin typeface="Cambria Math" panose="02040503050406030204" pitchFamily="18" charset="0"/>
                                <a:ea typeface="Noto Sans SC" panose="020B0200000000000000" charset="-122"/>
                                <a:sym typeface="Noto Sans SC" panose="020B0200000000000000" charset="-122"/>
                              </a:rPr>
                              <m:t>𝑆</m:t>
                            </m:r>
                          </m:e>
                          <m:sub>
                            <m:r>
                              <a:rPr lang="en-US" altLang="zh-CN" sz="1000" b="0" i="1" smtClean="0">
                                <a:solidFill>
                                  <a:schemeClr val="tx1"/>
                                </a:solidFill>
                                <a:latin typeface="Cambria Math" panose="02040503050406030204" pitchFamily="18" charset="0"/>
                                <a:ea typeface="Noto Sans SC" panose="020B0200000000000000" charset="-122"/>
                                <a:sym typeface="Noto Sans SC" panose="020B0200000000000000" charset="-122"/>
                              </a:rPr>
                              <m:t>1</m:t>
                            </m:r>
                          </m:sub>
                        </m:sSub>
                      </m:e>
                    </m:d>
                  </m:oMath>
                </a14:m>
                <a:r>
                  <a:rPr lang="en-US" sz="1000" dirty="0">
                    <a:solidFill>
                      <a:schemeClr val="tx1"/>
                    </a:solidFill>
                    <a:latin typeface="等线" panose="02010600030101010101" charset="-122"/>
                    <a:ea typeface="等线" panose="02010600030101010101" charset="-122"/>
                    <a:cs typeface="Noto Sans SC" panose="020B0200000000000000" charset="-122"/>
                    <a:sym typeface="Noto Sans SC" panose="020B0200000000000000" charset="-122"/>
                  </a:rPr>
                  <a:t> </a:t>
                </a:r>
                <a:r>
                  <a:rPr lang="en-US" altLang="zh-CN" sz="1000" dirty="0">
                    <a:solidFill>
                      <a:schemeClr val="tx1"/>
                    </a:solidFill>
                    <a:latin typeface="等线" panose="02010600030101010101" charset="-122"/>
                    <a:ea typeface="等线" panose="02010600030101010101" charset="-122"/>
                    <a:cs typeface="Noto Sans SC" panose="020B0200000000000000" charset="-122"/>
                  </a:rPr>
                  <a:t>is the number of true features. This implies that as the sample size increases, the probability approaches 1.</a:t>
                </a:r>
                <a:endParaRPr lang="en-US" sz="1000" dirty="0">
                  <a:solidFill>
                    <a:schemeClr val="tx1"/>
                  </a:solidFill>
                  <a:latin typeface="等线" panose="02010600030101010101" charset="-122"/>
                  <a:ea typeface="等线" panose="02010600030101010101" charset="-122"/>
                  <a:cs typeface="Noto Sans SC" panose="020B0200000000000000" charset="-122"/>
                </a:endParaRPr>
              </a:p>
            </p:txBody>
          </p:sp>
        </mc:Choice>
        <mc:Fallback>
          <p:sp>
            <p:nvSpPr>
              <p:cNvPr id="11" name="AutoShape 11"/>
              <p:cNvSpPr>
                <a:spLocks noRot="1" noChangeAspect="1" noMove="1" noResize="1" noEditPoints="1" noAdjustHandles="1" noChangeArrowheads="1" noChangeShapeType="1" noTextEdit="1"/>
              </p:cNvSpPr>
              <p:nvPr/>
            </p:nvSpPr>
            <p:spPr>
              <a:xfrm>
                <a:off x="533400" y="3702315"/>
                <a:ext cx="3619500" cy="1213045"/>
              </a:xfrm>
              <a:prstGeom prst="rect">
                <a:avLst/>
              </a:prstGeom>
              <a:blipFill rotWithShape="1">
                <a:blip r:embed="rId3"/>
                <a:stretch>
                  <a:fillRect t="-22" b="38"/>
                </a:stretch>
              </a:blipFill>
              <a:ln w="12700" cap="flat" cmpd="sng">
                <a:noFill/>
                <a:prstDash val="solid"/>
                <a:round/>
              </a:ln>
            </p:spPr>
            <p:txBody>
              <a:bodyPr/>
              <a:lstStyle/>
              <a:p>
                <a:r>
                  <a:rPr lang="zh-CN" altLang="en-US">
                    <a:noFill/>
                  </a:rPr>
                  <a:t> </a:t>
                </a:r>
              </a:p>
            </p:txBody>
          </p:sp>
        </mc:Fallback>
      </mc:AlternateContent>
      <p:sp>
        <p:nvSpPr>
          <p:cNvPr id="12" name="AutoShape 12"/>
          <p:cNvSpPr/>
          <p:nvPr/>
        </p:nvSpPr>
        <p:spPr>
          <a:xfrm>
            <a:off x="4370070" y="1565275"/>
            <a:ext cx="4107180" cy="3290570"/>
          </a:xfrm>
          <a:prstGeom prst="roundRect">
            <a:avLst>
              <a:gd name="adj" fmla="val 2758"/>
            </a:avLst>
          </a:prstGeom>
          <a:solidFill>
            <a:srgbClr val="FFFFFF">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47625" tIns="47625" rIns="47625" bIns="47625" rtlCol="0" anchor="ctr"/>
          <a:lstStyle/>
          <a:p>
            <a:pPr algn="ctr">
              <a:defRPr/>
            </a:pPr>
            <a:endParaRPr sz="1350"/>
          </a:p>
        </p:txBody>
      </p:sp>
      <p:sp>
        <p:nvSpPr>
          <p:cNvPr id="14" name="AutoShape 14"/>
          <p:cNvSpPr/>
          <p:nvPr/>
        </p:nvSpPr>
        <p:spPr>
          <a:xfrm>
            <a:off x="4562217" y="1688516"/>
            <a:ext cx="3655051" cy="28575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1200" b="1" dirty="0">
                <a:solidFill>
                  <a:srgbClr val="212121"/>
                </a:solidFill>
                <a:latin typeface="Noto Sans SC" panose="020B0200000000000000" charset="-122"/>
                <a:ea typeface="Noto Sans SC" panose="020B0200000000000000" charset="-122"/>
              </a:rPr>
              <a:t>Core Insights: Why Is This Conclusion So Critical?</a:t>
            </a:r>
            <a:endParaRPr lang="en-US" sz="1200" b="1" dirty="0">
              <a:solidFill>
                <a:srgbClr val="212121"/>
              </a:solidFill>
              <a:latin typeface="Noto Sans SC" panose="020B0200000000000000" charset="-122"/>
              <a:ea typeface="Noto Sans SC" panose="020B0200000000000000" charset="-122"/>
            </a:endParaRPr>
          </a:p>
        </p:txBody>
      </p:sp>
      <p:sp>
        <p:nvSpPr>
          <p:cNvPr id="15" name="AutoShape 15"/>
          <p:cNvSpPr/>
          <p:nvPr/>
        </p:nvSpPr>
        <p:spPr>
          <a:xfrm>
            <a:off x="4503420" y="1973580"/>
            <a:ext cx="3821430" cy="1388745"/>
          </a:xfrm>
          <a:prstGeom prst="roundRect">
            <a:avLst>
              <a:gd name="adj" fmla="val 5555"/>
            </a:avLst>
          </a:prstGeom>
          <a:solidFill>
            <a:srgbClr val="34C759">
              <a:alpha val="8000"/>
            </a:srgbClr>
          </a:solidFill>
          <a:ln w="25400" cap="flat" cmpd="sng">
            <a:noFill/>
            <a:prstDash val="solid"/>
            <a:round/>
          </a:ln>
        </p:spPr>
        <p:txBody>
          <a:bodyPr vert="horz" wrap="square" lIns="47625" tIns="47625" rIns="47625" bIns="47625" rtlCol="0" anchor="ctr"/>
          <a:lstStyle/>
          <a:p>
            <a:pPr algn="ctr">
              <a:defRPr/>
            </a:pPr>
            <a:endParaRPr sz="1350" dirty="0"/>
          </a:p>
        </p:txBody>
      </p:sp>
      <mc:AlternateContent xmlns:mc="http://schemas.openxmlformats.org/markup-compatibility/2006">
        <mc:Choice xmlns:a14="http://schemas.microsoft.com/office/drawing/2010/main" Requires="a14">
          <p:sp>
            <p:nvSpPr>
              <p:cNvPr id="16" name="AutoShape 16"/>
              <p:cNvSpPr/>
              <p:nvPr/>
            </p:nvSpPr>
            <p:spPr>
              <a:xfrm>
                <a:off x="4562597" y="2069465"/>
                <a:ext cx="3821306" cy="304800"/>
              </a:xfrm>
              <a:prstGeom prst="rect">
                <a:avLst/>
              </a:prstGeom>
              <a:noFill/>
              <a:ln w="12700" cap="flat" cmpd="sng">
                <a:noFill/>
                <a:prstDash val="solid"/>
                <a:round/>
              </a:ln>
            </p:spPr>
            <p:txBody>
              <a:bodyPr vert="horz" wrap="square" lIns="0" tIns="0" rIns="0" bIns="0" rtlCol="0" anchor="ctr" anchorCtr="0"/>
              <a:lstStyle/>
              <a:p>
                <a:pPr algn="ctr">
                  <a:lnSpc>
                    <a:spcPct val="125000"/>
                  </a:lnSpc>
                  <a:defRPr/>
                </a:pPr>
                <a:r>
                  <a:rPr lang="en-US" altLang="zh-CN" sz="1050" b="1" dirty="0">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Reason 1: High Probability of Containing All True Signals </a:t>
                </a:r>
                <a:endParaRPr lang="en-US" altLang="zh-CN" sz="1050" b="1" dirty="0">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gn="ctr">
                  <a:lnSpc>
                    <a:spcPct val="125000"/>
                  </a:lnSpc>
                  <a:defRPr/>
                </a:pPr>
                <a14:m>
                  <m:oMathPara xmlns:m="http://schemas.openxmlformats.org/officeDocument/2006/math">
                    <m:oMathParaPr>
                      <m:jc m:val="centerGroup"/>
                    </m:oMathParaPr>
                    <m:oMath xmlns:m="http://schemas.openxmlformats.org/officeDocument/2006/math">
                      <m:sSub>
                        <m:sSubPr>
                          <m:ctrlPr>
                            <a:rPr lang="en-US" altLang="zh-CN" sz="1400" b="1" i="1" smtClean="0">
                              <a:solidFill>
                                <a:schemeClr val="accent6">
                                  <a:lumMod val="75000"/>
                                </a:schemeClr>
                              </a:solidFill>
                              <a:latin typeface="Cambria Math" panose="02040503050406030204" pitchFamily="18" charset="0"/>
                              <a:ea typeface="Noto Sans SC" panose="020B0200000000000000" charset="-122"/>
                              <a:sym typeface="Noto Sans SC" panose="020B0200000000000000" charset="-122"/>
                            </a:rPr>
                          </m:ctrlPr>
                        </m:sSubPr>
                        <m:e>
                          <m:r>
                            <a:rPr lang="en-US" altLang="zh-CN" sz="1400" b="1" i="0">
                              <a:solidFill>
                                <a:schemeClr val="accent6">
                                  <a:lumMod val="75000"/>
                                </a:schemeClr>
                              </a:solidFill>
                              <a:latin typeface="Cambria Math" panose="02040503050406030204" pitchFamily="18" charset="0"/>
                              <a:ea typeface="Noto Sans SC" panose="020B0200000000000000" charset="-122"/>
                              <a:sym typeface="Noto Sans SC" panose="020B0200000000000000" charset="-122"/>
                            </a:rPr>
                            <m:t>𝐒</m:t>
                          </m:r>
                        </m:e>
                        <m:sub>
                          <m:r>
                            <a:rPr lang="en-US" altLang="zh-CN" sz="1400" b="1" i="0">
                              <a:solidFill>
                                <a:schemeClr val="accent6">
                                  <a:lumMod val="75000"/>
                                </a:schemeClr>
                              </a:solidFill>
                              <a:latin typeface="Cambria Math" panose="02040503050406030204" pitchFamily="18" charset="0"/>
                              <a:ea typeface="Noto Sans SC" panose="020B0200000000000000" charset="-122"/>
                              <a:sym typeface="Noto Sans SC" panose="020B0200000000000000" charset="-122"/>
                            </a:rPr>
                            <m:t>𝟏</m:t>
                          </m:r>
                        </m:sub>
                      </m:sSub>
                      <m:r>
                        <a:rPr lang="en-US" altLang="zh-CN" sz="1400" b="1" i="0" smtClean="0">
                          <a:solidFill>
                            <a:schemeClr val="accent6">
                              <a:lumMod val="75000"/>
                            </a:schemeClr>
                          </a:solidFill>
                          <a:latin typeface="Cambria Math" panose="02040503050406030204" pitchFamily="18" charset="0"/>
                          <a:ea typeface="Cambria Math" panose="02040503050406030204" pitchFamily="18" charset="0"/>
                          <a:sym typeface="Noto Sans SC" panose="020B0200000000000000" charset="-122"/>
                        </a:rPr>
                        <m:t>⊂</m:t>
                      </m:r>
                      <m:sSup>
                        <m:sSupPr>
                          <m:ctrlPr>
                            <a:rPr lang="en-US" altLang="zh-CN" sz="1400" b="1" i="1">
                              <a:solidFill>
                                <a:schemeClr val="accent6">
                                  <a:lumMod val="75000"/>
                                </a:schemeClr>
                              </a:solidFill>
                              <a:latin typeface="Cambria Math" panose="02040503050406030204" pitchFamily="18" charset="0"/>
                              <a:ea typeface="Noto Sans SC" panose="020B0200000000000000" charset="-122"/>
                              <a:sym typeface="Noto Sans SC" panose="020B0200000000000000" charset="-122"/>
                            </a:rPr>
                          </m:ctrlPr>
                        </m:sSupPr>
                        <m:e>
                          <m:acc>
                            <m:accPr>
                              <m:ctrlPr>
                                <a:rPr lang="en-US" altLang="zh-CN" sz="1400" b="1" i="1">
                                  <a:solidFill>
                                    <a:schemeClr val="accent6">
                                      <a:lumMod val="75000"/>
                                    </a:schemeClr>
                                  </a:solidFill>
                                  <a:latin typeface="Cambria Math" panose="02040503050406030204" pitchFamily="18" charset="0"/>
                                  <a:ea typeface="Noto Sans SC" panose="020B0200000000000000" charset="-122"/>
                                  <a:sym typeface="Noto Sans SC" panose="020B0200000000000000" charset="-122"/>
                                </a:rPr>
                              </m:ctrlPr>
                            </m:accPr>
                            <m:e>
                              <m:r>
                                <a:rPr lang="en-US" altLang="zh-CN" sz="1400" b="1" i="0">
                                  <a:solidFill>
                                    <a:schemeClr val="accent6">
                                      <a:lumMod val="75000"/>
                                    </a:schemeClr>
                                  </a:solidFill>
                                  <a:latin typeface="Cambria Math" panose="02040503050406030204" pitchFamily="18" charset="0"/>
                                  <a:ea typeface="Noto Sans SC" panose="020B0200000000000000" charset="-122"/>
                                  <a:sym typeface="Noto Sans SC" panose="020B0200000000000000" charset="-122"/>
                                </a:rPr>
                                <m:t>𝐒</m:t>
                              </m:r>
                            </m:e>
                          </m:acc>
                        </m:e>
                        <m:sup>
                          <m:r>
                            <a:rPr lang="en-US" altLang="zh-CN" sz="1400" b="1" i="0">
                              <a:solidFill>
                                <a:schemeClr val="accent6">
                                  <a:lumMod val="75000"/>
                                </a:schemeClr>
                              </a:solidFill>
                              <a:latin typeface="Cambria Math" panose="02040503050406030204" pitchFamily="18" charset="0"/>
                              <a:ea typeface="Noto Sans SC" panose="020B0200000000000000" charset="-122"/>
                              <a:sym typeface="Noto Sans SC" panose="020B0200000000000000" charset="-122"/>
                            </a:rPr>
                            <m:t>(</m:t>
                          </m:r>
                          <m:r>
                            <a:rPr lang="en-US" altLang="zh-CN" sz="1400" b="1" i="0">
                              <a:solidFill>
                                <a:schemeClr val="accent6">
                                  <a:lumMod val="75000"/>
                                </a:schemeClr>
                              </a:solidFill>
                              <a:latin typeface="Cambria Math" panose="02040503050406030204" pitchFamily="18" charset="0"/>
                              <a:ea typeface="Noto Sans SC" panose="020B0200000000000000" charset="-122"/>
                              <a:sym typeface="Noto Sans SC" panose="020B0200000000000000" charset="-122"/>
                            </a:rPr>
                            <m:t>𝐊</m:t>
                          </m:r>
                          <m:r>
                            <a:rPr lang="en-US" altLang="zh-CN" sz="1400" b="1" i="0">
                              <a:solidFill>
                                <a:schemeClr val="accent6">
                                  <a:lumMod val="75000"/>
                                </a:schemeClr>
                              </a:solidFill>
                              <a:latin typeface="Cambria Math" panose="02040503050406030204" pitchFamily="18" charset="0"/>
                              <a:ea typeface="Noto Sans SC" panose="020B0200000000000000" charset="-122"/>
                              <a:sym typeface="Noto Sans SC" panose="020B0200000000000000" charset="-122"/>
                            </a:rPr>
                            <m:t>)</m:t>
                          </m:r>
                        </m:sup>
                      </m:sSup>
                    </m:oMath>
                  </m:oMathPara>
                </a14:m>
                <a:endParaRPr lang="en-US" sz="1400" b="1" dirty="0"/>
              </a:p>
            </p:txBody>
          </p:sp>
        </mc:Choice>
        <mc:Fallback>
          <p:sp>
            <p:nvSpPr>
              <p:cNvPr id="16" name="AutoShape 16"/>
              <p:cNvSpPr>
                <a:spLocks noRot="1" noChangeAspect="1" noMove="1" noResize="1" noEditPoints="1" noAdjustHandles="1" noChangeArrowheads="1" noChangeShapeType="1" noTextEdit="1"/>
              </p:cNvSpPr>
              <p:nvPr/>
            </p:nvSpPr>
            <p:spPr>
              <a:xfrm>
                <a:off x="4562597" y="2069465"/>
                <a:ext cx="3821306" cy="304800"/>
              </a:xfrm>
              <a:prstGeom prst="rect">
                <a:avLst/>
              </a:prstGeom>
              <a:blipFill rotWithShape="1">
                <a:blip r:embed="rId4"/>
                <a:stretch>
                  <a:fillRect l="-3" t="-27500" r="17" b="-27917"/>
                </a:stretch>
              </a:blipFill>
              <a:ln w="12700" cap="flat" cmpd="sng">
                <a:noFill/>
                <a:prstDash val="solid"/>
                <a:round/>
              </a:ln>
            </p:spPr>
            <p:txBody>
              <a:bodyPr/>
              <a:lstStyle/>
              <a:p>
                <a:r>
                  <a:rPr lang="zh-CN" altLang="en-US">
                    <a:noFill/>
                  </a:rPr>
                  <a:t> </a:t>
                </a:r>
              </a:p>
            </p:txBody>
          </p:sp>
        </mc:Fallback>
      </mc:AlternateContent>
      <p:sp>
        <p:nvSpPr>
          <p:cNvPr id="17" name="AutoShape 17"/>
          <p:cNvSpPr/>
          <p:nvPr/>
        </p:nvSpPr>
        <p:spPr>
          <a:xfrm>
            <a:off x="4562218" y="2581275"/>
            <a:ext cx="3762630" cy="752475"/>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000" dirty="0">
                <a:latin typeface="等线" panose="02010600030101010101" charset="-122"/>
                <a:ea typeface="等线" panose="02010600030101010101" charset="-122"/>
                <a:cs typeface="Noto Sans SC" panose="020B0200000000000000" charset="-122"/>
                <a:sym typeface="Noto Sans SC" panose="020B0200000000000000" charset="-122"/>
              </a:rPr>
              <a:t> Lasso contains all truly relevant features with a probability approaching 1 .This ensures that subsequent debiasing and aggregation steps will not completely fail due to omissions during the initial screening stage.</a:t>
            </a:r>
            <a:endParaRPr lang="en-US" sz="1000" dirty="0">
              <a:latin typeface="等线" panose="02010600030101010101" charset="-122"/>
              <a:ea typeface="等线" panose="02010600030101010101" charset="-122"/>
            </a:endParaRPr>
          </a:p>
        </p:txBody>
      </p:sp>
      <p:sp>
        <p:nvSpPr>
          <p:cNvPr id="18" name="AutoShape 18"/>
          <p:cNvSpPr/>
          <p:nvPr/>
        </p:nvSpPr>
        <p:spPr>
          <a:xfrm>
            <a:off x="4503542" y="3448050"/>
            <a:ext cx="3821308" cy="1251086"/>
          </a:xfrm>
          <a:prstGeom prst="roundRect">
            <a:avLst>
              <a:gd name="adj" fmla="val 5555"/>
            </a:avLst>
          </a:prstGeom>
          <a:solidFill>
            <a:srgbClr val="42A5F5">
              <a:alpha val="8000"/>
            </a:srgbClr>
          </a:solidFill>
          <a:ln w="25400" cap="flat" cmpd="sng">
            <a:noFill/>
            <a:prstDash val="solid"/>
            <a:round/>
          </a:ln>
        </p:spPr>
        <p:txBody>
          <a:bodyPr vert="horz" wrap="square" lIns="47625" tIns="47625" rIns="47625" bIns="47625" rtlCol="0" anchor="ctr"/>
          <a:lstStyle/>
          <a:p>
            <a:pPr algn="ctr">
              <a:defRPr/>
            </a:pPr>
            <a:endParaRPr sz="1350"/>
          </a:p>
        </p:txBody>
      </p:sp>
      <mc:AlternateContent xmlns:mc="http://schemas.openxmlformats.org/markup-compatibility/2006">
        <mc:Choice xmlns:a14="http://schemas.microsoft.com/office/drawing/2010/main" Requires="a14">
          <p:sp>
            <p:nvSpPr>
              <p:cNvPr id="19" name="AutoShape 19"/>
              <p:cNvSpPr/>
              <p:nvPr/>
            </p:nvSpPr>
            <p:spPr>
              <a:xfrm>
                <a:off x="4503542" y="3543300"/>
                <a:ext cx="3784736" cy="238125"/>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050" b="1" dirty="0">
                    <a:solidFill>
                      <a:srgbClr val="1565C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1050" b="1" dirty="0">
                    <a:solidFill>
                      <a:srgbClr val="1565C0"/>
                    </a:solidFill>
                    <a:latin typeface="Noto Sans SC" panose="020B0200000000000000" charset="-122"/>
                    <a:ea typeface="Noto Sans SC" panose="020B0200000000000000" charset="-122"/>
                    <a:cs typeface="Noto Sans SC" panose="020B0200000000000000" charset="-122"/>
                    <a:sym typeface="Noto Sans SC" panose="020B0200000000000000" charset="-122"/>
                  </a:rPr>
                  <a:t>Reason 2: Controllable Number of Screened Features</a:t>
                </a:r>
                <a:endParaRPr lang="en-US" altLang="zh-CN" sz="1050" b="1" dirty="0">
                  <a:solidFill>
                    <a:srgbClr val="1565C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nSpc>
                    <a:spcPct val="125000"/>
                  </a:lnSpc>
                  <a:defRPr/>
                </a:pPr>
                <a14:m>
                  <m:oMathPara xmlns:m="http://schemas.openxmlformats.org/officeDocument/2006/math">
                    <m:oMathParaPr>
                      <m:jc m:val="centerGroup"/>
                    </m:oMathParaPr>
                    <m:oMath xmlns:m="http://schemas.openxmlformats.org/officeDocument/2006/math">
                      <m:d>
                        <m:dPr>
                          <m:begChr m:val="|"/>
                          <m:endChr m:val="|"/>
                          <m:ctrlPr>
                            <a:rPr lang="en-US" altLang="zh-CN" sz="1050" b="1" i="1" smtClean="0">
                              <a:solidFill>
                                <a:srgbClr val="1565C0"/>
                              </a:solidFill>
                              <a:latin typeface="Cambria Math" panose="02040503050406030204" pitchFamily="18" charset="0"/>
                              <a:ea typeface="Noto Sans SC" panose="020B0200000000000000" charset="-122"/>
                              <a:sym typeface="Noto Sans SC" panose="020B0200000000000000" charset="-122"/>
                            </a:rPr>
                          </m:ctrlPr>
                        </m:dPr>
                        <m:e>
                          <m:sSup>
                            <m:sSupPr>
                              <m:ctrlPr>
                                <a:rPr lang="en-US" altLang="zh-CN" sz="1050" b="1" i="1" smtClean="0">
                                  <a:solidFill>
                                    <a:schemeClr val="accent1"/>
                                  </a:solidFill>
                                  <a:latin typeface="Cambria Math" panose="02040503050406030204" pitchFamily="18" charset="0"/>
                                  <a:ea typeface="Noto Sans SC" panose="020B0200000000000000" charset="-122"/>
                                  <a:sym typeface="Noto Sans SC" panose="020B0200000000000000" charset="-122"/>
                                </a:rPr>
                              </m:ctrlPr>
                            </m:sSupPr>
                            <m:e>
                              <m:acc>
                                <m:accPr>
                                  <m:ctrlPr>
                                    <a:rPr lang="en-US" altLang="zh-CN" sz="1050" b="1" i="1">
                                      <a:solidFill>
                                        <a:schemeClr val="accent1"/>
                                      </a:solidFill>
                                      <a:latin typeface="Cambria Math" panose="02040503050406030204" pitchFamily="18" charset="0"/>
                                      <a:ea typeface="Noto Sans SC" panose="020B0200000000000000" charset="-122"/>
                                      <a:sym typeface="Noto Sans SC" panose="020B0200000000000000" charset="-122"/>
                                    </a:rPr>
                                  </m:ctrlPr>
                                </m:accPr>
                                <m:e>
                                  <m:r>
                                    <a:rPr lang="en-US" altLang="zh-CN" sz="1050" b="1" i="1">
                                      <a:solidFill>
                                        <a:schemeClr val="accent1"/>
                                      </a:solidFill>
                                      <a:latin typeface="Cambria Math" panose="02040503050406030204" pitchFamily="18" charset="0"/>
                                      <a:ea typeface="Noto Sans SC" panose="020B0200000000000000" charset="-122"/>
                                      <a:sym typeface="Noto Sans SC" panose="020B0200000000000000" charset="-122"/>
                                    </a:rPr>
                                    <m:t>𝑺</m:t>
                                  </m:r>
                                </m:e>
                              </m:acc>
                            </m:e>
                            <m:sup>
                              <m:r>
                                <a:rPr lang="en-US" altLang="zh-CN" sz="1050" b="1" i="1">
                                  <a:solidFill>
                                    <a:schemeClr val="accent1"/>
                                  </a:solidFill>
                                  <a:latin typeface="Cambria Math" panose="02040503050406030204" pitchFamily="18" charset="0"/>
                                  <a:ea typeface="Noto Sans SC" panose="020B0200000000000000" charset="-122"/>
                                  <a:sym typeface="Noto Sans SC" panose="020B0200000000000000" charset="-122"/>
                                </a:rPr>
                                <m:t>(</m:t>
                              </m:r>
                              <m:r>
                                <a:rPr lang="en-US" altLang="zh-CN" sz="1050" b="1" i="1">
                                  <a:solidFill>
                                    <a:schemeClr val="accent1"/>
                                  </a:solidFill>
                                  <a:latin typeface="Cambria Math" panose="02040503050406030204" pitchFamily="18" charset="0"/>
                                  <a:ea typeface="Noto Sans SC" panose="020B0200000000000000" charset="-122"/>
                                  <a:sym typeface="Noto Sans SC" panose="020B0200000000000000" charset="-122"/>
                                </a:rPr>
                                <m:t>𝑲</m:t>
                              </m:r>
                              <m:r>
                                <a:rPr lang="en-US" altLang="zh-CN" sz="1050" b="1" i="1">
                                  <a:solidFill>
                                    <a:schemeClr val="accent1"/>
                                  </a:solidFill>
                                  <a:latin typeface="Cambria Math" panose="02040503050406030204" pitchFamily="18" charset="0"/>
                                  <a:ea typeface="Noto Sans SC" panose="020B0200000000000000" charset="-122"/>
                                  <a:sym typeface="Noto Sans SC" panose="020B0200000000000000" charset="-122"/>
                                </a:rPr>
                                <m:t>)</m:t>
                              </m:r>
                            </m:sup>
                          </m:sSup>
                        </m:e>
                      </m:d>
                      <m:r>
                        <a:rPr lang="en-US" altLang="zh-CN" sz="1050" b="1" i="1" smtClean="0">
                          <a:solidFill>
                            <a:srgbClr val="1565C0"/>
                          </a:solidFill>
                          <a:latin typeface="Cambria Math" panose="02040503050406030204" pitchFamily="18" charset="0"/>
                          <a:ea typeface="Cambria Math" panose="02040503050406030204" pitchFamily="18" charset="0"/>
                          <a:sym typeface="Noto Sans SC" panose="020B0200000000000000" charset="-122"/>
                        </a:rPr>
                        <m:t>≤</m:t>
                      </m:r>
                      <m:sSub>
                        <m:sSubPr>
                          <m:ctrlPr>
                            <a:rPr lang="en-US" altLang="zh-CN" sz="1050" b="1" i="1" smtClean="0">
                              <a:solidFill>
                                <a:srgbClr val="1565C0"/>
                              </a:solidFill>
                              <a:latin typeface="Cambria Math" panose="02040503050406030204" pitchFamily="18" charset="0"/>
                              <a:ea typeface="Cambria Math" panose="02040503050406030204" pitchFamily="18" charset="0"/>
                              <a:sym typeface="Noto Sans SC" panose="020B0200000000000000" charset="-122"/>
                            </a:rPr>
                          </m:ctrlPr>
                        </m:sSubPr>
                        <m:e>
                          <m:r>
                            <a:rPr lang="en-US" altLang="zh-CN" sz="1050" b="1" i="1" smtClean="0">
                              <a:solidFill>
                                <a:srgbClr val="1565C0"/>
                              </a:solidFill>
                              <a:latin typeface="Cambria Math" panose="02040503050406030204" pitchFamily="18" charset="0"/>
                              <a:ea typeface="Cambria Math" panose="02040503050406030204" pitchFamily="18" charset="0"/>
                              <a:sym typeface="Noto Sans SC" panose="020B0200000000000000" charset="-122"/>
                            </a:rPr>
                            <m:t>𝑪</m:t>
                          </m:r>
                        </m:e>
                        <m:sub>
                          <m:r>
                            <a:rPr lang="en-US" altLang="zh-CN" sz="1050" b="1" i="1" smtClean="0">
                              <a:solidFill>
                                <a:srgbClr val="1565C0"/>
                              </a:solidFill>
                              <a:latin typeface="Cambria Math" panose="02040503050406030204" pitchFamily="18" charset="0"/>
                              <a:ea typeface="Cambria Math" panose="02040503050406030204" pitchFamily="18" charset="0"/>
                              <a:sym typeface="Noto Sans SC" panose="020B0200000000000000" charset="-122"/>
                            </a:rPr>
                            <m:t>𝟎</m:t>
                          </m:r>
                        </m:sub>
                      </m:sSub>
                      <m:sSub>
                        <m:sSubPr>
                          <m:ctrlPr>
                            <a:rPr lang="en-US" altLang="zh-CN" sz="1050" b="1" i="1" smtClean="0">
                              <a:solidFill>
                                <a:srgbClr val="1565C0"/>
                              </a:solidFill>
                              <a:latin typeface="Cambria Math" panose="02040503050406030204" pitchFamily="18" charset="0"/>
                              <a:ea typeface="Cambria Math" panose="02040503050406030204" pitchFamily="18" charset="0"/>
                              <a:sym typeface="Noto Sans SC" panose="020B0200000000000000" charset="-122"/>
                            </a:rPr>
                          </m:ctrlPr>
                        </m:sSubPr>
                        <m:e>
                          <m:r>
                            <a:rPr lang="en-US" altLang="zh-CN" sz="1050" b="1" i="1" smtClean="0">
                              <a:solidFill>
                                <a:srgbClr val="1565C0"/>
                              </a:solidFill>
                              <a:latin typeface="Cambria Math" panose="02040503050406030204" pitchFamily="18" charset="0"/>
                              <a:ea typeface="Cambria Math" panose="02040503050406030204" pitchFamily="18" charset="0"/>
                              <a:sym typeface="Noto Sans SC" panose="020B0200000000000000" charset="-122"/>
                            </a:rPr>
                            <m:t>𝑷</m:t>
                          </m:r>
                        </m:e>
                        <m:sub>
                          <m:r>
                            <a:rPr lang="en-US" altLang="zh-CN" sz="1050" b="1" i="1" smtClean="0">
                              <a:solidFill>
                                <a:srgbClr val="1565C0"/>
                              </a:solidFill>
                              <a:latin typeface="Cambria Math" panose="02040503050406030204" pitchFamily="18" charset="0"/>
                              <a:ea typeface="Cambria Math" panose="02040503050406030204" pitchFamily="18" charset="0"/>
                              <a:sym typeface="Noto Sans SC" panose="020B0200000000000000" charset="-122"/>
                            </a:rPr>
                            <m:t>𝟏</m:t>
                          </m:r>
                        </m:sub>
                      </m:sSub>
                    </m:oMath>
                  </m:oMathPara>
                </a14:m>
                <a:endParaRPr lang="en-US" sz="825" b="1" dirty="0"/>
              </a:p>
            </p:txBody>
          </p:sp>
        </mc:Choice>
        <mc:Fallback>
          <p:sp>
            <p:nvSpPr>
              <p:cNvPr id="19" name="AutoShape 19"/>
              <p:cNvSpPr>
                <a:spLocks noRot="1" noChangeAspect="1" noMove="1" noResize="1" noEditPoints="1" noAdjustHandles="1" noChangeArrowheads="1" noChangeShapeType="1" noTextEdit="1"/>
              </p:cNvSpPr>
              <p:nvPr/>
            </p:nvSpPr>
            <p:spPr>
              <a:xfrm>
                <a:off x="4503542" y="3543300"/>
                <a:ext cx="3784736" cy="238125"/>
              </a:xfrm>
              <a:prstGeom prst="rect">
                <a:avLst/>
              </a:prstGeom>
              <a:blipFill rotWithShape="1">
                <a:blip r:embed="rId5"/>
                <a:stretch>
                  <a:fillRect l="-3" t="-38933" r="7" b="-39467"/>
                </a:stretch>
              </a:blipFill>
              <a:ln w="12700" cap="flat" cmpd="sng">
                <a:noFill/>
                <a:prstDash val="solid"/>
                <a:round/>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AutoShape 20"/>
              <p:cNvSpPr/>
              <p:nvPr/>
            </p:nvSpPr>
            <p:spPr>
              <a:xfrm>
                <a:off x="4562218" y="3731740"/>
                <a:ext cx="3676908" cy="967395"/>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000" dirty="0">
                    <a:solidFill>
                      <a:schemeClr val="tx1"/>
                    </a:solidFill>
                    <a:latin typeface="等线" panose="02010600030101010101" charset="-122"/>
                    <a:ea typeface="等线" panose="02010600030101010101" charset="-122"/>
                    <a:cs typeface="Noto Sans SC" panose="020B0200000000000000" charset="-122"/>
                    <a:sym typeface="Noto Sans SC" panose="020B0200000000000000" charset="-122"/>
                  </a:rPr>
                  <a:t>The total number of features selected during pre-screening is strictly bounded within a certain constant multiple </a:t>
                </a:r>
                <a14:m>
                  <m:oMath xmlns:m="http://schemas.openxmlformats.org/officeDocument/2006/math">
                    <m:sSub>
                      <m:sSubPr>
                        <m:ctrlPr>
                          <a:rPr lang="en-US" altLang="zh-CN" sz="1000" i="1" smtClean="0">
                            <a:solidFill>
                              <a:schemeClr val="tx1"/>
                            </a:solidFill>
                            <a:latin typeface="Cambria Math" panose="02040503050406030204" pitchFamily="18" charset="0"/>
                            <a:ea typeface="等线" panose="02010600030101010101" charset="-122"/>
                            <a:sym typeface="Noto Sans SC" panose="020B0200000000000000" charset="-122"/>
                          </a:rPr>
                        </m:ctrlPr>
                      </m:sSubPr>
                      <m:e>
                        <m:r>
                          <a:rPr lang="en-US" altLang="zh-CN" sz="1000" b="0" i="1" smtClean="0">
                            <a:solidFill>
                              <a:schemeClr val="tx1"/>
                            </a:solidFill>
                            <a:latin typeface="Cambria Math" panose="02040503050406030204" pitchFamily="18" charset="0"/>
                            <a:ea typeface="等线" panose="02010600030101010101" charset="-122"/>
                            <a:sym typeface="Noto Sans SC" panose="020B0200000000000000" charset="-122"/>
                          </a:rPr>
                          <m:t>𝐶</m:t>
                        </m:r>
                      </m:e>
                      <m:sub>
                        <m:r>
                          <a:rPr lang="en-US" altLang="zh-CN" sz="1000" b="0" i="1" smtClean="0">
                            <a:solidFill>
                              <a:schemeClr val="tx1"/>
                            </a:solidFill>
                            <a:latin typeface="Cambria Math" panose="02040503050406030204" pitchFamily="18" charset="0"/>
                            <a:ea typeface="等线" panose="02010600030101010101" charset="-122"/>
                            <a:sym typeface="Noto Sans SC" panose="020B0200000000000000" charset="-122"/>
                          </a:rPr>
                          <m:t>0</m:t>
                        </m:r>
                      </m:sub>
                    </m:sSub>
                  </m:oMath>
                </a14:m>
                <a:r>
                  <a:rPr lang="en-US" sz="1000" dirty="0">
                    <a:solidFill>
                      <a:schemeClr val="tx1"/>
                    </a:solidFill>
                    <a:latin typeface="等线" panose="02010600030101010101" charset="-122"/>
                    <a:ea typeface="等线" panose="02010600030101010101" charset="-122"/>
                    <a:cs typeface="Noto Sans SC" panose="020B0200000000000000" charset="-122"/>
                    <a:sym typeface="Noto Sans SC" panose="020B0200000000000000" charset="-122"/>
                  </a:rPr>
                  <a:t> of the true signal size </a:t>
                </a:r>
                <a14:m>
                  <m:oMath xmlns:m="http://schemas.openxmlformats.org/officeDocument/2006/math">
                    <m:sSub>
                      <m:sSubPr>
                        <m:ctrlPr>
                          <a:rPr lang="en-US" altLang="zh-CN" sz="1000" i="1" smtClean="0">
                            <a:solidFill>
                              <a:schemeClr val="tx1"/>
                            </a:solidFill>
                            <a:latin typeface="Cambria Math" panose="02040503050406030204" pitchFamily="18" charset="0"/>
                            <a:ea typeface="等线" panose="02010600030101010101" charset="-122"/>
                            <a:sym typeface="Noto Sans SC" panose="020B0200000000000000" charset="-122"/>
                          </a:rPr>
                        </m:ctrlPr>
                      </m:sSubPr>
                      <m:e>
                        <m:r>
                          <a:rPr lang="en-US" altLang="zh-CN" sz="1000" b="0" i="1" smtClean="0">
                            <a:solidFill>
                              <a:schemeClr val="tx1"/>
                            </a:solidFill>
                            <a:latin typeface="Cambria Math" panose="02040503050406030204" pitchFamily="18" charset="0"/>
                            <a:ea typeface="等线" panose="02010600030101010101" charset="-122"/>
                            <a:sym typeface="Noto Sans SC" panose="020B0200000000000000" charset="-122"/>
                          </a:rPr>
                          <m:t>𝑝</m:t>
                        </m:r>
                      </m:e>
                      <m:sub>
                        <m:r>
                          <a:rPr lang="en-US" altLang="zh-CN" sz="1000" b="0" i="1" smtClean="0">
                            <a:solidFill>
                              <a:schemeClr val="tx1"/>
                            </a:solidFill>
                            <a:latin typeface="Cambria Math" panose="02040503050406030204" pitchFamily="18" charset="0"/>
                            <a:ea typeface="等线" panose="02010600030101010101" charset="-122"/>
                            <a:sym typeface="Noto Sans SC" panose="020B0200000000000000" charset="-122"/>
                          </a:rPr>
                          <m:t>1</m:t>
                        </m:r>
                      </m:sub>
                    </m:sSub>
                  </m:oMath>
                </a14:m>
                <a:r>
                  <a:rPr lang="en-US" sz="1000" dirty="0">
                    <a:solidFill>
                      <a:schemeClr val="tx1"/>
                    </a:solidFill>
                    <a:latin typeface="等线" panose="02010600030101010101" charset="-122"/>
                    <a:ea typeface="等线" panose="02010600030101010101" charset="-122"/>
                    <a:cs typeface="Noto Sans SC" panose="020B0200000000000000" charset="-122"/>
                    <a:sym typeface="Noto Sans SC" panose="020B0200000000000000" charset="-122"/>
                  </a:rPr>
                  <a:t>.This prevents us from having to handle a massive volume of redundant features in subsequent steps.</a:t>
                </a:r>
                <a:endParaRPr lang="en-US" sz="1000" dirty="0">
                  <a:solidFill>
                    <a:schemeClr val="tx1"/>
                  </a:solidFill>
                  <a:latin typeface="等线" panose="02010600030101010101" charset="-122"/>
                  <a:ea typeface="等线" panose="02010600030101010101" charset="-122"/>
                  <a:cs typeface="Noto Sans SC" panose="020B0200000000000000" charset="-122"/>
                </a:endParaRPr>
              </a:p>
            </p:txBody>
          </p:sp>
        </mc:Choice>
        <mc:Fallback>
          <p:sp>
            <p:nvSpPr>
              <p:cNvPr id="20" name="AutoShape 20"/>
              <p:cNvSpPr>
                <a:spLocks noRot="1" noChangeAspect="1" noMove="1" noResize="1" noEditPoints="1" noAdjustHandles="1" noChangeArrowheads="1" noChangeShapeType="1" noTextEdit="1"/>
              </p:cNvSpPr>
              <p:nvPr/>
            </p:nvSpPr>
            <p:spPr>
              <a:xfrm>
                <a:off x="4562218" y="3731740"/>
                <a:ext cx="3676908" cy="967395"/>
              </a:xfrm>
              <a:prstGeom prst="rect">
                <a:avLst/>
              </a:prstGeom>
              <a:blipFill rotWithShape="1">
                <a:blip r:embed="rId6"/>
                <a:stretch>
                  <a:fillRect l="-10" t="-50" b="14"/>
                </a:stretch>
              </a:blipFill>
              <a:ln w="12700" cap="flat" cmpd="sng">
                <a:noFill/>
                <a:prstDash val="solid"/>
                <a:round/>
              </a:ln>
            </p:spPr>
            <p:txBody>
              <a:bodyPr/>
              <a:lstStyle/>
              <a:p>
                <a:r>
                  <a:rPr lang="zh-CN" altLang="en-US">
                    <a:noFill/>
                  </a:rPr>
                  <a:t> </a:t>
                </a:r>
              </a:p>
            </p:txBody>
          </p:sp>
        </mc:Fallback>
      </mc:AlternateContent>
      <p:pic>
        <p:nvPicPr>
          <p:cNvPr id="25" name="图片 24"/>
          <p:cNvPicPr>
            <a:picLocks noChangeAspect="1"/>
          </p:cNvPicPr>
          <p:nvPr/>
        </p:nvPicPr>
        <p:blipFill>
          <a:blip r:embed="rId7"/>
          <a:stretch>
            <a:fillRect/>
          </a:stretch>
        </p:blipFill>
        <p:spPr>
          <a:xfrm>
            <a:off x="819150" y="3171521"/>
            <a:ext cx="3027290" cy="404812"/>
          </a:xfrm>
          <a:prstGeom prst="rect">
            <a:avLst/>
          </a:prstGeom>
        </p:spPr>
      </p:pic>
      <p:pic>
        <p:nvPicPr>
          <p:cNvPr id="27" name="图片 26"/>
          <p:cNvPicPr>
            <a:picLocks noChangeAspect="1"/>
          </p:cNvPicPr>
          <p:nvPr/>
        </p:nvPicPr>
        <p:blipFill>
          <a:blip r:embed="rId8"/>
          <a:stretch>
            <a:fillRect/>
          </a:stretch>
        </p:blipFill>
        <p:spPr>
          <a:xfrm>
            <a:off x="533400" y="3557847"/>
            <a:ext cx="1942081" cy="17762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11428" b="11428"/>
          <a:stretch>
            <a:fillRect/>
          </a:stretch>
        </p:blipFill>
        <p:spPr>
          <a:xfrm>
            <a:off x="0" y="0"/>
            <a:ext cx="9144000" cy="1028700"/>
          </a:xfrm>
          <a:prstGeom prst="rect">
            <a:avLst/>
          </a:prstGeom>
          <a:noFill/>
          <a:ln w="25400" cap="flat" cmpd="sng">
            <a:noFill/>
            <a:prstDash val="solid"/>
            <a:round/>
          </a:ln>
        </p:spPr>
      </p:pic>
      <p:sp>
        <p:nvSpPr>
          <p:cNvPr id="3" name="AutoShape 3"/>
          <p:cNvSpPr/>
          <p:nvPr/>
        </p:nvSpPr>
        <p:spPr>
          <a:xfrm>
            <a:off x="381000" y="292100"/>
            <a:ext cx="8382000" cy="4826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3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Proposition 3: Asymptotic Normality</a:t>
            </a:r>
            <a:endParaRPr lang="en-US" sz="1100"/>
          </a:p>
          <a:p>
            <a:pPr indent="0" algn="l">
              <a:lnSpc>
                <a:spcPct val="125000"/>
              </a:lnSpc>
            </a:pPr>
            <a:r>
              <a:rPr lang="en-US" sz="1100" b="0" i="0" u="none" strike="noStrike">
                <a:solidFill>
                  <a:srgbClr val="757575"/>
                </a:solidFill>
                <a:latin typeface="Noto Sans SC" panose="020B0200000000000000" charset="-122"/>
                <a:ea typeface="Noto Sans SC" panose="020B0200000000000000" charset="-122"/>
                <a:cs typeface="Noto Sans SC" panose="020B0200000000000000" charset="-122"/>
                <a:sym typeface="Noto Sans SC" panose="020B0200000000000000" charset="-122"/>
              </a:rPr>
              <a:t>Proves the validity of low-dimensional debiasing strategy, laying a mathematical foundation for FDR control</a:t>
            </a:r>
            <a:endParaRPr lang="en-US" sz="1100" b="0" i="0" u="none" strike="noStrike">
              <a:solidFill>
                <a:srgbClr val="75757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nvSpPr>
        <p:spPr>
          <a:xfrm>
            <a:off x="381000" y="1054100"/>
            <a:ext cx="8382000" cy="520700"/>
          </a:xfrm>
          <a:prstGeom prst="roundRect">
            <a:avLst>
              <a:gd name="adj" fmla="val 14634"/>
            </a:avLst>
          </a:prstGeom>
          <a:solidFill>
            <a:srgbClr val="42A5F5">
              <a:alpha val="15000"/>
            </a:srgbClr>
          </a:solidFill>
          <a:ln w="12700" cap="flat" cmpd="sng">
            <a:solidFill>
              <a:srgbClr val="00529B">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533400" y="1092200"/>
            <a:ext cx="8039100" cy="4064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374151"/>
                </a:solidFill>
                <a:latin typeface="等线" panose="02010600030101010101" charset="-122"/>
                <a:ea typeface="等线" panose="02010600030101010101" charset="-122"/>
                <a:cs typeface="等线" panose="02010600030101010101" charset="-122"/>
                <a:sym typeface="等线" panose="02010600030101010101" charset="-122"/>
              </a:rPr>
              <a:t>After low-dimensional debiasing, do our coefficient estimates satisfy the rigorous mathematical conditions for valid FDR control?</a:t>
            </a:r>
            <a:endParaRPr lang="en-US" sz="1100"/>
          </a:p>
        </p:txBody>
      </p:sp>
      <p:sp>
        <p:nvSpPr>
          <p:cNvPr id="6" name="AutoShape 6"/>
          <p:cNvSpPr/>
          <p:nvPr/>
        </p:nvSpPr>
        <p:spPr>
          <a:xfrm>
            <a:off x="228600" y="1714500"/>
            <a:ext cx="4432300" cy="3263900"/>
          </a:xfrm>
          <a:prstGeom prst="roundRect">
            <a:avLst>
              <a:gd name="adj" fmla="val 3891"/>
            </a:avLst>
          </a:prstGeom>
          <a:solidFill>
            <a:srgbClr val="FFFFFF">
              <a:alpha val="100000"/>
            </a:srgbClr>
          </a:solidFill>
          <a:ln w="25400" cap="flat" cmpd="sng">
            <a:noFill/>
            <a:prstDash val="solid"/>
            <a:round/>
          </a:ln>
          <a:effectLst>
            <a:outerShdw blurRad="190500" dist="63500" dir="2700000" algn="tl" rotWithShape="0">
              <a:srgbClr val="000000">
                <a:alpha val="8000"/>
              </a:srgbClr>
            </a:outerShdw>
          </a:effectLst>
        </p:spPr>
        <p:txBody>
          <a:bodyPr vert="horz" wrap="square" lIns="63500" tIns="63500" rIns="63500" bIns="63500" rtlCol="0" anchor="ctr"/>
          <a:lstStyle/>
          <a:p>
            <a:pPr algn="ctr">
              <a:defRPr/>
            </a:pPr>
          </a:p>
        </p:txBody>
      </p:sp>
      <p:sp>
        <p:nvSpPr>
          <p:cNvPr id="8" name="AutoShape 8"/>
          <p:cNvSpPr/>
          <p:nvPr/>
        </p:nvSpPr>
        <p:spPr>
          <a:xfrm>
            <a:off x="473151" y="1778000"/>
            <a:ext cx="3556000" cy="292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Mathematical Conclusion: Proposition 3</a:t>
            </a:r>
            <a:endParaRPr lang="en-US" sz="1100" dirty="0"/>
          </a:p>
        </p:txBody>
      </p:sp>
      <p:sp>
        <p:nvSpPr>
          <p:cNvPr id="9" name="AutoShape 9"/>
          <p:cNvSpPr/>
          <p:nvPr/>
        </p:nvSpPr>
        <p:spPr>
          <a:xfrm>
            <a:off x="552450" y="2027280"/>
            <a:ext cx="40005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sz="1000" b="0" i="0" u="none" strike="noStrike" dirty="0">
                <a:solidFill>
                  <a:srgbClr val="374151"/>
                </a:solidFill>
                <a:latin typeface="等线" panose="02010600030101010101" charset="-122"/>
                <a:ea typeface="等线" panose="02010600030101010101" charset="-122"/>
                <a:cs typeface="等线" panose="02010600030101010101" charset="-122"/>
                <a:sym typeface="等线" panose="02010600030101010101" charset="-122"/>
              </a:rPr>
              <a:t>Under the assumption that the regularity conditions A1–A5 are satisfied, the estimator obtained through the low-dimensional refined </a:t>
            </a:r>
            <a:r>
              <a:rPr lang="en-US" sz="1000" b="0" i="0" u="none" strike="noStrike" dirty="0" err="1">
                <a:solidFill>
                  <a:srgbClr val="374151"/>
                </a:solidFill>
                <a:latin typeface="等线" panose="02010600030101010101" charset="-122"/>
                <a:ea typeface="等线" panose="02010600030101010101" charset="-122"/>
                <a:cs typeface="等线" panose="02010600030101010101" charset="-122"/>
                <a:sym typeface="等线" panose="02010600030101010101" charset="-122"/>
              </a:rPr>
              <a:t>desparsified</a:t>
            </a:r>
            <a:r>
              <a:rPr lang="en-US" sz="1000" b="0" i="0" u="none" strike="noStrike" dirty="0">
                <a:solidFill>
                  <a:srgbClr val="374151"/>
                </a:solidFill>
                <a:latin typeface="等线" panose="02010600030101010101" charset="-122"/>
                <a:ea typeface="等线" panose="02010600030101010101" charset="-122"/>
                <a:cs typeface="等线" panose="02010600030101010101" charset="-122"/>
                <a:sym typeface="等线" panose="02010600030101010101" charset="-122"/>
              </a:rPr>
              <a:t> Lasso method possesses the following asymptotic properties:</a:t>
            </a:r>
            <a:endParaRPr lang="en-US" sz="1100" dirty="0"/>
          </a:p>
        </p:txBody>
      </p:sp>
      <p:sp>
        <p:nvSpPr>
          <p:cNvPr id="11" name="AutoShape 11"/>
          <p:cNvSpPr/>
          <p:nvPr/>
        </p:nvSpPr>
        <p:spPr>
          <a:xfrm>
            <a:off x="635000" y="3276600"/>
            <a:ext cx="3810000" cy="5715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12" name="AutoShape 12"/>
          <p:cNvSpPr/>
          <p:nvPr/>
        </p:nvSpPr>
        <p:spPr>
          <a:xfrm>
            <a:off x="533400" y="4127500"/>
            <a:ext cx="4000500" cy="889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sz="1000" b="0" i="0" u="none" strike="noStrike" dirty="0">
                <a:solidFill>
                  <a:srgbClr val="374151"/>
                </a:solidFill>
                <a:latin typeface="等线" panose="02010600030101010101" charset="-122"/>
                <a:ea typeface="等线" panose="02010600030101010101" charset="-122"/>
                <a:cs typeface="等线" panose="02010600030101010101" charset="-122"/>
                <a:sym typeface="等线" panose="02010600030101010101" charset="-122"/>
              </a:rPr>
              <a:t>This proposition theoretically guarantees that, even in high-dimensional settings, our low-dimensional debiased strategy can still yield estimators with asymptotic normality, which serves as the cornerstone for the validity of statistical inference.</a:t>
            </a:r>
            <a:endParaRPr lang="en-US" sz="1100" dirty="0"/>
          </a:p>
        </p:txBody>
      </p:sp>
      <p:sp>
        <p:nvSpPr>
          <p:cNvPr id="13" name="AutoShape 13"/>
          <p:cNvSpPr/>
          <p:nvPr/>
        </p:nvSpPr>
        <p:spPr>
          <a:xfrm>
            <a:off x="4813300" y="1714500"/>
            <a:ext cx="3911600" cy="3263900"/>
          </a:xfrm>
          <a:prstGeom prst="roundRect">
            <a:avLst>
              <a:gd name="adj" fmla="val 3891"/>
            </a:avLst>
          </a:prstGeom>
          <a:solidFill>
            <a:srgbClr val="FFFFFF">
              <a:alpha val="100000"/>
            </a:srgbClr>
          </a:solidFill>
          <a:ln w="25400" cap="flat" cmpd="sng">
            <a:noFill/>
            <a:prstDash val="solid"/>
            <a:round/>
          </a:ln>
          <a:effectLst>
            <a:outerShdw blurRad="190500" dist="63500" dir="2700000" algn="tl" rotWithShape="0">
              <a:srgbClr val="000000">
                <a:alpha val="8000"/>
              </a:srgbClr>
            </a:outerShdw>
          </a:effectLst>
        </p:spPr>
        <p:txBody>
          <a:bodyPr vert="horz" wrap="square" lIns="63500" tIns="63500" rIns="63500" bIns="63500" rtlCol="0" anchor="ctr"/>
          <a:lstStyle/>
          <a:p>
            <a:pPr algn="ctr">
              <a:defRPr/>
            </a:pPr>
          </a:p>
        </p:txBody>
      </p:sp>
      <p:sp>
        <p:nvSpPr>
          <p:cNvPr id="15" name="AutoShape 15"/>
          <p:cNvSpPr/>
          <p:nvPr/>
        </p:nvSpPr>
        <p:spPr>
          <a:xfrm>
            <a:off x="4914900" y="1778000"/>
            <a:ext cx="3848100" cy="292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Value: A Necessary Precondition for FDR Control</a:t>
            </a:r>
            <a:endParaRPr lang="en-US" sz="1100" dirty="0"/>
          </a:p>
        </p:txBody>
      </p:sp>
      <p:sp>
        <p:nvSpPr>
          <p:cNvPr id="16" name="AutoShape 16"/>
          <p:cNvSpPr/>
          <p:nvPr/>
        </p:nvSpPr>
        <p:spPr>
          <a:xfrm>
            <a:off x="5003800" y="2286000"/>
            <a:ext cx="3530600" cy="1244600"/>
          </a:xfrm>
          <a:prstGeom prst="roundRect">
            <a:avLst>
              <a:gd name="adj" fmla="val 6122"/>
            </a:avLst>
          </a:prstGeom>
          <a:solidFill>
            <a:srgbClr val="3B82F6">
              <a:alpha val="8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5118100" y="2349500"/>
            <a:ext cx="3302000" cy="11176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1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Symmetry of Null Features</a:t>
            </a:r>
            <a:endParaRPr lang="en-US" sz="1100" dirty="0"/>
          </a:p>
          <a:p>
            <a:pPr indent="0" algn="l">
              <a:lnSpc>
                <a:spcPct val="108000"/>
              </a:lnSpc>
            </a:pPr>
            <a:r>
              <a:rPr lang="en-US" sz="1000" b="0" i="0" u="none" strike="noStrike" dirty="0">
                <a:solidFill>
                  <a:srgbClr val="4B5563"/>
                </a:solidFill>
                <a:latin typeface="等线" panose="02010600030101010101" charset="-122"/>
                <a:ea typeface="等线" panose="02010600030101010101" charset="-122"/>
                <a:cs typeface="等线" panose="02010600030101010101" charset="-122"/>
                <a:sym typeface="等线" panose="02010600030101010101" charset="-122"/>
              </a:rPr>
              <a:t>The coefficient estimates of null features asymptotically follow a normal distribution centered at zero, perfectly satisfying the core requirement of "symmetry" for the generalized mirror statistic. This provides the theoretical guarantee for effectively controlling the FDR and establishes the foundational validity of the entire algorithm.</a:t>
            </a:r>
            <a:endParaRPr lang="en-US" sz="1000" b="0" i="0" u="none" strike="noStrike" dirty="0">
              <a:solidFill>
                <a:srgbClr val="4B5563"/>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18" name="AutoShape 18"/>
          <p:cNvSpPr/>
          <p:nvPr/>
        </p:nvSpPr>
        <p:spPr>
          <a:xfrm>
            <a:off x="5003800" y="3683000"/>
            <a:ext cx="3530600" cy="1244600"/>
          </a:xfrm>
          <a:prstGeom prst="roundRect">
            <a:avLst>
              <a:gd name="adj" fmla="val 6122"/>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5118100" y="3683000"/>
            <a:ext cx="3302000" cy="12954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spcAft>
                <a:spcPts val="600"/>
              </a:spcAft>
              <a:defRPr/>
            </a:pPr>
            <a:r>
              <a:rPr lang="en-US" sz="1100" b="1" i="0" u="none" strike="noStrike" dirty="0">
                <a:solidFill>
                  <a:srgbClr val="059669"/>
                </a:solidFill>
                <a:latin typeface="Noto Sans SC" panose="020B0200000000000000" charset="-122"/>
                <a:ea typeface="Noto Sans SC" panose="020B0200000000000000" charset="-122"/>
                <a:cs typeface="Noto Sans SC" panose="020B0200000000000000" charset="-122"/>
                <a:sym typeface="Noto Sans SC" panose="020B0200000000000000" charset="-122"/>
              </a:rPr>
              <a:t>Computational Efficiency</a:t>
            </a:r>
            <a:endParaRPr lang="en-US" sz="1100" dirty="0"/>
          </a:p>
          <a:p>
            <a:pPr>
              <a:lnSpc>
                <a:spcPct val="108000"/>
              </a:lnSpc>
            </a:pPr>
            <a:r>
              <a:rPr lang="en-US" sz="1000" b="0" i="0" u="none" strike="noStrike" dirty="0">
                <a:solidFill>
                  <a:srgbClr val="4B5563"/>
                </a:solidFill>
                <a:latin typeface="等线" panose="02010600030101010101" charset="-122"/>
                <a:ea typeface="等线" panose="02010600030101010101" charset="-122"/>
                <a:cs typeface="等线" panose="02010600030101010101" charset="-122"/>
                <a:sym typeface="等线" panose="02010600030101010101" charset="-122"/>
              </a:rPr>
              <a:t>By operating </a:t>
            </a:r>
            <a:r>
              <a:rPr lang="en-US" altLang="zh-CN" sz="1000" dirty="0">
                <a:solidFill>
                  <a:srgbClr val="4B5563"/>
                </a:solidFill>
                <a:latin typeface="等线" panose="02010600030101010101" charset="-122"/>
                <a:ea typeface="等线" panose="02010600030101010101" charset="-122"/>
                <a:cs typeface="等线" panose="02010600030101010101" charset="-122"/>
                <a:sym typeface="等线" panose="02010600030101010101" charset="-122"/>
              </a:rPr>
              <a:t>solely</a:t>
            </a:r>
            <a:r>
              <a:rPr lang="en-US" sz="1000" b="0" i="0" u="none" strike="noStrike" dirty="0">
                <a:solidFill>
                  <a:srgbClr val="4B5563"/>
                </a:solidFill>
                <a:latin typeface="等线" panose="02010600030101010101" charset="-122"/>
                <a:ea typeface="等线" panose="02010600030101010101" charset="-122"/>
                <a:cs typeface="等线" panose="02010600030101010101" charset="-122"/>
                <a:sym typeface="等线" panose="02010600030101010101" charset="-122"/>
              </a:rPr>
              <a:t> in the low-dimensional space after initial Lasso screening, the Hessian matrix is invertible with high probability, and the computational complexity drops from O(p²) to O(p₁²), </a:t>
            </a:r>
            <a:r>
              <a:rPr lang="en-US" altLang="zh-CN" sz="1000" dirty="0">
                <a:solidFill>
                  <a:srgbClr val="4B5563"/>
                </a:solidFill>
                <a:latin typeface="等线" panose="02010600030101010101" charset="-122"/>
                <a:ea typeface="等线" panose="02010600030101010101" charset="-122"/>
                <a:cs typeface="等线" panose="02010600030101010101" charset="-122"/>
                <a:sym typeface="等线" panose="02010600030101010101" charset="-122"/>
              </a:rPr>
              <a:t>achieving a drastic leap in efficiency through dimensionality reduction.</a:t>
            </a:r>
            <a:endParaRPr lang="en-US" altLang="zh-CN" sz="1000" dirty="0">
              <a:solidFill>
                <a:srgbClr val="4B5563"/>
              </a:solidFill>
              <a:latin typeface="等线" panose="02010600030101010101" charset="-122"/>
              <a:ea typeface="等线" panose="02010600030101010101" charset="-122"/>
              <a:cs typeface="等线" panose="02010600030101010101" charset="-122"/>
              <a:sym typeface="等线" panose="02010600030101010101" charset="-122"/>
            </a:endParaRPr>
          </a:p>
        </p:txBody>
      </p:sp>
      <p:pic>
        <p:nvPicPr>
          <p:cNvPr id="20" name="图片 19"/>
          <p:cNvPicPr>
            <a:picLocks noChangeAspect="1"/>
          </p:cNvPicPr>
          <p:nvPr/>
        </p:nvPicPr>
        <p:blipFill>
          <a:blip r:embed="rId2"/>
          <a:stretch>
            <a:fillRect/>
          </a:stretch>
        </p:blipFill>
        <p:spPr>
          <a:xfrm>
            <a:off x="469900" y="2711000"/>
            <a:ext cx="4000500" cy="14614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10" name="Picture 2"/>
          <p:cNvPicPr>
            <a:picLocks noGrp="1" noRot="1" noChangeAspect="1" noMove="1" noResize="1" noEditPoints="1" noAdjustHandles="1" noChangeArrowheads="1" noChangeShapeType="1" noCrop="1"/>
          </p:cNvPicPr>
          <p:nvPr/>
        </p:nvPicPr>
        <p:blipFill>
          <a:blip r:embed="rId1"/>
          <a:srcRect l="9276" r="9276"/>
          <a:stretch>
            <a:fillRect/>
          </a:stretch>
        </p:blipFill>
        <p:spPr>
          <a:xfrm>
            <a:off x="0" y="0"/>
            <a:ext cx="9144000" cy="1028700"/>
          </a:xfrm>
          <a:prstGeom prst="rect">
            <a:avLst/>
          </a:prstGeom>
          <a:noFill/>
          <a:ln w="25400" cap="flat" cmpd="sng">
            <a:noFill/>
            <a:prstDash val="solid"/>
            <a:round/>
          </a:ln>
        </p:spPr>
      </p:pic>
      <p:sp>
        <p:nvSpPr>
          <p:cNvPr id="3" name="AutoShape 3"/>
          <p:cNvSpPr/>
          <p:nvPr/>
        </p:nvSpPr>
        <p:spPr>
          <a:xfrm>
            <a:off x="0" y="0"/>
            <a:ext cx="9144000" cy="703580"/>
          </a:xfrm>
          <a:prstGeom prst="rect">
            <a:avLst/>
          </a:prstGeom>
          <a:noFill/>
          <a:ln w="9525"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dirty="0">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Algorithm 1：</a:t>
            </a:r>
            <a:r>
              <a:rPr lang="en-US" sz="2000" b="1" dirty="0">
                <a:solidFill>
                  <a:srgbClr val="1F2329"/>
                </a:solidFill>
                <a:latin typeface="微软雅黑" panose="020B0503020204020204" charset="-122"/>
                <a:ea typeface="微软雅黑" panose="020B0503020204020204" charset="-122"/>
                <a:cs typeface="微软雅黑" panose="020B0503020204020204" charset="-122"/>
              </a:rPr>
              <a:t>Final Aggregation Step of Federated Feature Selection</a:t>
            </a:r>
            <a:endParaRPr lang="en-US" altLang="zh-CN" sz="1100" dirty="0"/>
          </a:p>
        </p:txBody>
      </p:sp>
      <p:sp>
        <p:nvSpPr>
          <p:cNvPr id="6" name="AutoShape 6"/>
          <p:cNvSpPr/>
          <p:nvPr/>
        </p:nvSpPr>
        <p:spPr>
          <a:xfrm>
            <a:off x="5207000" y="1524000"/>
            <a:ext cx="3429000" cy="3175000"/>
          </a:xfrm>
          <a:prstGeom prst="rect">
            <a:avLst/>
          </a:prstGeom>
          <a:noFill/>
          <a:ln w="9525" cap="flat" cmpd="sng">
            <a:noFill/>
            <a:prstDash val="solid"/>
            <a:round/>
          </a:ln>
        </p:spPr>
        <p:txBody>
          <a:bodyPr vert="horz" wrap="square" lIns="0" tIns="0" rIns="0" bIns="0" rtlCol="0" anchor="ctr" anchorCtr="0"/>
          <a:lstStyle/>
          <a:p>
            <a:pPr indent="0" algn="l">
              <a:lnSpc>
                <a:spcPct val="125000"/>
              </a:lnSpc>
              <a:defRPr/>
            </a:pPr>
            <a:endParaRPr lang="en-US" sz="1200" b="0" i="1" u="none" strike="noStrike" dirty="0">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7" name="图片 6"/>
          <p:cNvPicPr>
            <a:picLocks noChangeAspect="1"/>
          </p:cNvPicPr>
          <p:nvPr/>
        </p:nvPicPr>
        <p:blipFill>
          <a:blip r:embed="rId2"/>
          <a:stretch>
            <a:fillRect/>
          </a:stretch>
        </p:blipFill>
        <p:spPr>
          <a:xfrm>
            <a:off x="126032" y="1263793"/>
            <a:ext cx="4270527" cy="3695413"/>
          </a:xfrm>
          <a:prstGeom prst="rect">
            <a:avLst/>
          </a:prstGeom>
        </p:spPr>
      </p:pic>
      <p:sp>
        <p:nvSpPr>
          <p:cNvPr id="9" name="文本框 8"/>
          <p:cNvSpPr txBox="1"/>
          <p:nvPr/>
        </p:nvSpPr>
        <p:spPr>
          <a:xfrm>
            <a:off x="200838" y="624971"/>
            <a:ext cx="8943162" cy="430887"/>
          </a:xfrm>
          <a:prstGeom prst="rect">
            <a:avLst/>
          </a:prstGeom>
          <a:noFill/>
        </p:spPr>
        <p:txBody>
          <a:bodyPr wrap="square">
            <a:spAutoFit/>
          </a:bodyPr>
          <a:lstStyle/>
          <a:p>
            <a:r>
              <a:rPr lang="en-US" altLang="zh-CN" sz="1100" dirty="0"/>
              <a:t>This is the exact formal procedure executed exclusively at the central coordinating site, which takes the low-dimensional coefficient estimates from all local sites as input and outputs the final feature support set with guaranteed FDR control.</a:t>
            </a:r>
            <a:endParaRPr lang="zh-CN" altLang="en-US" sz="1100" dirty="0"/>
          </a:p>
        </p:txBody>
      </p:sp>
      <p:pic>
        <p:nvPicPr>
          <p:cNvPr id="15" name="图片 14"/>
          <p:cNvPicPr>
            <a:picLocks noChangeAspect="1"/>
          </p:cNvPicPr>
          <p:nvPr/>
        </p:nvPicPr>
        <p:blipFill>
          <a:blip r:embed="rId3"/>
          <a:stretch>
            <a:fillRect/>
          </a:stretch>
        </p:blipFill>
        <p:spPr>
          <a:xfrm>
            <a:off x="4396559" y="1087195"/>
            <a:ext cx="4646804" cy="405630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10" name="Picture 2"/>
          <p:cNvPicPr>
            <a:picLocks noGrp="1" noRot="1" noChangeAspect="1" noMove="1" noResize="1" noEditPoints="1" noAdjustHandles="1" noChangeArrowheads="1" noChangeShapeType="1" noCrop="1"/>
          </p:cNvPicPr>
          <p:nvPr/>
        </p:nvPicPr>
        <p:blipFill>
          <a:blip r:embed="rId1"/>
          <a:srcRect l="9276" r="9276"/>
          <a:stretch>
            <a:fillRect/>
          </a:stretch>
        </p:blipFill>
        <p:spPr>
          <a:xfrm>
            <a:off x="0" y="0"/>
            <a:ext cx="9144000" cy="1028700"/>
          </a:xfrm>
          <a:prstGeom prst="rect">
            <a:avLst/>
          </a:prstGeom>
          <a:noFill/>
          <a:ln w="25400" cap="flat" cmpd="sng">
            <a:noFill/>
            <a:prstDash val="solid"/>
            <a:round/>
          </a:ln>
        </p:spPr>
      </p:pic>
      <p:sp>
        <p:nvSpPr>
          <p:cNvPr id="6" name="AutoShape 6"/>
          <p:cNvSpPr/>
          <p:nvPr/>
        </p:nvSpPr>
        <p:spPr>
          <a:xfrm>
            <a:off x="5207000" y="1524000"/>
            <a:ext cx="3429000" cy="3175000"/>
          </a:xfrm>
          <a:prstGeom prst="rect">
            <a:avLst/>
          </a:prstGeom>
          <a:noFill/>
          <a:ln w="9525" cap="flat" cmpd="sng">
            <a:noFill/>
            <a:prstDash val="solid"/>
            <a:round/>
          </a:ln>
        </p:spPr>
        <p:txBody>
          <a:bodyPr vert="horz" wrap="square" lIns="0" tIns="0" rIns="0" bIns="0" rtlCol="0" anchor="ctr" anchorCtr="0"/>
          <a:lstStyle/>
          <a:p>
            <a:pPr indent="0" algn="l">
              <a:lnSpc>
                <a:spcPct val="125000"/>
              </a:lnSpc>
              <a:defRPr/>
            </a:pPr>
            <a:endParaRPr lang="en-US" sz="1200" b="0" i="1" u="none" strike="noStrike" dirty="0">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7" name="图片 6"/>
          <p:cNvPicPr>
            <a:picLocks noChangeAspect="1"/>
          </p:cNvPicPr>
          <p:nvPr/>
        </p:nvPicPr>
        <p:blipFill>
          <a:blip r:embed="rId2"/>
          <a:stretch>
            <a:fillRect/>
          </a:stretch>
        </p:blipFill>
        <p:spPr>
          <a:xfrm>
            <a:off x="126032" y="1263793"/>
            <a:ext cx="4270527" cy="3695413"/>
          </a:xfrm>
          <a:prstGeom prst="rect">
            <a:avLst/>
          </a:prstGeom>
        </p:spPr>
      </p:pic>
      <p:pic>
        <p:nvPicPr>
          <p:cNvPr id="4" name="图片 3"/>
          <p:cNvPicPr>
            <a:picLocks noChangeAspect="1"/>
          </p:cNvPicPr>
          <p:nvPr/>
        </p:nvPicPr>
        <p:blipFill>
          <a:blip r:embed="rId3"/>
          <a:srcRect b="9561"/>
          <a:stretch>
            <a:fillRect/>
          </a:stretch>
        </p:blipFill>
        <p:spPr>
          <a:xfrm>
            <a:off x="4426555" y="829781"/>
            <a:ext cx="4708368" cy="4241949"/>
          </a:xfrm>
          <a:prstGeom prst="rect">
            <a:avLst/>
          </a:prstGeom>
        </p:spPr>
      </p:pic>
      <p:sp>
        <p:nvSpPr>
          <p:cNvPr id="2" name="AutoShape 3"/>
          <p:cNvSpPr/>
          <p:nvPr/>
        </p:nvSpPr>
        <p:spPr>
          <a:xfrm>
            <a:off x="5080" y="0"/>
            <a:ext cx="9144000" cy="703580"/>
          </a:xfrm>
          <a:prstGeom prst="rect">
            <a:avLst/>
          </a:prstGeom>
          <a:noFill/>
          <a:ln w="9525"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dirty="0">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Algorithm 1：</a:t>
            </a:r>
            <a:r>
              <a:rPr lang="en-US" sz="2000" b="1" dirty="0">
                <a:solidFill>
                  <a:srgbClr val="1F2329"/>
                </a:solidFill>
                <a:latin typeface="微软雅黑" panose="020B0503020204020204" charset="-122"/>
                <a:ea typeface="微软雅黑" panose="020B0503020204020204" charset="-122"/>
                <a:cs typeface="微软雅黑" panose="020B0503020204020204" charset="-122"/>
              </a:rPr>
              <a:t>Final Aggregation Step of Federated Feature Selection</a:t>
            </a:r>
            <a:endParaRPr lang="en-US" altLang="zh-CN"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9276" r="9276"/>
          <a:stretch>
            <a:fillRect/>
          </a:stretch>
        </p:blipFill>
        <p:spPr>
          <a:xfrm>
            <a:off x="0" y="0"/>
            <a:ext cx="9144000" cy="1028700"/>
          </a:xfrm>
          <a:prstGeom prst="rect">
            <a:avLst/>
          </a:prstGeom>
          <a:noFill/>
          <a:ln w="25400" cap="flat" cmpd="sng">
            <a:noFill/>
            <a:prstDash val="solid"/>
            <a:round/>
          </a:ln>
        </p:spPr>
      </p:pic>
      <p:sp>
        <p:nvSpPr>
          <p:cNvPr id="3" name="AutoShape 3"/>
          <p:cNvSpPr/>
          <p:nvPr/>
        </p:nvSpPr>
        <p:spPr>
          <a:xfrm>
            <a:off x="292100" y="1054099"/>
            <a:ext cx="2959100" cy="4022947"/>
          </a:xfrm>
          <a:prstGeom prst="roundRect">
            <a:avLst>
              <a:gd name="adj" fmla="val 3004"/>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431800" y="738962"/>
            <a:ext cx="2667000" cy="292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Why do we need the inclusion rate?</a:t>
            </a:r>
            <a:endParaRPr lang="en-US" sz="1100" dirty="0"/>
          </a:p>
        </p:txBody>
      </p:sp>
      <p:grpSp>
        <p:nvGrpSpPr>
          <p:cNvPr id="45" name="组合 44"/>
          <p:cNvGrpSpPr/>
          <p:nvPr/>
        </p:nvGrpSpPr>
        <p:grpSpPr>
          <a:xfrm>
            <a:off x="341207" y="1087178"/>
            <a:ext cx="2850333" cy="3944679"/>
            <a:chOff x="368594" y="1365347"/>
            <a:chExt cx="2730206" cy="3359100"/>
          </a:xfrm>
        </p:grpSpPr>
        <p:sp>
          <p:nvSpPr>
            <p:cNvPr id="5" name="AutoShape 5"/>
            <p:cNvSpPr/>
            <p:nvPr/>
          </p:nvSpPr>
          <p:spPr>
            <a:xfrm>
              <a:off x="368594" y="1365347"/>
              <a:ext cx="2667000" cy="3359100"/>
            </a:xfrm>
            <a:prstGeom prst="roundRect">
              <a:avLst>
                <a:gd name="adj" fmla="val 6153"/>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6" name="AutoShape 6"/>
            <p:cNvSpPr/>
            <p:nvPr/>
          </p:nvSpPr>
          <p:spPr>
            <a:xfrm>
              <a:off x="368594" y="1388609"/>
              <a:ext cx="2730206" cy="332095"/>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0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1. Eliminating Random Fluctuations from Single-Pair Combinations</a:t>
              </a:r>
              <a:endParaRPr lang="en-US" sz="1100" dirty="0"/>
            </a:p>
          </p:txBody>
        </p:sp>
        <p:sp>
          <p:nvSpPr>
            <p:cNvPr id="7" name="AutoShape 7"/>
            <p:cNvSpPr/>
            <p:nvPr/>
          </p:nvSpPr>
          <p:spPr>
            <a:xfrm>
              <a:off x="431800" y="1733104"/>
              <a:ext cx="2667000" cy="804615"/>
            </a:xfrm>
            <a:prstGeom prst="roundRect">
              <a:avLst>
                <a:gd name="adj" fmla="val 0"/>
              </a:avLst>
            </a:prstGeom>
            <a:noFill/>
            <a:ln w="25400" cap="flat" cmpd="sng">
              <a:noFill/>
              <a:prstDash val="solid"/>
              <a:round/>
            </a:ln>
          </p:spPr>
          <p:txBody>
            <a:bodyPr vert="horz" wrap="square" lIns="0" tIns="0" rIns="0" bIns="0" rtlCol="0" anchor="ctr" anchorCtr="0"/>
            <a:lstStyle/>
            <a:p>
              <a:pPr indent="0">
                <a:lnSpc>
                  <a:spcPct val="108000"/>
                </a:lnSpc>
                <a:defRPr/>
              </a:pPr>
              <a:r>
                <a:rPr lang="en-US" sz="1000" b="0" i="0" u="none" strike="noStrike"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Single-pair combinations are highly susceptible to local noise interference, leading to unstable </a:t>
              </a:r>
              <a:r>
                <a:rPr lang="en-US" sz="1000" b="0" i="0" u="none" strike="noStrike" dirty="0" err="1">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results.But</a:t>
              </a:r>
              <a:r>
                <a:rPr lang="en-US" sz="1000" b="0" i="0" u="none" strike="noStrike"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a</a:t>
              </a:r>
              <a:r>
                <a:rPr lang="en-US" sz="1000" dirty="0">
                  <a:solidFill>
                    <a:srgbClr val="6B7280"/>
                  </a:solidFill>
                  <a:latin typeface="Times New Roman" panose="02020603050405020304" pitchFamily="18" charset="0"/>
                  <a:ea typeface="Noto Sans SC" panose="020B0200000000000000" charset="-122"/>
                  <a:cs typeface="Times New Roman" panose="02020603050405020304" pitchFamily="18" charset="0"/>
                </a:rPr>
                <a:t>ggregating the full pairwise combination results across K sites effectively smooths out random errors and enhances screening robustness</a:t>
              </a:r>
              <a:r>
                <a:rPr lang="en-US" sz="1000" dirty="0">
                  <a:latin typeface="Times New Roman" panose="02020603050405020304" pitchFamily="18" charset="0"/>
                  <a:cs typeface="Times New Roman" panose="02020603050405020304" pitchFamily="18" charset="0"/>
                </a:rPr>
                <a:t>.</a:t>
              </a:r>
              <a:endParaRPr lang="en-US" sz="1000" dirty="0">
                <a:latin typeface="Times New Roman" panose="02020603050405020304" pitchFamily="18" charset="0"/>
                <a:cs typeface="Times New Roman" panose="02020603050405020304" pitchFamily="18" charset="0"/>
              </a:endParaRPr>
            </a:p>
          </p:txBody>
        </p:sp>
      </p:grpSp>
      <p:grpSp>
        <p:nvGrpSpPr>
          <p:cNvPr id="47" name="组合 46"/>
          <p:cNvGrpSpPr/>
          <p:nvPr/>
        </p:nvGrpSpPr>
        <p:grpSpPr>
          <a:xfrm>
            <a:off x="368594" y="2324681"/>
            <a:ext cx="2757593" cy="1216680"/>
            <a:chOff x="457808" y="2274728"/>
            <a:chExt cx="2618758" cy="832123"/>
          </a:xfrm>
        </p:grpSpPr>
        <p:sp>
          <p:nvSpPr>
            <p:cNvPr id="9" name="AutoShape 9"/>
            <p:cNvSpPr/>
            <p:nvPr/>
          </p:nvSpPr>
          <p:spPr>
            <a:xfrm>
              <a:off x="457808" y="2274728"/>
              <a:ext cx="2539391" cy="2413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0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 Distinguish signal from noise</a:t>
              </a:r>
              <a:endParaRPr lang="en-US" sz="1100" dirty="0"/>
            </a:p>
          </p:txBody>
        </p:sp>
        <p:sp>
          <p:nvSpPr>
            <p:cNvPr id="10" name="AutoShape 10"/>
            <p:cNvSpPr/>
            <p:nvPr/>
          </p:nvSpPr>
          <p:spPr>
            <a:xfrm>
              <a:off x="517832" y="2471851"/>
              <a:ext cx="2558734"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sz="100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Null (irrelevant) features are selected only by chance, making simple frequency counting inadequate for measuring </a:t>
              </a:r>
              <a:r>
                <a:rPr lang="en-US" sz="1000" dirty="0" err="1">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confidence.But</a:t>
              </a:r>
              <a:r>
                <a:rPr lang="en-US" sz="100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t</a:t>
              </a:r>
              <a:r>
                <a:rPr lang="en-US" sz="1000" dirty="0">
                  <a:solidFill>
                    <a:srgbClr val="6B7280"/>
                  </a:solidFill>
                  <a:latin typeface="Times New Roman" panose="02020603050405020304" pitchFamily="18" charset="0"/>
                  <a:ea typeface="Noto Sans SC" panose="020B0200000000000000" charset="-122"/>
                  <a:cs typeface="Times New Roman" panose="02020603050405020304" pitchFamily="18" charset="0"/>
                </a:rPr>
                <a:t>he inclusion rate of true signals approaches 1 while that of noise approaches 0, providing exceptional discriminative power</a:t>
              </a:r>
              <a:r>
                <a:rPr lang="en-US" sz="800" dirty="0">
                  <a:solidFill>
                    <a:srgbClr val="6B7280"/>
                  </a:solidFill>
                  <a:latin typeface="Noto Sans SC" panose="020B0200000000000000" charset="-122"/>
                  <a:ea typeface="Noto Sans SC" panose="020B0200000000000000" charset="-122"/>
                </a:rPr>
                <a:t>.</a:t>
              </a:r>
              <a:endParaRPr lang="en-US" sz="800" dirty="0">
                <a:solidFill>
                  <a:srgbClr val="6B7280"/>
                </a:solidFill>
                <a:latin typeface="Noto Sans SC" panose="020B0200000000000000" charset="-122"/>
                <a:ea typeface="Noto Sans SC" panose="020B0200000000000000" charset="-122"/>
              </a:endParaRPr>
            </a:p>
          </p:txBody>
        </p:sp>
      </p:grpSp>
      <p:grpSp>
        <p:nvGrpSpPr>
          <p:cNvPr id="46" name="组合 45"/>
          <p:cNvGrpSpPr/>
          <p:nvPr/>
        </p:nvGrpSpPr>
        <p:grpSpPr>
          <a:xfrm>
            <a:off x="380811" y="3620087"/>
            <a:ext cx="2674018" cy="1305443"/>
            <a:chOff x="469241" y="2944919"/>
            <a:chExt cx="2527959" cy="1305443"/>
          </a:xfrm>
        </p:grpSpPr>
        <p:sp>
          <p:nvSpPr>
            <p:cNvPr id="12" name="AutoShape 12"/>
            <p:cNvSpPr/>
            <p:nvPr/>
          </p:nvSpPr>
          <p:spPr>
            <a:xfrm>
              <a:off x="469241" y="2944919"/>
              <a:ext cx="2527959" cy="2159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0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3. Providing a Sorting Basis for Global FDR Control</a:t>
              </a:r>
              <a:endParaRPr lang="en-US" sz="1100" dirty="0"/>
            </a:p>
          </p:txBody>
        </p:sp>
        <p:sp>
          <p:nvSpPr>
            <p:cNvPr id="13" name="AutoShape 13"/>
            <p:cNvSpPr/>
            <p:nvPr/>
          </p:nvSpPr>
          <p:spPr>
            <a:xfrm>
              <a:off x="520700" y="3303207"/>
              <a:ext cx="2476500" cy="947155"/>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sz="100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It is difficult to directly and uniformly control the False Discovery Rate (FDR) across multiple sets of independent statistics. B</a:t>
              </a:r>
              <a:r>
                <a:rPr lang="en-US" altLang="zh-CN" sz="100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ut s</a:t>
              </a:r>
              <a:r>
                <a:rPr lang="en-US" sz="100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orting based on the inclusion rate allows a data-driven thresholding approach to strictly lock the global FDR at a predefined level.</a:t>
              </a:r>
              <a:endParaRPr lang="en-US" sz="1000" dirty="0">
                <a:solidFill>
                  <a:srgbClr val="6B7280"/>
                </a:solidFill>
                <a:latin typeface="Times New Roman" panose="02020603050405020304" pitchFamily="18" charset="0"/>
                <a:ea typeface="Noto Sans SC" panose="020B0200000000000000" charset="-122"/>
                <a:cs typeface="Times New Roman" panose="02020603050405020304" pitchFamily="18" charset="0"/>
              </a:endParaRPr>
            </a:p>
          </p:txBody>
        </p:sp>
      </p:grpSp>
      <p:sp>
        <p:nvSpPr>
          <p:cNvPr id="14" name="AutoShape 14"/>
          <p:cNvSpPr/>
          <p:nvPr/>
        </p:nvSpPr>
        <p:spPr>
          <a:xfrm>
            <a:off x="3429000" y="777654"/>
            <a:ext cx="5245100" cy="2413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Calculation Flow of the Inclusion Rate</a:t>
            </a:r>
            <a:endParaRPr lang="en-US" sz="1100" dirty="0"/>
          </a:p>
        </p:txBody>
      </p:sp>
      <p:grpSp>
        <p:nvGrpSpPr>
          <p:cNvPr id="41" name="组合 40"/>
          <p:cNvGrpSpPr/>
          <p:nvPr/>
        </p:nvGrpSpPr>
        <p:grpSpPr>
          <a:xfrm>
            <a:off x="3352800" y="1065324"/>
            <a:ext cx="2628900" cy="912034"/>
            <a:chOff x="3352800" y="1384300"/>
            <a:chExt cx="2628900" cy="912034"/>
          </a:xfrm>
        </p:grpSpPr>
        <p:sp>
          <p:nvSpPr>
            <p:cNvPr id="15" name="AutoShape 15"/>
            <p:cNvSpPr/>
            <p:nvPr/>
          </p:nvSpPr>
          <p:spPr>
            <a:xfrm>
              <a:off x="3352800" y="1384300"/>
              <a:ext cx="2628900" cy="901700"/>
            </a:xfrm>
            <a:prstGeom prst="roundRect">
              <a:avLst>
                <a:gd name="adj" fmla="val 5633"/>
              </a:avLst>
            </a:prstGeom>
            <a:solidFill>
              <a:srgbClr val="DBEAFE">
                <a:alpha val="6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16" name="AutoShape 16"/>
            <p:cNvSpPr/>
            <p:nvPr/>
          </p:nvSpPr>
          <p:spPr>
            <a:xfrm>
              <a:off x="3445540" y="1428750"/>
              <a:ext cx="2387600" cy="1905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0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1. Generate Full Cross-Site Pairs</a:t>
              </a:r>
              <a:endParaRPr lang="en-US" sz="1100" dirty="0"/>
            </a:p>
          </p:txBody>
        </p:sp>
        <mc:AlternateContent xmlns:mc="http://schemas.openxmlformats.org/markup-compatibility/2006">
          <mc:Choice xmlns:a14="http://schemas.microsoft.com/office/drawing/2010/main" Requires="a14">
            <p:sp>
              <p:nvSpPr>
                <p:cNvPr id="17" name="AutoShape 17"/>
                <p:cNvSpPr/>
                <p:nvPr/>
              </p:nvSpPr>
              <p:spPr>
                <a:xfrm>
                  <a:off x="3390900" y="1549400"/>
                  <a:ext cx="2590800" cy="746934"/>
                </a:xfrm>
                <a:prstGeom prst="roundRect">
                  <a:avLst>
                    <a:gd name="adj" fmla="val 0"/>
                  </a:avLst>
                </a:prstGeom>
                <a:noFill/>
                <a:ln w="25400" cap="flat" cmpd="sng">
                  <a:noFill/>
                  <a:prstDash val="solid"/>
                  <a:round/>
                </a:ln>
              </p:spPr>
              <p:txBody>
                <a:bodyPr vert="horz" wrap="square" lIns="0" tIns="0" rIns="0" bIns="0" rtlCol="0" anchor="ctr" anchorCtr="0"/>
                <a:lstStyle/>
                <a:p>
                  <a:pPr>
                    <a:defRPr/>
                  </a:pPr>
                  <a:r>
                    <a:rPr lang="en-US"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Combine K sites in pairs to obtain</a:t>
                  </a:r>
                  <a:r>
                    <a:rPr lang="en-US" altLang="zh-CN"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a:t>
                  </a:r>
                  <a14:m>
                    <m:oMath xmlns:m="http://schemas.openxmlformats.org/officeDocument/2006/math">
                      <m:d>
                        <m:dPr>
                          <m:ctrlPr>
                            <a:rPr lang="en-US" altLang="zh-CN" sz="105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ctrlPr>
                        </m:dPr>
                        <m:e>
                          <m:f>
                            <m:fPr>
                              <m:type m:val="noBar"/>
                              <m:ctrlPr>
                                <a:rPr lang="en-US" altLang="zh-CN" sz="105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ctrlPr>
                            </m:fPr>
                            <m:num>
                              <m:r>
                                <m:rPr>
                                  <m:sty m:val="p"/>
                                </m:rPr>
                                <a:rPr lang="en-US" altLang="zh-CN" sz="105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t>k</m:t>
                              </m:r>
                            </m:num>
                            <m:den>
                              <m:r>
                                <a:rPr lang="en-US" altLang="zh-CN" sz="105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t>2</m:t>
                              </m:r>
                            </m:den>
                          </m:f>
                        </m:e>
                      </m:d>
                      <m:r>
                        <a:rPr lang="en-US" altLang="zh-CN"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t>= </m:t>
                      </m:r>
                      <m:r>
                        <a:rPr lang="en-US" altLang="zh-CN"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t>𝐾</m:t>
                      </m:r>
                      <m:r>
                        <a:rPr lang="en-US" altLang="zh-CN"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t>(</m:t>
                      </m:r>
                      <m:r>
                        <a:rPr lang="en-US" altLang="zh-CN"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t>𝐾</m:t>
                      </m:r>
                      <m:r>
                        <a:rPr lang="en-US" altLang="zh-CN"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t>−</m:t>
                      </m:r>
                      <m:r>
                        <a:rPr lang="en-US" altLang="zh-CN"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t>1</m:t>
                      </m:r>
                      <m:r>
                        <a:rPr lang="en-US" altLang="zh-CN"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t>)/</m:t>
                      </m:r>
                      <m:r>
                        <a:rPr lang="en-US" altLang="zh-CN"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t>2</m:t>
                      </m:r>
                    </m:oMath>
                  </a14:m>
                  <a:r>
                    <a:rPr lang="en-US"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independent site pairs </a:t>
                  </a:r>
                  <a14:m>
                    <m:oMath xmlns:m="http://schemas.openxmlformats.org/officeDocument/2006/math">
                      <m:r>
                        <a:rPr lang="en-US" altLang="zh-CN"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t>(</m:t>
                      </m:r>
                      <m:r>
                        <a:rPr lang="en-US" altLang="zh-CN" sz="1050" dirty="0" err="1">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t>𝑠</m:t>
                      </m:r>
                      <m:r>
                        <a:rPr lang="en-US" altLang="zh-CN" sz="1050" dirty="0" err="1">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t>,</m:t>
                      </m:r>
                      <m:r>
                        <a:rPr lang="en-US" altLang="zh-CN" sz="1050" dirty="0" err="1">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t>𝑡</m:t>
                      </m:r>
                      <m:r>
                        <a:rPr lang="en-US" altLang="zh-CN"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t>)</m:t>
                      </m:r>
                    </m:oMath>
                  </a14:m>
                  <a:r>
                    <a:rPr lang="en-US" altLang="zh-CN"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t>
                  </a:r>
                  <a:r>
                    <a:rPr lang="en-US"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ensuring that all cross-site information is fully covered</a:t>
                  </a:r>
                  <a:r>
                    <a:rPr lang="en-US" sz="100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t>
                  </a:r>
                  <a:endParaRPr lang="en-US" sz="1000" dirty="0">
                    <a:solidFill>
                      <a:srgbClr val="6B7280"/>
                    </a:solidFill>
                    <a:latin typeface="Times New Roman" panose="02020603050405020304" pitchFamily="18" charset="0"/>
                    <a:ea typeface="Noto Sans SC" panose="020B0200000000000000" charset="-122"/>
                    <a:cs typeface="Times New Roman" panose="02020603050405020304" pitchFamily="18" charset="0"/>
                  </a:endParaRPr>
                </a:p>
              </p:txBody>
            </p:sp>
          </mc:Choice>
          <mc:Fallback>
            <p:sp>
              <p:nvSpPr>
                <p:cNvPr id="17" name="AutoShape 17"/>
                <p:cNvSpPr>
                  <a:spLocks noRot="1" noChangeAspect="1" noMove="1" noResize="1" noEditPoints="1" noAdjustHandles="1" noChangeArrowheads="1" noChangeShapeType="1" noTextEdit="1"/>
                </p:cNvSpPr>
                <p:nvPr/>
              </p:nvSpPr>
              <p:spPr>
                <a:xfrm>
                  <a:off x="3390900" y="1549400"/>
                  <a:ext cx="2590800" cy="746934"/>
                </a:xfrm>
                <a:prstGeom prst="roundRect">
                  <a:avLst>
                    <a:gd name="adj" fmla="val 0"/>
                  </a:avLst>
                </a:prstGeom>
                <a:blipFill rotWithShape="1">
                  <a:blip r:embed="rId2"/>
                </a:blipFill>
                <a:ln w="25400" cap="flat" cmpd="sng">
                  <a:noFill/>
                  <a:prstDash val="solid"/>
                  <a:round/>
                </a:ln>
              </p:spPr>
              <p:txBody>
                <a:bodyPr/>
                <a:lstStyle/>
                <a:p>
                  <a:r>
                    <a:rPr lang="zh-CN" altLang="en-US">
                      <a:noFill/>
                    </a:rPr>
                    <a:t> </a:t>
                  </a:r>
                </a:p>
              </p:txBody>
            </p:sp>
          </mc:Fallback>
        </mc:AlternateContent>
      </p:grpSp>
      <p:grpSp>
        <p:nvGrpSpPr>
          <p:cNvPr id="42" name="组合 41"/>
          <p:cNvGrpSpPr/>
          <p:nvPr/>
        </p:nvGrpSpPr>
        <p:grpSpPr>
          <a:xfrm>
            <a:off x="6083300" y="1012607"/>
            <a:ext cx="2984500" cy="940241"/>
            <a:chOff x="6083300" y="1352849"/>
            <a:chExt cx="2984500" cy="940241"/>
          </a:xfrm>
        </p:grpSpPr>
        <p:sp>
          <p:nvSpPr>
            <p:cNvPr id="18" name="AutoShape 18"/>
            <p:cNvSpPr/>
            <p:nvPr/>
          </p:nvSpPr>
          <p:spPr>
            <a:xfrm>
              <a:off x="6083300" y="1384300"/>
              <a:ext cx="2959100" cy="901700"/>
            </a:xfrm>
            <a:prstGeom prst="roundRect">
              <a:avLst>
                <a:gd name="adj" fmla="val 5633"/>
              </a:avLst>
            </a:prstGeom>
            <a:solidFill>
              <a:srgbClr val="D1FAE5">
                <a:alpha val="6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108700" y="1352849"/>
              <a:ext cx="2959100" cy="310852"/>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000" b="1" i="0" u="none" strike="noStrike" dirty="0">
                  <a:solidFill>
                    <a:srgbClr val="059669"/>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2. Feature Screening for Individual Pairs</a:t>
              </a:r>
              <a:endParaRPr lang="en-US" sz="1100" dirty="0"/>
            </a:p>
          </p:txBody>
        </p:sp>
        <mc:AlternateContent xmlns:mc="http://schemas.openxmlformats.org/markup-compatibility/2006">
          <mc:Choice xmlns:a14="http://schemas.microsoft.com/office/drawing/2010/main" Requires="a14">
            <p:sp>
              <p:nvSpPr>
                <p:cNvPr id="20" name="AutoShape 20"/>
                <p:cNvSpPr/>
                <p:nvPr/>
              </p:nvSpPr>
              <p:spPr>
                <a:xfrm>
                  <a:off x="6172199" y="1565537"/>
                  <a:ext cx="2806995" cy="727553"/>
                </a:xfrm>
                <a:prstGeom prst="roundRect">
                  <a:avLst>
                    <a:gd name="adj" fmla="val 0"/>
                  </a:avLst>
                </a:prstGeom>
                <a:noFill/>
                <a:ln w="25400" cap="flat" cmpd="sng">
                  <a:noFill/>
                  <a:prstDash val="solid"/>
                  <a:round/>
                </a:ln>
              </p:spPr>
              <p:txBody>
                <a:bodyPr vert="horz" wrap="square" lIns="0" tIns="0" rIns="0" bIns="0" rtlCol="0" anchor="ctr" anchorCtr="0"/>
                <a:lstStyle/>
                <a:p>
                  <a:pPr>
                    <a:defRPr/>
                  </a:pPr>
                  <a:r>
                    <a:rPr lang="en-US"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For each pair (</a:t>
                  </a:r>
                  <a:r>
                    <a:rPr lang="en-US" sz="1050" dirty="0" err="1">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s,t</a:t>
                  </a:r>
                  <a:r>
                    <a:rPr lang="en-US"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perform feature screening based on the generalized mirror statistic under a predefined FDR to obtain the local feature selection set </a:t>
                  </a:r>
                  <a14:m>
                    <m:oMath xmlns:m="http://schemas.openxmlformats.org/officeDocument/2006/math">
                      <m:sSup>
                        <m:sSupPr>
                          <m:ctrlPr>
                            <a:rPr lang="en-US" altLang="zh-CN" sz="105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ctrlPr>
                        </m:sSupPr>
                        <m:e>
                          <m:acc>
                            <m:accPr>
                              <m:ctrlPr>
                                <a:rPr lang="en-US" altLang="zh-CN" sz="105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ctrlPr>
                            </m:accPr>
                            <m:e>
                              <m:r>
                                <a:rPr lang="en-US" altLang="zh-CN" sz="105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t>𝑆</m:t>
                              </m:r>
                            </m:e>
                          </m:acc>
                        </m:e>
                        <m:sup>
                          <m:r>
                            <a:rPr lang="en-US" altLang="zh-CN" sz="105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t>(</m:t>
                          </m:r>
                          <m:r>
                            <a:rPr lang="en-US" altLang="zh-CN" sz="105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t>𝑠𝑡</m:t>
                          </m:r>
                          <m:r>
                            <a:rPr lang="en-US" altLang="zh-CN" sz="105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t>)</m:t>
                          </m:r>
                        </m:sup>
                      </m:sSup>
                      <m:r>
                        <a:rPr lang="en-US" altLang="zh-CN" sz="105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t> </m:t>
                      </m:r>
                    </m:oMath>
                  </a14:m>
                  <a:r>
                    <a:rPr lang="en-US"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for that pair.</a:t>
                  </a:r>
                  <a:endParaRPr lang="en-US" sz="1050" dirty="0">
                    <a:solidFill>
                      <a:srgbClr val="6B7280"/>
                    </a:solidFill>
                    <a:latin typeface="Times New Roman" panose="02020603050405020304" pitchFamily="18" charset="0"/>
                    <a:ea typeface="Noto Sans SC" panose="020B0200000000000000" charset="-122"/>
                    <a:cs typeface="Times New Roman" panose="02020603050405020304" pitchFamily="18" charset="0"/>
                  </a:endParaRPr>
                </a:p>
              </p:txBody>
            </p:sp>
          </mc:Choice>
          <mc:Fallback>
            <p:sp>
              <p:nvSpPr>
                <p:cNvPr id="20" name="AutoShape 20"/>
                <p:cNvSpPr>
                  <a:spLocks noRot="1" noChangeAspect="1" noMove="1" noResize="1" noEditPoints="1" noAdjustHandles="1" noChangeArrowheads="1" noChangeShapeType="1" noTextEdit="1"/>
                </p:cNvSpPr>
                <p:nvPr/>
              </p:nvSpPr>
              <p:spPr>
                <a:xfrm>
                  <a:off x="6172199" y="1565537"/>
                  <a:ext cx="2806995" cy="727553"/>
                </a:xfrm>
                <a:prstGeom prst="roundRect">
                  <a:avLst>
                    <a:gd name="adj" fmla="val 0"/>
                  </a:avLst>
                </a:prstGeom>
                <a:blipFill rotWithShape="1">
                  <a:blip r:embed="rId3"/>
                </a:blipFill>
                <a:ln w="25400" cap="flat" cmpd="sng">
                  <a:noFill/>
                  <a:prstDash val="solid"/>
                  <a:round/>
                </a:ln>
              </p:spPr>
              <p:txBody>
                <a:bodyPr/>
                <a:lstStyle/>
                <a:p>
                  <a:r>
                    <a:rPr lang="zh-CN" altLang="en-US">
                      <a:noFill/>
                    </a:rPr>
                    <a:t> </a:t>
                  </a:r>
                </a:p>
              </p:txBody>
            </p:sp>
          </mc:Fallback>
        </mc:AlternateContent>
      </p:grpSp>
      <p:grpSp>
        <p:nvGrpSpPr>
          <p:cNvPr id="43" name="组合 42"/>
          <p:cNvGrpSpPr/>
          <p:nvPr/>
        </p:nvGrpSpPr>
        <p:grpSpPr>
          <a:xfrm>
            <a:off x="3340100" y="1980608"/>
            <a:ext cx="2641600" cy="965200"/>
            <a:chOff x="3340100" y="2336800"/>
            <a:chExt cx="2641600" cy="965200"/>
          </a:xfrm>
        </p:grpSpPr>
        <p:sp>
          <p:nvSpPr>
            <p:cNvPr id="21" name="AutoShape 21"/>
            <p:cNvSpPr/>
            <p:nvPr/>
          </p:nvSpPr>
          <p:spPr>
            <a:xfrm>
              <a:off x="3340100" y="2336800"/>
              <a:ext cx="2641600" cy="965200"/>
            </a:xfrm>
            <a:prstGeom prst="roundRect">
              <a:avLst>
                <a:gd name="adj" fmla="val 5633"/>
              </a:avLst>
            </a:prstGeom>
            <a:solidFill>
              <a:srgbClr val="FEF3C7">
                <a:alpha val="6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3390900" y="2413000"/>
              <a:ext cx="2590800" cy="152555"/>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000" b="1" i="0" u="none" strike="noStrike" dirty="0">
                  <a:solidFill>
                    <a:srgbClr val="B45309"/>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3. Weighted Frequency Counting for Individual Features</a:t>
              </a:r>
              <a:endParaRPr lang="en-US" sz="1100" dirty="0"/>
            </a:p>
          </p:txBody>
        </p:sp>
        <p:sp>
          <p:nvSpPr>
            <p:cNvPr id="23" name="AutoShape 23"/>
            <p:cNvSpPr/>
            <p:nvPr/>
          </p:nvSpPr>
          <p:spPr>
            <a:xfrm>
              <a:off x="3390900" y="2666999"/>
              <a:ext cx="2590800" cy="616247"/>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9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Count the selection status of feature j across all pairs, and weight it by the size of the selection set for each pair to reflect the confidence of the results.</a:t>
              </a:r>
              <a:endParaRPr lang="en-US" sz="1000" dirty="0">
                <a:solidFill>
                  <a:srgbClr val="6B7280"/>
                </a:solidFill>
                <a:latin typeface="Times New Roman" panose="02020603050405020304" pitchFamily="18" charset="0"/>
                <a:ea typeface="Noto Sans SC" panose="020B0200000000000000" charset="-122"/>
                <a:cs typeface="Times New Roman" panose="02020603050405020304" pitchFamily="18" charset="0"/>
              </a:endParaRPr>
            </a:p>
          </p:txBody>
        </p:sp>
      </p:grpSp>
      <p:grpSp>
        <p:nvGrpSpPr>
          <p:cNvPr id="44" name="组合 43"/>
          <p:cNvGrpSpPr/>
          <p:nvPr/>
        </p:nvGrpSpPr>
        <p:grpSpPr>
          <a:xfrm>
            <a:off x="6083300" y="1964658"/>
            <a:ext cx="2959100" cy="946446"/>
            <a:chOff x="6083300" y="2336800"/>
            <a:chExt cx="2959100" cy="946446"/>
          </a:xfrm>
        </p:grpSpPr>
        <p:sp>
          <p:nvSpPr>
            <p:cNvPr id="24" name="AutoShape 24"/>
            <p:cNvSpPr/>
            <p:nvPr/>
          </p:nvSpPr>
          <p:spPr>
            <a:xfrm>
              <a:off x="6083300" y="2336800"/>
              <a:ext cx="2959100" cy="946446"/>
            </a:xfrm>
            <a:prstGeom prst="roundRect">
              <a:avLst>
                <a:gd name="adj" fmla="val 5633"/>
              </a:avLst>
            </a:prstGeom>
            <a:solidFill>
              <a:srgbClr val="FBCFE8">
                <a:alpha val="6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108700" y="2349500"/>
              <a:ext cx="2933700" cy="2794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000" b="1" i="0" u="none" strike="noStrike" dirty="0">
                  <a:solidFill>
                    <a:srgbClr val="BE185D"/>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4. Normalization to Obtain the Final Inclusion Rate</a:t>
              </a:r>
              <a:endParaRPr lang="en-US" sz="1100" dirty="0"/>
            </a:p>
          </p:txBody>
        </p:sp>
        <mc:AlternateContent xmlns:mc="http://schemas.openxmlformats.org/markup-compatibility/2006">
          <mc:Choice xmlns:a14="http://schemas.microsoft.com/office/drawing/2010/main" Requires="a14">
            <p:sp>
              <p:nvSpPr>
                <p:cNvPr id="26" name="AutoShape 26"/>
                <p:cNvSpPr/>
                <p:nvPr/>
              </p:nvSpPr>
              <p:spPr>
                <a:xfrm>
                  <a:off x="6108700" y="2667000"/>
                  <a:ext cx="2870494" cy="596900"/>
                </a:xfrm>
                <a:prstGeom prst="roundRect">
                  <a:avLst>
                    <a:gd name="adj" fmla="val 0"/>
                  </a:avLst>
                </a:prstGeom>
                <a:noFill/>
                <a:ln w="25400" cap="flat" cmpd="sng">
                  <a:noFill/>
                  <a:prstDash val="solid"/>
                  <a:round/>
                </a:ln>
              </p:spPr>
              <p:txBody>
                <a:bodyPr vert="horz" wrap="square" lIns="0" tIns="0" rIns="0" bIns="0" rtlCol="0" anchor="ctr" anchorCtr="0"/>
                <a:lstStyle/>
                <a:p>
                  <a:pPr>
                    <a:defRPr/>
                  </a:pPr>
                  <a:r>
                    <a:rPr lang="en-US"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Perform global normalization on the weighted frequencies to obtain the final inclusion rate </a:t>
                  </a:r>
                  <a:r>
                    <a:rPr lang="en-US" altLang="zh-CN"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a:t>
                  </a:r>
                  <a14:m>
                    <m:oMath xmlns:m="http://schemas.openxmlformats.org/officeDocument/2006/math">
                      <m:r>
                        <a:rPr lang="en-US" altLang="zh-CN"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t>Î</m:t>
                      </m:r>
                      <m:r>
                        <a:rPr lang="en-US" altLang="zh-CN"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t>ⱼ</m:t>
                      </m:r>
                      <m:r>
                        <a:rPr lang="en-US" altLang="zh-CN"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m:t> </m:t>
                      </m:r>
                    </m:oMath>
                  </a14:m>
                  <a:r>
                    <a:rPr lang="en-US"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for feature j, bounding its value within the [0,1] interval for standardized comparison</a:t>
                  </a:r>
                  <a:r>
                    <a:rPr lang="en-US" sz="10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200" dirty="0"/>
                </a:p>
              </p:txBody>
            </p:sp>
          </mc:Choice>
          <mc:Fallback>
            <p:sp>
              <p:nvSpPr>
                <p:cNvPr id="26" name="AutoShape 26"/>
                <p:cNvSpPr>
                  <a:spLocks noRot="1" noChangeAspect="1" noMove="1" noResize="1" noEditPoints="1" noAdjustHandles="1" noChangeArrowheads="1" noChangeShapeType="1" noTextEdit="1"/>
                </p:cNvSpPr>
                <p:nvPr/>
              </p:nvSpPr>
              <p:spPr>
                <a:xfrm>
                  <a:off x="6108700" y="2667000"/>
                  <a:ext cx="2870494" cy="596900"/>
                </a:xfrm>
                <a:prstGeom prst="roundRect">
                  <a:avLst>
                    <a:gd name="adj" fmla="val 0"/>
                  </a:avLst>
                </a:prstGeom>
                <a:blipFill rotWithShape="1">
                  <a:blip r:embed="rId4"/>
                </a:blipFill>
                <a:ln w="25400" cap="flat" cmpd="sng">
                  <a:noFill/>
                  <a:prstDash val="solid"/>
                  <a:round/>
                </a:ln>
              </p:spPr>
              <p:txBody>
                <a:bodyPr/>
                <a:lstStyle/>
                <a:p>
                  <a:r>
                    <a:rPr lang="zh-CN" altLang="en-US">
                      <a:noFill/>
                    </a:rPr>
                    <a:t> </a:t>
                  </a:r>
                </a:p>
              </p:txBody>
            </p:sp>
          </mc:Fallback>
        </mc:AlternateContent>
      </p:grpSp>
      <p:sp>
        <p:nvSpPr>
          <p:cNvPr id="27" name="AutoShape 27"/>
          <p:cNvSpPr/>
          <p:nvPr/>
        </p:nvSpPr>
        <p:spPr>
          <a:xfrm>
            <a:off x="3530600" y="3441700"/>
            <a:ext cx="2476500" cy="7874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17000"/>
              </a:lnSpc>
              <a:defRPr/>
            </a:pPr>
            <a:endParaRPr lang="en-US" sz="9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 name="AutoShape 29"/>
          <p:cNvSpPr/>
          <p:nvPr/>
        </p:nvSpPr>
        <p:spPr>
          <a:xfrm>
            <a:off x="6197600" y="3403600"/>
            <a:ext cx="2425700" cy="8509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endParaRPr lang="en-US" sz="9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mc:AlternateContent xmlns:mc="http://schemas.openxmlformats.org/markup-compatibility/2006">
        <mc:Choice xmlns:a14="http://schemas.microsoft.com/office/drawing/2010/main" Requires="a14">
          <p:sp>
            <p:nvSpPr>
              <p:cNvPr id="31" name="AutoShape 31"/>
              <p:cNvSpPr/>
              <p:nvPr/>
            </p:nvSpPr>
            <p:spPr>
              <a:xfrm>
                <a:off x="3340099" y="4417379"/>
                <a:ext cx="5591249" cy="5715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dirty="0">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Theoretical Guarantee (Proposition 1):</a:t>
                </a:r>
                <a:endParaRPr lang="en-US" sz="1100" dirty="0"/>
              </a:p>
              <a:p>
                <a:pPr indent="0" algn="l">
                  <a:lnSpc>
                    <a:spcPct val="100000"/>
                  </a:lnSpc>
                </a:pPr>
                <a:r>
                  <a:rPr lang="en-US" sz="100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Under regularity conditions, the inclusion-rate-based screening pipeline asymptotically controls the FDR within the predefined level </a:t>
                </a:r>
                <a14:m>
                  <m:oMath xmlns:m="http://schemas.openxmlformats.org/officeDocument/2006/math">
                    <m:r>
                      <a:rPr lang="en-US" sz="1000" i="1" smtClean="0">
                        <a:solidFill>
                          <a:srgbClr val="6B7280"/>
                        </a:solidFill>
                        <a:latin typeface="Cambria Math" panose="02040503050406030204" pitchFamily="18" charset="0"/>
                        <a:ea typeface="Cambria Math" panose="02040503050406030204" pitchFamily="18" charset="0"/>
                        <a:cs typeface="Times New Roman" panose="02020603050405020304" pitchFamily="18" charset="0"/>
                        <a:sym typeface="Noto Sans SC" panose="020B0200000000000000" charset="-122"/>
                      </a:rPr>
                      <m:t>𝛼</m:t>
                    </m:r>
                    <m:r>
                      <a:rPr lang="en-US" sz="1000" b="0" i="1" smtClean="0">
                        <a:solidFill>
                          <a:srgbClr val="6B7280"/>
                        </a:solidFill>
                        <a:latin typeface="Cambria Math" panose="02040503050406030204" pitchFamily="18" charset="0"/>
                        <a:ea typeface="Cambria Math" panose="02040503050406030204" pitchFamily="18" charset="0"/>
                        <a:cs typeface="Times New Roman" panose="02020603050405020304" pitchFamily="18" charset="0"/>
                        <a:sym typeface="Noto Sans SC" panose="020B0200000000000000" charset="-122"/>
                      </a:rPr>
                      <m:t> </m:t>
                    </m:r>
                  </m:oMath>
                </a14:m>
                <a:r>
                  <a:rPr lang="en-US" sz="100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and drives the statistical power to converge to 1, perfectly balancing both accuracy and efficiency.</a:t>
                </a:r>
                <a:endParaRPr lang="en-US" sz="100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p:txBody>
          </p:sp>
        </mc:Choice>
        <mc:Fallback>
          <p:sp>
            <p:nvSpPr>
              <p:cNvPr id="31" name="AutoShape 31"/>
              <p:cNvSpPr>
                <a:spLocks noRot="1" noChangeAspect="1" noMove="1" noResize="1" noEditPoints="1" noAdjustHandles="1" noChangeArrowheads="1" noChangeShapeType="1" noTextEdit="1"/>
              </p:cNvSpPr>
              <p:nvPr/>
            </p:nvSpPr>
            <p:spPr>
              <a:xfrm>
                <a:off x="3340099" y="4417379"/>
                <a:ext cx="5591249" cy="571500"/>
              </a:xfrm>
              <a:prstGeom prst="roundRect">
                <a:avLst>
                  <a:gd name="adj" fmla="val 0"/>
                </a:avLst>
              </a:prstGeom>
              <a:blipFill rotWithShape="1">
                <a:blip r:embed="rId5"/>
                <a:stretch>
                  <a:fillRect l="-11" t="-8278" r="1" b="-8389"/>
                </a:stretch>
              </a:blipFill>
              <a:ln w="25400" cap="flat" cmpd="sng">
                <a:noFill/>
                <a:prstDash val="solid"/>
                <a:round/>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 name="AutoShape 33"/>
              <p:cNvSpPr/>
              <p:nvPr/>
            </p:nvSpPr>
            <p:spPr>
              <a:xfrm>
                <a:off x="3333750" y="3787902"/>
                <a:ext cx="5724036" cy="5715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dirty="0">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Final Selection Rule:</a:t>
                </a:r>
                <a:endParaRPr lang="en-US" sz="1100" dirty="0"/>
              </a:p>
              <a:p>
                <a:r>
                  <a:rPr lang="en-US" sz="9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Sort the inclusion rates and find the maximum index m that satisfies the cumulative sum </a:t>
                </a:r>
                <a14:m>
                  <m:oMath xmlns:m="http://schemas.openxmlformats.org/officeDocument/2006/math">
                    <m:r>
                      <a:rPr lang="en-US" sz="900" b="0" i="1" u="none" strike="noStrike" dirty="0" smtClean="0">
                        <a:solidFill>
                          <a:srgbClr val="4B5563"/>
                        </a:solidFill>
                        <a:latin typeface="Cambria Math" panose="02040503050406030204" pitchFamily="18" charset="0"/>
                        <a:ea typeface="Cambria Math" panose="02040503050406030204" pitchFamily="18" charset="0"/>
                        <a:cs typeface="Noto Sans SC" panose="020B0200000000000000" charset="-122"/>
                        <a:sym typeface="Noto Sans SC" panose="020B0200000000000000" charset="-122"/>
                      </a:rPr>
                      <m:t>≤</m:t>
                    </m:r>
                    <m:r>
                      <a:rPr lang="en-US" sz="900" b="0" i="1" u="none" strike="noStrike" dirty="0" smtClean="0">
                        <a:solidFill>
                          <a:srgbClr val="4B5563"/>
                        </a:solidFill>
                        <a:latin typeface="Cambria Math" panose="02040503050406030204" pitchFamily="18" charset="0"/>
                        <a:ea typeface="Cambria Math" panose="02040503050406030204" pitchFamily="18" charset="0"/>
                        <a:cs typeface="Noto Sans SC" panose="020B0200000000000000" charset="-122"/>
                        <a:sym typeface="Noto Sans SC" panose="020B0200000000000000" charset="-122"/>
                      </a:rPr>
                      <m:t>𝛼</m:t>
                    </m:r>
                  </m:oMath>
                </a14:m>
                <a:r>
                  <a:rPr lang="en-US" sz="9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The final selected features consist of all features with an inclusion rate higher than the threshold </a:t>
                </a:r>
                <a:r>
                  <a:rPr lang="en-US" altLang="zh-CN" sz="900"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Î(m) ,</a:t>
                </a:r>
                <a:r>
                  <a:rPr lang="en-US" sz="9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completing the global screening.</a:t>
                </a:r>
                <a:endParaRPr lang="en-US" sz="9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mc:Choice>
        <mc:Fallback>
          <p:sp>
            <p:nvSpPr>
              <p:cNvPr id="33" name="AutoShape 33"/>
              <p:cNvSpPr>
                <a:spLocks noRot="1" noChangeAspect="1" noMove="1" noResize="1" noEditPoints="1" noAdjustHandles="1" noChangeArrowheads="1" noChangeShapeType="1" noTextEdit="1"/>
              </p:cNvSpPr>
              <p:nvPr/>
            </p:nvSpPr>
            <p:spPr>
              <a:xfrm>
                <a:off x="3333750" y="3787902"/>
                <a:ext cx="5724036" cy="571500"/>
              </a:xfrm>
              <a:prstGeom prst="roundRect">
                <a:avLst>
                  <a:gd name="adj" fmla="val 0"/>
                </a:avLst>
              </a:prstGeom>
              <a:blipFill rotWithShape="1">
                <a:blip r:embed="rId6"/>
                <a:stretch>
                  <a:fillRect t="-4244" r="3" b="-4422"/>
                </a:stretch>
              </a:blipFill>
              <a:ln w="25400" cap="flat" cmpd="sng">
                <a:noFill/>
                <a:prstDash val="solid"/>
                <a:round/>
              </a:ln>
            </p:spPr>
            <p:txBody>
              <a:bodyPr/>
              <a:lstStyle/>
              <a:p>
                <a:r>
                  <a:rPr lang="zh-CN" altLang="en-US">
                    <a:noFill/>
                  </a:rPr>
                  <a:t> </a:t>
                </a:r>
              </a:p>
            </p:txBody>
          </p:sp>
        </mc:Fallback>
      </mc:AlternateContent>
      <p:sp>
        <p:nvSpPr>
          <p:cNvPr id="34" name="AutoShape 34"/>
          <p:cNvSpPr/>
          <p:nvPr/>
        </p:nvSpPr>
        <p:spPr>
          <a:xfrm>
            <a:off x="508000" y="158306"/>
            <a:ext cx="8001000" cy="517155"/>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ts val="3150"/>
              </a:lnSpc>
              <a:defRPr/>
            </a:pPr>
            <a:r>
              <a:rPr lang="en-US" sz="2300" b="1" i="0" u="none" strike="noStrike" dirty="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Inclusion Rate</a:t>
            </a:r>
            <a:endParaRPr lang="en-US" sz="1100" dirty="0"/>
          </a:p>
        </p:txBody>
      </p:sp>
      <p:pic>
        <p:nvPicPr>
          <p:cNvPr id="35" name="图片 34"/>
          <p:cNvPicPr>
            <a:picLocks noChangeAspect="1"/>
          </p:cNvPicPr>
          <p:nvPr/>
        </p:nvPicPr>
        <p:blipFill>
          <a:blip r:embed="rId7"/>
          <a:stretch>
            <a:fillRect/>
          </a:stretch>
        </p:blipFill>
        <p:spPr>
          <a:xfrm>
            <a:off x="3276600" y="3001335"/>
            <a:ext cx="1843654" cy="482451"/>
          </a:xfrm>
          <a:prstGeom prst="rect">
            <a:avLst/>
          </a:prstGeom>
        </p:spPr>
      </p:pic>
      <p:grpSp>
        <p:nvGrpSpPr>
          <p:cNvPr id="36" name="组合 35"/>
          <p:cNvGrpSpPr/>
          <p:nvPr/>
        </p:nvGrpSpPr>
        <p:grpSpPr>
          <a:xfrm>
            <a:off x="5098279" y="2918195"/>
            <a:ext cx="3995208" cy="1022365"/>
            <a:chOff x="5359149" y="3330719"/>
            <a:chExt cx="3289551" cy="782154"/>
          </a:xfrm>
        </p:grpSpPr>
        <p:sp>
          <p:nvSpPr>
            <p:cNvPr id="37" name="AutoShape 31"/>
            <p:cNvSpPr/>
            <p:nvPr/>
          </p:nvSpPr>
          <p:spPr>
            <a:xfrm>
              <a:off x="5359149" y="3330719"/>
              <a:ext cx="3289551" cy="765051"/>
            </a:xfrm>
            <a:prstGeom prst="roundRect">
              <a:avLst>
                <a:gd name="adj" fmla="val 7142"/>
              </a:avLst>
            </a:prstGeom>
            <a:solidFill>
              <a:srgbClr val="F3F4F6">
                <a:alpha val="100000"/>
              </a:srgbClr>
            </a:solidFill>
            <a:ln w="25400" cap="flat" cmpd="sng">
              <a:noFill/>
              <a:prstDash val="solid"/>
              <a:round/>
            </a:ln>
          </p:spPr>
          <p:txBody>
            <a:bodyPr vert="horz" wrap="square" lIns="47625" tIns="47625" rIns="47625" bIns="47625" rtlCol="0" anchor="ctr"/>
            <a:lstStyle/>
            <a:p>
              <a:pPr algn="ctr">
                <a:defRPr/>
              </a:pPr>
              <a:endParaRPr sz="1350"/>
            </a:p>
          </p:txBody>
        </p:sp>
        <mc:AlternateContent xmlns:mc="http://schemas.openxmlformats.org/markup-compatibility/2006">
          <mc:Choice xmlns:a14="http://schemas.microsoft.com/office/drawing/2010/main" Requires="a14">
            <p:sp>
              <p:nvSpPr>
                <p:cNvPr id="38" name="AutoShape 32"/>
                <p:cNvSpPr/>
                <p:nvPr/>
              </p:nvSpPr>
              <p:spPr>
                <a:xfrm>
                  <a:off x="5433584" y="3358854"/>
                  <a:ext cx="3185721" cy="754019"/>
                </a:xfrm>
                <a:prstGeom prst="rect">
                  <a:avLst/>
                </a:prstGeom>
                <a:noFill/>
                <a:ln w="12700" cap="flat" cmpd="sng">
                  <a:noFill/>
                  <a:prstDash val="solid"/>
                  <a:round/>
                </a:ln>
              </p:spPr>
              <p:txBody>
                <a:bodyPr vert="horz" wrap="square" lIns="0" tIns="0" rIns="0" bIns="0" rtlCol="0" anchor="ctr" anchorCtr="0"/>
                <a:lstStyle/>
                <a:p>
                  <a:r>
                    <a:rPr lang="en-US" sz="10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14:m>
                    <m:oMath xmlns:m="http://schemas.openxmlformats.org/officeDocument/2006/math">
                      <m:sSup>
                        <m:sSupPr>
                          <m:ctrlPr>
                            <a:rPr lang="en-US" altLang="zh-CN" sz="1000" b="1" i="1" smtClean="0">
                              <a:solidFill>
                                <a:srgbClr val="4B5563"/>
                              </a:solidFill>
                              <a:latin typeface="Cambria Math" panose="02040503050406030204" pitchFamily="18" charset="0"/>
                              <a:ea typeface="Noto Sans SC" panose="020B0200000000000000" charset="-122"/>
                              <a:sym typeface="Noto Sans SC" panose="020B0200000000000000" charset="-122"/>
                            </a:rPr>
                          </m:ctrlPr>
                        </m:sSupPr>
                        <m:e>
                          <m:acc>
                            <m:accPr>
                              <m:ctrlPr>
                                <a:rPr lang="en-US" altLang="zh-CN" sz="1000" b="1" i="1" smtClean="0">
                                  <a:solidFill>
                                    <a:srgbClr val="4B5563"/>
                                  </a:solidFill>
                                  <a:latin typeface="Cambria Math" panose="02040503050406030204" pitchFamily="18" charset="0"/>
                                  <a:ea typeface="Noto Sans SC" panose="020B0200000000000000" charset="-122"/>
                                  <a:sym typeface="Noto Sans SC" panose="020B0200000000000000" charset="-122"/>
                                </a:rPr>
                              </m:ctrlPr>
                            </m:accPr>
                            <m:e>
                              <m:r>
                                <a:rPr lang="en-US" altLang="zh-CN" sz="1000" b="1" i="1" smtClean="0">
                                  <a:solidFill>
                                    <a:srgbClr val="4B5563"/>
                                  </a:solidFill>
                                  <a:latin typeface="Cambria Math" panose="02040503050406030204" pitchFamily="18" charset="0"/>
                                  <a:ea typeface="Noto Sans SC" panose="020B0200000000000000" charset="-122"/>
                                  <a:sym typeface="Noto Sans SC" panose="020B0200000000000000" charset="-122"/>
                                </a:rPr>
                                <m:t>𝑺</m:t>
                              </m:r>
                            </m:e>
                          </m:acc>
                        </m:e>
                        <m:sup>
                          <m:r>
                            <a:rPr lang="en-US" altLang="zh-CN" sz="1000" b="1" i="1" smtClean="0">
                              <a:solidFill>
                                <a:srgbClr val="4B5563"/>
                              </a:solidFill>
                              <a:latin typeface="Cambria Math" panose="02040503050406030204" pitchFamily="18" charset="0"/>
                              <a:ea typeface="Noto Sans SC" panose="020B0200000000000000" charset="-122"/>
                              <a:sym typeface="Noto Sans SC" panose="020B0200000000000000" charset="-122"/>
                            </a:rPr>
                            <m:t>(</m:t>
                          </m:r>
                          <m:r>
                            <a:rPr lang="en-US" altLang="zh-CN" sz="1000" b="1" i="1" smtClean="0">
                              <a:solidFill>
                                <a:srgbClr val="4B5563"/>
                              </a:solidFill>
                              <a:latin typeface="Cambria Math" panose="02040503050406030204" pitchFamily="18" charset="0"/>
                              <a:ea typeface="Noto Sans SC" panose="020B0200000000000000" charset="-122"/>
                              <a:sym typeface="Noto Sans SC" panose="020B0200000000000000" charset="-122"/>
                            </a:rPr>
                            <m:t>𝒔𝒕</m:t>
                          </m:r>
                          <m:r>
                            <a:rPr lang="en-US" altLang="zh-CN" sz="1000" b="1" i="1" smtClean="0">
                              <a:solidFill>
                                <a:srgbClr val="4B5563"/>
                              </a:solidFill>
                              <a:latin typeface="Cambria Math" panose="02040503050406030204" pitchFamily="18" charset="0"/>
                              <a:ea typeface="Noto Sans SC" panose="020B0200000000000000" charset="-122"/>
                              <a:sym typeface="Noto Sans SC" panose="020B0200000000000000" charset="-122"/>
                            </a:rPr>
                            <m:t>)</m:t>
                          </m:r>
                        </m:sup>
                      </m:sSup>
                    </m:oMath>
                  </a14:m>
                  <a:r>
                    <a:rPr lang="en-US" sz="10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1050" dirty="0">
                      <a:solidFill>
                        <a:srgbClr val="6B7280"/>
                      </a:solidFill>
                      <a:latin typeface="Times New Roman" panose="02020603050405020304" pitchFamily="18" charset="0"/>
                      <a:ea typeface="Noto Sans SC" panose="020B0200000000000000" charset="-122"/>
                      <a:cs typeface="Times New Roman" panose="02020603050405020304" pitchFamily="18" charset="0"/>
                    </a:rPr>
                    <a:t>serves as the weight; a smaller number of selected features implies a stricter selection criterion.</a:t>
                  </a:r>
                  <a:endParaRPr lang="en-US"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a:p>
                  <a:r>
                    <a:rPr lang="en-US" sz="100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05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1 </a:t>
                  </a:r>
                  <a:r>
                    <a:rPr lang="en-US"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is a fallback mechanism designed to prevent division-by-zero errors.</a:t>
                  </a:r>
                  <a:endParaRPr lang="en-US"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a:p>
                  <a14:m>
                    <m:oMath xmlns:m="http://schemas.openxmlformats.org/officeDocument/2006/math">
                      <m:r>
                        <a:rPr lang="en-US" sz="1050" b="1" i="1" dirty="0" smtClean="0">
                          <a:solidFill>
                            <a:srgbClr val="4B5563"/>
                          </a:solidFill>
                          <a:latin typeface="Cambria Math" panose="02040503050406030204" pitchFamily="18" charset="0"/>
                          <a:ea typeface="Noto Sans SC" panose="020B0200000000000000" charset="-122"/>
                          <a:cs typeface="Noto Sans SC" panose="020B0200000000000000" charset="-122"/>
                          <a:sym typeface="Noto Sans SC" panose="020B0200000000000000" charset="-122"/>
                        </a:rPr>
                        <m:t>𝑰</m:t>
                      </m:r>
                      <m:r>
                        <a:rPr lang="en-US" sz="1050" b="1" i="1" dirty="0">
                          <a:solidFill>
                            <a:srgbClr val="4B5563"/>
                          </a:solidFill>
                          <a:latin typeface="Cambria Math" panose="02040503050406030204" pitchFamily="18" charset="0"/>
                          <a:ea typeface="Noto Sans SC" panose="020B0200000000000000" charset="-122"/>
                          <a:cs typeface="Noto Sans SC" panose="020B0200000000000000" charset="-122"/>
                          <a:sym typeface="Noto Sans SC" panose="020B0200000000000000" charset="-122"/>
                        </a:rPr>
                        <m:t>(·)</m:t>
                      </m:r>
                    </m:oMath>
                  </a14:m>
                  <a:r>
                    <a:rPr lang="en-US" sz="1050" b="1"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is a 0-1 indicator function used to count the selection frequency.</a:t>
                  </a:r>
                  <a:endParaRPr lang="en-US" sz="105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p:txBody>
            </p:sp>
          </mc:Choice>
          <mc:Fallback>
            <p:sp>
              <p:nvSpPr>
                <p:cNvPr id="38" name="AutoShape 32"/>
                <p:cNvSpPr>
                  <a:spLocks noRot="1" noChangeAspect="1" noMove="1" noResize="1" noEditPoints="1" noAdjustHandles="1" noChangeArrowheads="1" noChangeShapeType="1" noTextEdit="1"/>
                </p:cNvSpPr>
                <p:nvPr/>
              </p:nvSpPr>
              <p:spPr>
                <a:xfrm>
                  <a:off x="5433584" y="3358854"/>
                  <a:ext cx="3185721" cy="754019"/>
                </a:xfrm>
                <a:prstGeom prst="rect">
                  <a:avLst/>
                </a:prstGeom>
                <a:blipFill rotWithShape="1">
                  <a:blip r:embed="rId8"/>
                </a:blipFill>
                <a:ln w="12700" cap="flat" cmpd="sng">
                  <a:noFill/>
                  <a:prstDash val="solid"/>
                  <a:round/>
                </a:ln>
              </p:spPr>
              <p:txBody>
                <a:bodyPr/>
                <a:lstStyle/>
                <a:p>
                  <a:r>
                    <a:rPr lang="zh-CN" altLang="en-US">
                      <a:noFill/>
                    </a:rPr>
                    <a:t> </a:t>
                  </a:r>
                </a:p>
              </p:txBody>
            </p:sp>
          </mc:Fallback>
        </mc:AlternateContent>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Image 0" descr="preencoded.png"/>
          <p:cNvPicPr>
            <a:picLocks noChangeAspect="1"/>
          </p:cNvPicPr>
          <p:nvPr/>
        </p:nvPicPr>
        <p:blipFill>
          <a:blip r:embed="rId1"/>
          <a:srcRect l="9302" r="9302"/>
          <a:stretch>
            <a:fillRect/>
          </a:stretch>
        </p:blipFill>
        <p:spPr>
          <a:xfrm>
            <a:off x="-38100" y="3820"/>
            <a:ext cx="9144000" cy="1027511"/>
          </a:xfrm>
          <a:prstGeom prst="rect">
            <a:avLst/>
          </a:prstGeom>
        </p:spPr>
      </p:pic>
      <p:sp>
        <p:nvSpPr>
          <p:cNvPr id="2" name="AutoShape 2"/>
          <p:cNvSpPr/>
          <p:nvPr/>
        </p:nvSpPr>
        <p:spPr>
          <a:xfrm>
            <a:off x="476250" y="171450"/>
            <a:ext cx="8572500" cy="428625"/>
          </a:xfrm>
          <a:prstGeom prst="rect">
            <a:avLst/>
          </a:prstGeom>
          <a:noFill/>
          <a:ln w="12700" cap="flat" cmpd="sng">
            <a:noFill/>
            <a:prstDash val="solid"/>
            <a:round/>
          </a:ln>
        </p:spPr>
        <p:txBody>
          <a:bodyPr vert="horz" wrap="square" lIns="0" tIns="0" rIns="0" bIns="0" rtlCol="0" anchor="ctr" anchorCtr="0"/>
          <a:lstStyle/>
          <a:p>
            <a:pPr>
              <a:lnSpc>
                <a:spcPts val="3150"/>
              </a:lnSpc>
            </a:pPr>
            <a:r>
              <a:rPr lang="en-US" altLang="zh-CN" sz="2250" b="1" dirty="0">
                <a:solidFill>
                  <a:srgbClr val="333333"/>
                </a:solidFill>
                <a:latin typeface="微软雅黑" panose="020B0503020204020204" charset="-122"/>
                <a:ea typeface="微软雅黑" panose="020B0503020204020204" charset="-122"/>
              </a:rPr>
              <a:t>Proposition 1 and the Two Major Conditions</a:t>
            </a:r>
            <a:endParaRPr lang="en-US" altLang="zh-CN" sz="2250" b="1" dirty="0">
              <a:solidFill>
                <a:srgbClr val="333333"/>
              </a:solidFill>
              <a:latin typeface="微软雅黑" panose="020B0503020204020204" charset="-122"/>
              <a:ea typeface="微软雅黑" panose="020B0503020204020204" charset="-122"/>
            </a:endParaRPr>
          </a:p>
        </p:txBody>
      </p:sp>
      <p:sp>
        <p:nvSpPr>
          <p:cNvPr id="3" name="AutoShape 3"/>
          <p:cNvSpPr/>
          <p:nvPr/>
        </p:nvSpPr>
        <p:spPr>
          <a:xfrm>
            <a:off x="5309348" y="605266"/>
            <a:ext cx="3548902" cy="216444"/>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975" dirty="0">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rPr>
              <a:t>— Why Does This Truncation Guarantee Global FDR Control?</a:t>
            </a:r>
            <a:endParaRPr lang="zh-CN" altLang="en-US" sz="900" dirty="0"/>
          </a:p>
        </p:txBody>
      </p:sp>
      <p:grpSp>
        <p:nvGrpSpPr>
          <p:cNvPr id="34" name="组合 33"/>
          <p:cNvGrpSpPr/>
          <p:nvPr/>
        </p:nvGrpSpPr>
        <p:grpSpPr>
          <a:xfrm>
            <a:off x="285750" y="1907624"/>
            <a:ext cx="3952875" cy="2238375"/>
            <a:chOff x="285750" y="1828799"/>
            <a:chExt cx="3952875" cy="2238375"/>
          </a:xfrm>
        </p:grpSpPr>
        <p:sp>
          <p:nvSpPr>
            <p:cNvPr id="6" name="AutoShape 6"/>
            <p:cNvSpPr/>
            <p:nvPr/>
          </p:nvSpPr>
          <p:spPr>
            <a:xfrm>
              <a:off x="285750" y="1828799"/>
              <a:ext cx="3952875" cy="2238375"/>
            </a:xfrm>
            <a:prstGeom prst="roundRect">
              <a:avLst>
                <a:gd name="adj" fmla="val 5263"/>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47625" tIns="47625" rIns="47625" bIns="47625" rtlCol="0" anchor="ctr"/>
            <a:lstStyle/>
            <a:p>
              <a:pPr algn="ctr">
                <a:defRPr/>
              </a:pPr>
              <a:endParaRPr sz="1350"/>
            </a:p>
          </p:txBody>
        </p:sp>
        <p:sp>
          <p:nvSpPr>
            <p:cNvPr id="7" name="AutoShape 7"/>
            <p:cNvSpPr/>
            <p:nvPr/>
          </p:nvSpPr>
          <p:spPr>
            <a:xfrm>
              <a:off x="428625" y="1987110"/>
              <a:ext cx="3714750" cy="28575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125" b="1"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Two Core Regularity Conditions:</a:t>
              </a:r>
              <a:endParaRPr lang="en-US" sz="825" dirty="0"/>
            </a:p>
          </p:txBody>
        </p:sp>
        <p:sp>
          <p:nvSpPr>
            <p:cNvPr id="8" name="AutoShape 8"/>
            <p:cNvSpPr/>
            <p:nvPr/>
          </p:nvSpPr>
          <p:spPr>
            <a:xfrm>
              <a:off x="428625" y="2286000"/>
              <a:ext cx="3667125" cy="838200"/>
            </a:xfrm>
            <a:prstGeom prst="roundRect">
              <a:avLst>
                <a:gd name="adj" fmla="val 9090"/>
              </a:avLst>
            </a:prstGeom>
            <a:solidFill>
              <a:srgbClr val="42A5F5">
                <a:alpha val="8000"/>
              </a:srgbClr>
            </a:solidFill>
            <a:ln w="25400" cap="flat" cmpd="sng">
              <a:noFill/>
              <a:prstDash val="solid"/>
              <a:round/>
            </a:ln>
          </p:spPr>
          <p:txBody>
            <a:bodyPr vert="horz" wrap="square" lIns="47625" tIns="47625" rIns="47625" bIns="47625" rtlCol="0" anchor="ctr"/>
            <a:lstStyle/>
            <a:p>
              <a:pPr algn="ctr">
                <a:defRPr/>
              </a:pPr>
              <a:endParaRPr sz="1350"/>
            </a:p>
          </p:txBody>
        </p:sp>
        <mc:AlternateContent xmlns:mc="http://schemas.openxmlformats.org/markup-compatibility/2006">
          <mc:Choice xmlns:a14="http://schemas.microsoft.com/office/drawing/2010/main" Requires="a14">
            <p:sp>
              <p:nvSpPr>
                <p:cNvPr id="9" name="AutoShape 9"/>
                <p:cNvSpPr/>
                <p:nvPr/>
              </p:nvSpPr>
              <p:spPr>
                <a:xfrm>
                  <a:off x="523875" y="2182373"/>
                  <a:ext cx="3571875" cy="913252"/>
                </a:xfrm>
                <a:prstGeom prst="rect">
                  <a:avLst/>
                </a:prstGeom>
                <a:noFill/>
                <a:ln w="12700" cap="flat" cmpd="sng">
                  <a:noFill/>
                  <a:prstDash val="solid"/>
                  <a:round/>
                </a:ln>
              </p:spPr>
              <p:txBody>
                <a:bodyPr vert="horz" wrap="square" lIns="0" tIns="0" rIns="0" bIns="0" rtlCol="0" anchor="ctr" anchorCtr="0"/>
                <a:lstStyle/>
                <a:p>
                  <a:pPr>
                    <a:spcAft>
                      <a:spcPts val="600"/>
                    </a:spcAft>
                    <a:defRPr/>
                  </a:pPr>
                  <a:r>
                    <a:rPr lang="en-US" sz="975" b="1" dirty="0">
                      <a:solidFill>
                        <a:srgbClr val="1565C0"/>
                      </a:solidFill>
                      <a:latin typeface="Noto Sans SC" panose="020B0200000000000000" charset="-122"/>
                      <a:ea typeface="Noto Sans SC" panose="020B0200000000000000" charset="-122"/>
                      <a:cs typeface="Noto Sans SC" panose="020B0200000000000000" charset="-122"/>
                      <a:sym typeface="Noto Sans SC" panose="020B0200000000000000" charset="-122"/>
                    </a:rPr>
                    <a:t>C1: Symmetry of Null Feature Estimates</a:t>
                  </a:r>
                  <a:endParaRPr lang="en-US" sz="975" b="1" dirty="0">
                    <a:solidFill>
                      <a:srgbClr val="1565C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spcAft>
                      <a:spcPts val="600"/>
                    </a:spcAft>
                    <a:defRPr/>
                  </a:pPr>
                  <a:r>
                    <a:rPr lang="en-US" sz="1000" dirty="0">
                      <a:solidFill>
                        <a:schemeClr val="tx1"/>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rPr>
                    <a:t>Requires null coefficients to be asymptotically symmetric around 0, ensuring a 50% sign probability. This enables unbiased FDP estimation </a:t>
                  </a:r>
                  <a14:m>
                    <m:oMath xmlns:m="http://schemas.openxmlformats.org/officeDocument/2006/math">
                      <m:sSub>
                        <m:sSubPr>
                          <m:ctrlPr>
                            <a:rPr lang="en-US" altLang="zh-CN" sz="1000" i="1">
                              <a:solidFill>
                                <a:schemeClr val="tx1"/>
                              </a:solidFill>
                              <a:latin typeface="Cambria Math" panose="02040503050406030204" pitchFamily="18" charset="0"/>
                              <a:ea typeface="等线" panose="02010600030101010101" charset="-122"/>
                              <a:sym typeface="Noto Sans SC" panose="020B0200000000000000" charset="-122"/>
                            </a:rPr>
                          </m:ctrlPr>
                        </m:sSubPr>
                        <m:e>
                          <m:r>
                            <a:rPr lang="en-US" altLang="zh-CN" sz="1000" i="1">
                              <a:solidFill>
                                <a:schemeClr val="tx1"/>
                              </a:solidFill>
                              <a:latin typeface="Cambria Math" panose="02040503050406030204" pitchFamily="18" charset="0"/>
                              <a:ea typeface="等线" panose="02010600030101010101" charset="-122"/>
                              <a:sym typeface="Noto Sans SC" panose="020B0200000000000000" charset="-122"/>
                            </a:rPr>
                            <m:t>𝑀</m:t>
                          </m:r>
                        </m:e>
                        <m:sub>
                          <m:r>
                            <a:rPr lang="en-US" altLang="zh-CN" sz="1000" i="1">
                              <a:solidFill>
                                <a:schemeClr val="tx1"/>
                              </a:solidFill>
                              <a:latin typeface="Cambria Math" panose="02040503050406030204" pitchFamily="18" charset="0"/>
                              <a:ea typeface="等线" panose="02010600030101010101" charset="-122"/>
                              <a:sym typeface="Noto Sans SC" panose="020B0200000000000000" charset="-122"/>
                            </a:rPr>
                            <m:t>𝑗</m:t>
                          </m:r>
                        </m:sub>
                      </m:sSub>
                      <m:r>
                        <a:rPr lang="en-US" altLang="zh-CN" sz="1000" i="1">
                          <a:solidFill>
                            <a:schemeClr val="tx1"/>
                          </a:solidFill>
                          <a:latin typeface="Cambria Math" panose="02040503050406030204" pitchFamily="18" charset="0"/>
                          <a:ea typeface="等线" panose="02010600030101010101" charset="-122"/>
                          <a:sym typeface="Noto Sans SC" panose="020B0200000000000000" charset="-122"/>
                        </a:rPr>
                        <m:t>&lt;</m:t>
                      </m:r>
                      <m:r>
                        <a:rPr lang="en-US" altLang="zh-CN" sz="1000" i="1">
                          <a:solidFill>
                            <a:schemeClr val="tx1"/>
                          </a:solidFill>
                          <a:latin typeface="Cambria Math" panose="02040503050406030204" pitchFamily="18" charset="0"/>
                          <a:ea typeface="等线" panose="02010600030101010101" charset="-122"/>
                          <a:sym typeface="Noto Sans SC" panose="020B0200000000000000" charset="-122"/>
                        </a:rPr>
                        <m:t>−</m:t>
                      </m:r>
                      <m:r>
                        <a:rPr lang="zh-CN" altLang="en-US" sz="1000" i="1">
                          <a:solidFill>
                            <a:schemeClr val="tx1"/>
                          </a:solidFill>
                          <a:latin typeface="Cambria Math" panose="02040503050406030204" pitchFamily="18" charset="0"/>
                          <a:ea typeface="等线" panose="02010600030101010101" charset="-122"/>
                          <a:sym typeface="Noto Sans SC" panose="020B0200000000000000" charset="-122"/>
                        </a:rPr>
                        <m:t>𝜏</m:t>
                      </m:r>
                    </m:oMath>
                  </a14:m>
                  <a:r>
                    <a:rPr lang="en-US" altLang="zh-CN" sz="1000" dirty="0">
                      <a:solidFill>
                        <a:schemeClr val="tx1"/>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rPr>
                    <a:t> </a:t>
                  </a:r>
                  <a:r>
                    <a:rPr lang="en-US" sz="1000" dirty="0">
                      <a:solidFill>
                        <a:schemeClr val="tx1"/>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rPr>
                    <a:t>and eliminates systematic bias.</a:t>
                  </a:r>
                  <a:endParaRPr lang="en-US" sz="1000" dirty="0">
                    <a:solidFill>
                      <a:schemeClr val="tx1"/>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endParaRPr>
                </a:p>
              </p:txBody>
            </p:sp>
          </mc:Choice>
          <mc:Fallback>
            <p:sp>
              <p:nvSpPr>
                <p:cNvPr id="9" name="AutoShape 9"/>
                <p:cNvSpPr>
                  <a:spLocks noRot="1" noChangeAspect="1" noMove="1" noResize="1" noEditPoints="1" noAdjustHandles="1" noChangeArrowheads="1" noChangeShapeType="1" noTextEdit="1"/>
                </p:cNvSpPr>
                <p:nvPr/>
              </p:nvSpPr>
              <p:spPr>
                <a:xfrm>
                  <a:off x="523875" y="2182373"/>
                  <a:ext cx="3571875" cy="913252"/>
                </a:xfrm>
                <a:prstGeom prst="rect">
                  <a:avLst/>
                </a:prstGeom>
                <a:blipFill rotWithShape="1">
                  <a:blip r:embed="rId2"/>
                </a:blipFill>
                <a:ln w="12700" cap="flat" cmpd="sng">
                  <a:noFill/>
                  <a:prstDash val="solid"/>
                  <a:round/>
                </a:ln>
              </p:spPr>
              <p:txBody>
                <a:bodyPr/>
                <a:lstStyle/>
                <a:p>
                  <a:r>
                    <a:rPr lang="zh-CN" altLang="en-US">
                      <a:noFill/>
                    </a:rPr>
                    <a:t> </a:t>
                  </a:r>
                </a:p>
              </p:txBody>
            </p:sp>
          </mc:Fallback>
        </mc:AlternateContent>
        <p:sp>
          <p:nvSpPr>
            <p:cNvPr id="10" name="AutoShape 10"/>
            <p:cNvSpPr/>
            <p:nvPr/>
          </p:nvSpPr>
          <p:spPr>
            <a:xfrm>
              <a:off x="428625" y="3190875"/>
              <a:ext cx="3667125" cy="838200"/>
            </a:xfrm>
            <a:prstGeom prst="roundRect">
              <a:avLst>
                <a:gd name="adj" fmla="val 9090"/>
              </a:avLst>
            </a:prstGeom>
            <a:solidFill>
              <a:srgbClr val="66BB6A">
                <a:alpha val="8000"/>
              </a:srgbClr>
            </a:solidFill>
            <a:ln w="25400" cap="flat" cmpd="sng">
              <a:noFill/>
              <a:prstDash val="solid"/>
              <a:round/>
            </a:ln>
          </p:spPr>
          <p:txBody>
            <a:bodyPr vert="horz" wrap="square" lIns="47625" tIns="47625" rIns="47625" bIns="47625" rtlCol="0" anchor="ctr"/>
            <a:lstStyle/>
            <a:p>
              <a:pPr algn="ctr">
                <a:defRPr/>
              </a:pPr>
              <a:endParaRPr sz="1350"/>
            </a:p>
          </p:txBody>
        </p:sp>
        <p:sp>
          <p:nvSpPr>
            <p:cNvPr id="11" name="AutoShape 11"/>
            <p:cNvSpPr/>
            <p:nvPr/>
          </p:nvSpPr>
          <p:spPr>
            <a:xfrm>
              <a:off x="523875" y="3162300"/>
              <a:ext cx="3476625" cy="838200"/>
            </a:xfrm>
            <a:prstGeom prst="rect">
              <a:avLst/>
            </a:prstGeom>
            <a:noFill/>
            <a:ln w="12700" cap="flat" cmpd="sng">
              <a:noFill/>
              <a:prstDash val="solid"/>
              <a:round/>
            </a:ln>
          </p:spPr>
          <p:txBody>
            <a:bodyPr vert="horz" wrap="square" lIns="0" tIns="0" rIns="0" bIns="0" rtlCol="0" anchor="ctr" anchorCtr="0"/>
            <a:lstStyle/>
            <a:p>
              <a:pPr>
                <a:spcAft>
                  <a:spcPts val="600"/>
                </a:spcAft>
                <a:defRPr/>
              </a:pPr>
              <a:r>
                <a:rPr lang="en-US" altLang="zh-CN" sz="975" b="1" dirty="0">
                  <a:solidFill>
                    <a:srgbClr val="2E7D32"/>
                  </a:solidFill>
                  <a:latin typeface="Noto Sans SC" panose="020B0200000000000000" charset="-122"/>
                  <a:ea typeface="Noto Sans SC" panose="020B0200000000000000" charset="-122"/>
                </a:rPr>
                <a:t>C2: Weak Dependence of Mirror Statistics</a:t>
              </a:r>
              <a:endParaRPr lang="en-US" sz="975" b="1" dirty="0">
                <a:solidFill>
                  <a:srgbClr val="2E7D32"/>
                </a:solidFill>
                <a:latin typeface="Noto Sans SC" panose="020B0200000000000000" charset="-122"/>
                <a:ea typeface="Noto Sans SC" panose="020B0200000000000000" charset="-122"/>
              </a:endParaRPr>
            </a:p>
            <a:p>
              <a:pPr>
                <a:lnSpc>
                  <a:spcPct val="108000"/>
                </a:lnSpc>
              </a:pPr>
              <a:r>
                <a:rPr lang="en-US" altLang="zh-CN" sz="1000" dirty="0">
                  <a:solidFill>
                    <a:schemeClr val="tx1"/>
                  </a:solidFill>
                  <a:latin typeface="Times New Roman" panose="02020603050405020304" pitchFamily="18" charset="0"/>
                  <a:ea typeface="等线" panose="02010600030101010101" charset="-122"/>
                  <a:cs typeface="Times New Roman" panose="02020603050405020304" pitchFamily="18" charset="0"/>
                </a:rPr>
                <a:t>Requires continuous mirror statistics with bounded variance to prevent false-positive clustering. This guarantees consistent FDP convergence, ensuring stable large-scale inference</a:t>
              </a:r>
              <a:r>
                <a:rPr lang="en-US" altLang="zh-CN" sz="900" dirty="0"/>
                <a:t>.</a:t>
              </a:r>
              <a:endParaRPr lang="en-US" sz="825"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nvGrpSpPr>
          <p:cNvPr id="35" name="组合 34"/>
          <p:cNvGrpSpPr/>
          <p:nvPr/>
        </p:nvGrpSpPr>
        <p:grpSpPr>
          <a:xfrm>
            <a:off x="4476750" y="1902370"/>
            <a:ext cx="3952875" cy="2238374"/>
            <a:chOff x="4476750" y="1828800"/>
            <a:chExt cx="3952875" cy="2238374"/>
          </a:xfrm>
        </p:grpSpPr>
        <p:sp>
          <p:nvSpPr>
            <p:cNvPr id="12" name="AutoShape 12"/>
            <p:cNvSpPr/>
            <p:nvPr/>
          </p:nvSpPr>
          <p:spPr>
            <a:xfrm>
              <a:off x="4476750" y="1828800"/>
              <a:ext cx="3952875" cy="2238374"/>
            </a:xfrm>
            <a:prstGeom prst="roundRect">
              <a:avLst>
                <a:gd name="adj" fmla="val 5263"/>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47625" tIns="47625" rIns="47625" bIns="47625" rtlCol="0" anchor="ctr"/>
            <a:lstStyle/>
            <a:p>
              <a:pPr algn="ctr">
                <a:defRPr/>
              </a:pPr>
              <a:endParaRPr sz="1350"/>
            </a:p>
          </p:txBody>
        </p:sp>
        <p:sp>
          <p:nvSpPr>
            <p:cNvPr id="13" name="AutoShape 13"/>
            <p:cNvSpPr/>
            <p:nvPr/>
          </p:nvSpPr>
          <p:spPr>
            <a:xfrm>
              <a:off x="4619625" y="1924050"/>
              <a:ext cx="3714750" cy="28575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125" b="1"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 Proposition 1 main conclusion：</a:t>
              </a:r>
              <a:endParaRPr lang="en-US" sz="825" dirty="0"/>
            </a:p>
          </p:txBody>
        </p:sp>
        <p:sp>
          <p:nvSpPr>
            <p:cNvPr id="14" name="AutoShape 14"/>
            <p:cNvSpPr/>
            <p:nvPr/>
          </p:nvSpPr>
          <p:spPr>
            <a:xfrm>
              <a:off x="4619625" y="2286000"/>
              <a:ext cx="3667125" cy="838200"/>
            </a:xfrm>
            <a:prstGeom prst="roundRect">
              <a:avLst>
                <a:gd name="adj" fmla="val 9090"/>
              </a:avLst>
            </a:prstGeom>
            <a:solidFill>
              <a:srgbClr val="FFB74D">
                <a:alpha val="8000"/>
              </a:srgbClr>
            </a:solidFill>
            <a:ln w="25400" cap="flat" cmpd="sng">
              <a:noFill/>
              <a:prstDash val="solid"/>
              <a:round/>
            </a:ln>
          </p:spPr>
          <p:txBody>
            <a:bodyPr vert="horz" wrap="square" lIns="47625" tIns="47625" rIns="47625" bIns="47625" rtlCol="0" anchor="ctr"/>
            <a:lstStyle/>
            <a:p>
              <a:pPr algn="ctr">
                <a:defRPr/>
              </a:pPr>
              <a:endParaRPr sz="1350"/>
            </a:p>
          </p:txBody>
        </p:sp>
        <mc:AlternateContent xmlns:mc="http://schemas.openxmlformats.org/markup-compatibility/2006">
          <mc:Choice xmlns:a14="http://schemas.microsoft.com/office/drawing/2010/main" Requires="a14">
            <p:sp>
              <p:nvSpPr>
                <p:cNvPr id="15" name="AutoShape 15"/>
                <p:cNvSpPr/>
                <p:nvPr/>
              </p:nvSpPr>
              <p:spPr>
                <a:xfrm>
                  <a:off x="4714875" y="2182372"/>
                  <a:ext cx="3476625" cy="979927"/>
                </a:xfrm>
                <a:prstGeom prst="rect">
                  <a:avLst/>
                </a:prstGeom>
                <a:noFill/>
                <a:ln w="12700" cap="flat" cmpd="sng">
                  <a:noFill/>
                  <a:prstDash val="solid"/>
                  <a:round/>
                </a:ln>
              </p:spPr>
              <p:txBody>
                <a:bodyPr vert="horz" wrap="square" lIns="0" tIns="0" rIns="0" bIns="0" rtlCol="0" anchor="ctr" anchorCtr="0"/>
                <a:lstStyle/>
                <a:p>
                  <a:pPr>
                    <a:spcAft>
                      <a:spcPts val="600"/>
                    </a:spcAft>
                    <a:defRPr/>
                  </a:pPr>
                  <a:r>
                    <a:rPr lang="en-US" sz="1000" b="1" dirty="0">
                      <a:solidFill>
                        <a:srgbClr val="E65100"/>
                      </a:solidFill>
                      <a:latin typeface="等线" panose="02010600030101010101" charset="-122"/>
                      <a:ea typeface="等线" panose="02010600030101010101" charset="-122"/>
                      <a:cs typeface="Noto Sans SC" panose="020B0200000000000000" charset="-122"/>
                      <a:sym typeface="Noto Sans SC" panose="020B0200000000000000" charset="-122"/>
                    </a:rPr>
                    <a:t>Local Screening Control for Single-Round Site Pairs</a:t>
                  </a:r>
                  <a:endParaRPr lang="en-US" sz="1000" b="1" dirty="0">
                    <a:solidFill>
                      <a:srgbClr val="E65100"/>
                    </a:solidFill>
                    <a:latin typeface="等线" panose="02010600030101010101" charset="-122"/>
                    <a:ea typeface="等线" panose="02010600030101010101" charset="-122"/>
                    <a:cs typeface="Noto Sans SC" panose="020B0200000000000000" charset="-122"/>
                    <a:sym typeface="Noto Sans SC" panose="020B0200000000000000" charset="-122"/>
                  </a:endParaRPr>
                </a:p>
                <a:p>
                  <a:pPr>
                    <a:spcAft>
                      <a:spcPts val="600"/>
                    </a:spcAft>
                    <a:defRPr/>
                  </a:pPr>
                  <a:r>
                    <a:rPr lang="en-US" sz="900" dirty="0">
                      <a:solidFill>
                        <a:schemeClr val="tx1"/>
                      </a:solidFill>
                      <a:latin typeface="等线" panose="02010600030101010101" charset="-122"/>
                      <a:ea typeface="等线" panose="02010600030101010101" charset="-122"/>
                      <a:cs typeface="Noto Sans SC" panose="020B0200000000000000" charset="-122"/>
                      <a:sym typeface="Noto Sans SC" panose="020B0200000000000000" charset="-122"/>
                    </a:rPr>
                    <a:t> </a:t>
                  </a:r>
                  <a14:m>
                    <m:oMath xmlns:m="http://schemas.openxmlformats.org/officeDocument/2006/math">
                      <m:r>
                        <a:rPr lang="en-US" sz="900" i="1" dirty="0" smtClean="0">
                          <a:solidFill>
                            <a:schemeClr val="tx1"/>
                          </a:solidFill>
                          <a:latin typeface="Cambria Math" panose="02040503050406030204" pitchFamily="18" charset="0"/>
                          <a:ea typeface="等线" panose="02010600030101010101" charset="-122"/>
                          <a:cs typeface="Noto Sans SC" panose="020B0200000000000000" charset="-122"/>
                          <a:sym typeface="Noto Sans SC" panose="020B0200000000000000" charset="-122"/>
                        </a:rPr>
                        <m:t>𝐹𝐷𝑃</m:t>
                      </m:r>
                      <m:r>
                        <a:rPr lang="en-US" sz="900" i="1" dirty="0" smtClean="0">
                          <a:solidFill>
                            <a:schemeClr val="tx1"/>
                          </a:solidFill>
                          <a:latin typeface="Cambria Math" panose="02040503050406030204" pitchFamily="18" charset="0"/>
                          <a:ea typeface="等线" panose="02010600030101010101" charset="-122"/>
                          <a:cs typeface="Noto Sans SC" panose="020B0200000000000000" charset="-122"/>
                          <a:sym typeface="Noto Sans SC" panose="020B0200000000000000" charset="-122"/>
                        </a:rPr>
                        <m:t>(</m:t>
                      </m:r>
                      <m:r>
                        <a:rPr lang="en-US" sz="900" i="1" dirty="0" smtClean="0">
                          <a:solidFill>
                            <a:schemeClr val="tx1"/>
                          </a:solidFill>
                          <a:latin typeface="Cambria Math" panose="02040503050406030204" pitchFamily="18" charset="0"/>
                          <a:ea typeface="等线" panose="02010600030101010101" charset="-122"/>
                          <a:cs typeface="Noto Sans SC" panose="020B0200000000000000" charset="-122"/>
                          <a:sym typeface="Noto Sans SC" panose="020B0200000000000000" charset="-122"/>
                        </a:rPr>
                        <m:t>𝜏</m:t>
                      </m:r>
                      <m:r>
                        <a:rPr lang="en-US" sz="900" i="1" dirty="0" smtClean="0">
                          <a:solidFill>
                            <a:schemeClr val="tx1"/>
                          </a:solidFill>
                          <a:latin typeface="Cambria Math" panose="02040503050406030204" pitchFamily="18" charset="0"/>
                          <a:ea typeface="等线" panose="02010600030101010101" charset="-122"/>
                          <a:cs typeface="Noto Sans SC" panose="020B0200000000000000" charset="-122"/>
                          <a:sym typeface="Noto Sans SC" panose="020B0200000000000000" charset="-122"/>
                        </a:rPr>
                        <m:t>) ≤ </m:t>
                      </m:r>
                      <m:r>
                        <a:rPr lang="en-US" sz="900" i="1" dirty="0" smtClean="0">
                          <a:solidFill>
                            <a:schemeClr val="tx1"/>
                          </a:solidFill>
                          <a:latin typeface="Cambria Math" panose="02040503050406030204" pitchFamily="18" charset="0"/>
                          <a:ea typeface="等线" panose="02010600030101010101" charset="-122"/>
                          <a:cs typeface="Noto Sans SC" panose="020B0200000000000000" charset="-122"/>
                          <a:sym typeface="Noto Sans SC" panose="020B0200000000000000" charset="-122"/>
                        </a:rPr>
                        <m:t>𝛼</m:t>
                      </m:r>
                      <m:r>
                        <a:rPr lang="en-US" sz="900" i="1" dirty="0" smtClean="0">
                          <a:solidFill>
                            <a:schemeClr val="tx1"/>
                          </a:solidFill>
                          <a:latin typeface="Cambria Math" panose="02040503050406030204" pitchFamily="18" charset="0"/>
                          <a:ea typeface="等线" panose="02010600030101010101" charset="-122"/>
                          <a:cs typeface="Noto Sans SC" panose="020B0200000000000000" charset="-122"/>
                          <a:sym typeface="Noto Sans SC" panose="020B0200000000000000" charset="-122"/>
                        </a:rPr>
                        <m:t> + </m:t>
                      </m:r>
                      <m:sSub>
                        <m:sSubPr>
                          <m:ctrlPr>
                            <a:rPr lang="en-US" altLang="zh-CN" sz="900" i="1" dirty="0" smtClean="0">
                              <a:solidFill>
                                <a:schemeClr val="tx1"/>
                              </a:solidFill>
                              <a:latin typeface="Cambria Math" panose="02040503050406030204" pitchFamily="18" charset="0"/>
                              <a:ea typeface="等线" panose="02010600030101010101" charset="-122"/>
                              <a:sym typeface="Noto Sans SC" panose="020B0200000000000000" charset="-122"/>
                            </a:rPr>
                          </m:ctrlPr>
                        </m:sSubPr>
                        <m:e>
                          <m:r>
                            <a:rPr lang="en-US" altLang="zh-CN" sz="900" i="1" dirty="0">
                              <a:solidFill>
                                <a:schemeClr val="tx1"/>
                              </a:solidFill>
                              <a:latin typeface="Cambria Math" panose="02040503050406030204" pitchFamily="18" charset="0"/>
                              <a:cs typeface="Noto Sans SC" panose="020B0200000000000000" charset="-122"/>
                              <a:sym typeface="Noto Sans SC" panose="020B0200000000000000" charset="-122"/>
                            </a:rPr>
                            <m:t>𝑜</m:t>
                          </m:r>
                        </m:e>
                        <m:sub>
                          <m:r>
                            <a:rPr lang="en-US" altLang="zh-CN" sz="900" b="0" i="1" dirty="0" smtClean="0">
                              <a:solidFill>
                                <a:schemeClr val="tx1"/>
                              </a:solidFill>
                              <a:latin typeface="Cambria Math" panose="02040503050406030204" pitchFamily="18" charset="0"/>
                              <a:ea typeface="等线" panose="02010600030101010101" charset="-122"/>
                              <a:sym typeface="Noto Sans SC" panose="020B0200000000000000" charset="-122"/>
                            </a:rPr>
                            <m:t>𝑝</m:t>
                          </m:r>
                        </m:sub>
                      </m:sSub>
                      <m:r>
                        <a:rPr lang="en-US" sz="900" i="1" dirty="0" smtClean="0">
                          <a:solidFill>
                            <a:schemeClr val="tx1"/>
                          </a:solidFill>
                          <a:latin typeface="Cambria Math" panose="02040503050406030204" pitchFamily="18" charset="0"/>
                          <a:ea typeface="等线" panose="02010600030101010101" charset="-122"/>
                          <a:cs typeface="Noto Sans SC" panose="020B0200000000000000" charset="-122"/>
                          <a:sym typeface="Noto Sans SC" panose="020B0200000000000000" charset="-122"/>
                        </a:rPr>
                        <m:t>(</m:t>
                      </m:r>
                      <m:r>
                        <a:rPr lang="en-US" sz="900" i="1" dirty="0" smtClean="0">
                          <a:solidFill>
                            <a:schemeClr val="tx1"/>
                          </a:solidFill>
                          <a:latin typeface="Cambria Math" panose="02040503050406030204" pitchFamily="18" charset="0"/>
                          <a:ea typeface="等线" panose="02010600030101010101" charset="-122"/>
                          <a:cs typeface="Noto Sans SC" panose="020B0200000000000000" charset="-122"/>
                          <a:sym typeface="Noto Sans SC" panose="020B0200000000000000" charset="-122"/>
                        </a:rPr>
                        <m:t>1</m:t>
                      </m:r>
                      <m:r>
                        <a:rPr lang="en-US" sz="900" i="1" dirty="0" smtClean="0">
                          <a:solidFill>
                            <a:schemeClr val="tx1"/>
                          </a:solidFill>
                          <a:latin typeface="Cambria Math" panose="02040503050406030204" pitchFamily="18" charset="0"/>
                          <a:ea typeface="等线" panose="02010600030101010101" charset="-122"/>
                          <a:cs typeface="Noto Sans SC" panose="020B0200000000000000" charset="-122"/>
                          <a:sym typeface="Noto Sans SC" panose="020B0200000000000000" charset="-122"/>
                        </a:rPr>
                        <m:t>)</m:t>
                      </m:r>
                    </m:oMath>
                  </a14:m>
                  <a:r>
                    <a:rPr lang="en-US" altLang="zh-CN" sz="900" dirty="0"/>
                    <a:t> </a:t>
                  </a:r>
                  <a:r>
                    <a:rPr lang="en-US" altLang="zh-CN" sz="1000" dirty="0">
                      <a:solidFill>
                        <a:schemeClr val="tx1"/>
                      </a:solidFill>
                      <a:latin typeface="Times New Roman" panose="02020603050405020304" pitchFamily="18" charset="0"/>
                      <a:ea typeface="等线" panose="02010600030101010101" charset="-122"/>
                      <a:cs typeface="Times New Roman" panose="02020603050405020304" pitchFamily="18" charset="0"/>
                    </a:rPr>
                    <a:t>Pairwise false discoveries are asymptotically bounded within </a:t>
                  </a:r>
                  <a14:m>
                    <m:oMath xmlns:m="http://schemas.openxmlformats.org/officeDocument/2006/math">
                      <m:r>
                        <a:rPr lang="en-US" altLang="zh-CN" sz="1000" dirty="0">
                          <a:solidFill>
                            <a:schemeClr val="tx1"/>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rPr>
                        <m:t>𝛼</m:t>
                      </m:r>
                      <m:r>
                        <a:rPr lang="en-US" altLang="zh-CN" sz="1000" dirty="0">
                          <a:solidFill>
                            <a:schemeClr val="tx1"/>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rPr>
                        <m:t> ,</m:t>
                      </m:r>
                    </m:oMath>
                  </a14:m>
                  <a:r>
                    <a:rPr lang="en-US" altLang="zh-CN" sz="1000" dirty="0">
                      <a:solidFill>
                        <a:schemeClr val="tx1"/>
                      </a:solidFill>
                      <a:latin typeface="Times New Roman" panose="02020603050405020304" pitchFamily="18" charset="0"/>
                      <a:ea typeface="等线" panose="02010600030101010101" charset="-122"/>
                      <a:cs typeface="Times New Roman" panose="02020603050405020304" pitchFamily="18" charset="0"/>
                    </a:rPr>
                    <a:t>ensuring every step is strictly controllable</a:t>
                  </a:r>
                  <a:endParaRPr lang="en-US" sz="1000" dirty="0">
                    <a:solidFill>
                      <a:schemeClr val="tx1"/>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endParaRPr>
                </a:p>
              </p:txBody>
            </p:sp>
          </mc:Choice>
          <mc:Fallback>
            <p:sp>
              <p:nvSpPr>
                <p:cNvPr id="15" name="AutoShape 15"/>
                <p:cNvSpPr>
                  <a:spLocks noRot="1" noChangeAspect="1" noMove="1" noResize="1" noEditPoints="1" noAdjustHandles="1" noChangeArrowheads="1" noChangeShapeType="1" noTextEdit="1"/>
                </p:cNvSpPr>
                <p:nvPr/>
              </p:nvSpPr>
              <p:spPr>
                <a:xfrm>
                  <a:off x="4714875" y="2182372"/>
                  <a:ext cx="3476625" cy="979927"/>
                </a:xfrm>
                <a:prstGeom prst="rect">
                  <a:avLst/>
                </a:prstGeom>
                <a:blipFill rotWithShape="1">
                  <a:blip r:embed="rId3"/>
                </a:blipFill>
                <a:ln w="12700" cap="flat" cmpd="sng">
                  <a:noFill/>
                  <a:prstDash val="solid"/>
                  <a:round/>
                </a:ln>
              </p:spPr>
              <p:txBody>
                <a:bodyPr/>
                <a:lstStyle/>
                <a:p>
                  <a:r>
                    <a:rPr lang="zh-CN" altLang="en-US">
                      <a:noFill/>
                    </a:rPr>
                    <a:t> </a:t>
                  </a:r>
                </a:p>
              </p:txBody>
            </p:sp>
          </mc:Fallback>
        </mc:AlternateContent>
        <p:sp>
          <p:nvSpPr>
            <p:cNvPr id="16" name="AutoShape 16"/>
            <p:cNvSpPr/>
            <p:nvPr/>
          </p:nvSpPr>
          <p:spPr>
            <a:xfrm>
              <a:off x="4619625" y="3190874"/>
              <a:ext cx="3667125" cy="847725"/>
            </a:xfrm>
            <a:prstGeom prst="roundRect">
              <a:avLst>
                <a:gd name="adj" fmla="val 9090"/>
              </a:avLst>
            </a:prstGeom>
            <a:solidFill>
              <a:srgbClr val="7B1FA2">
                <a:alpha val="8000"/>
              </a:srgbClr>
            </a:solidFill>
            <a:ln w="25400" cap="flat" cmpd="sng">
              <a:noFill/>
              <a:prstDash val="solid"/>
              <a:round/>
            </a:ln>
          </p:spPr>
          <p:txBody>
            <a:bodyPr vert="horz" wrap="square" lIns="47625" tIns="47625" rIns="47625" bIns="47625" rtlCol="0" anchor="ctr"/>
            <a:lstStyle/>
            <a:p>
              <a:pPr algn="ctr">
                <a:defRPr/>
              </a:pPr>
              <a:endParaRPr sz="1350"/>
            </a:p>
          </p:txBody>
        </p:sp>
        <mc:AlternateContent xmlns:mc="http://schemas.openxmlformats.org/markup-compatibility/2006">
          <mc:Choice xmlns:a14="http://schemas.microsoft.com/office/drawing/2010/main" Requires="a14">
            <p:sp>
              <p:nvSpPr>
                <p:cNvPr id="17" name="AutoShape 17"/>
                <p:cNvSpPr/>
                <p:nvPr/>
              </p:nvSpPr>
              <p:spPr>
                <a:xfrm>
                  <a:off x="4714875" y="3238500"/>
                  <a:ext cx="3476625" cy="762000"/>
                </a:xfrm>
                <a:prstGeom prst="rect">
                  <a:avLst/>
                </a:prstGeom>
                <a:noFill/>
                <a:ln w="12700" cap="flat" cmpd="sng">
                  <a:noFill/>
                  <a:prstDash val="solid"/>
                  <a:round/>
                </a:ln>
              </p:spPr>
              <p:txBody>
                <a:bodyPr vert="horz" wrap="square" lIns="0" tIns="0" rIns="0" bIns="0" rtlCol="0" anchor="ctr" anchorCtr="0"/>
                <a:lstStyle/>
                <a:p>
                  <a:pPr>
                    <a:spcAft>
                      <a:spcPts val="600"/>
                    </a:spcAft>
                    <a:defRPr/>
                  </a:pPr>
                  <a:r>
                    <a:rPr lang="en-US" sz="975" b="1" dirty="0">
                      <a:solidFill>
                        <a:srgbClr val="6A1B9A"/>
                      </a:solidFill>
                      <a:latin typeface="Noto Sans SC" panose="020B0200000000000000" charset="-122"/>
                      <a:ea typeface="Noto Sans SC" panose="020B0200000000000000" charset="-122"/>
                      <a:cs typeface="Noto Sans SC" panose="020B0200000000000000" charset="-122"/>
                      <a:sym typeface="Noto Sans SC" panose="020B0200000000000000" charset="-122"/>
                    </a:rPr>
                    <a:t>Final Convergence of the Global Federated Pipeline</a:t>
                  </a:r>
                  <a:endParaRPr lang="en-US" sz="825" dirty="0"/>
                </a:p>
                <a:p>
                  <a:pPr>
                    <a:lnSpc>
                      <a:spcPct val="108000"/>
                    </a:lnSpc>
                  </a:pPr>
                  <a:r>
                    <a:rPr lang="en-US" sz="900" dirty="0">
                      <a:solidFill>
                        <a:srgbClr val="505050"/>
                      </a:solidFill>
                      <a:latin typeface="等线" panose="02010600030101010101" charset="-122"/>
                      <a:ea typeface="等线" panose="02010600030101010101" charset="-122"/>
                      <a:cs typeface="Noto Sans SC" panose="020B0200000000000000" charset="-122"/>
                      <a:sym typeface="Noto Sans SC" panose="020B0200000000000000" charset="-122"/>
                    </a:rPr>
                    <a:t> </a:t>
                  </a:r>
                  <a14:m>
                    <m:oMath xmlns:m="http://schemas.openxmlformats.org/officeDocument/2006/math">
                      <m:func>
                        <m:funcPr>
                          <m:ctrlPr>
                            <a:rPr lang="en-US" sz="900" i="1" smtClean="0">
                              <a:solidFill>
                                <a:srgbClr val="505050"/>
                              </a:solidFill>
                              <a:latin typeface="Cambria Math" panose="02040503050406030204" pitchFamily="18" charset="0"/>
                              <a:ea typeface="等线" panose="02010600030101010101" charset="-122"/>
                              <a:cs typeface="Noto Sans SC" panose="020B0200000000000000" charset="-122"/>
                              <a:sym typeface="Noto Sans SC" panose="020B0200000000000000" charset="-122"/>
                            </a:rPr>
                          </m:ctrlPr>
                        </m:funcPr>
                        <m:fName>
                          <m:limLow>
                            <m:limLowPr>
                              <m:ctrlPr>
                                <a:rPr lang="en-US" sz="900" i="1" smtClean="0">
                                  <a:solidFill>
                                    <a:srgbClr val="505050"/>
                                  </a:solidFill>
                                  <a:latin typeface="Cambria Math" panose="02040503050406030204" pitchFamily="18" charset="0"/>
                                  <a:ea typeface="等线" panose="02010600030101010101" charset="-122"/>
                                  <a:cs typeface="Noto Sans SC" panose="020B0200000000000000" charset="-122"/>
                                  <a:sym typeface="Noto Sans SC" panose="020B0200000000000000" charset="-122"/>
                                </a:rPr>
                              </m:ctrlPr>
                            </m:limLowPr>
                            <m:e>
                              <m:r>
                                <m:rPr>
                                  <m:sty m:val="p"/>
                                </m:rPr>
                                <a:rPr lang="en-US" sz="900" i="0" smtClean="0">
                                  <a:solidFill>
                                    <a:srgbClr val="505050"/>
                                  </a:solidFill>
                                  <a:latin typeface="Cambria Math" panose="02040503050406030204" pitchFamily="18" charset="0"/>
                                  <a:ea typeface="等线" panose="02010600030101010101" charset="-122"/>
                                  <a:cs typeface="Noto Sans SC" panose="020B0200000000000000" charset="-122"/>
                                  <a:sym typeface="Noto Sans SC" panose="020B0200000000000000" charset="-122"/>
                                </a:rPr>
                                <m:t>lim</m:t>
                              </m:r>
                            </m:e>
                            <m:lim>
                              <m:r>
                                <m:rPr>
                                  <m:sty m:val="p"/>
                                </m:rPr>
                                <a:rPr lang="en-US" altLang="zh-CN" sz="900" i="1">
                                  <a:solidFill>
                                    <a:srgbClr val="505050"/>
                                  </a:solidFill>
                                  <a:latin typeface="Cambria Math" panose="02040503050406030204" pitchFamily="18" charset="0"/>
                                  <a:ea typeface="等线" panose="02010600030101010101" charset="-122"/>
                                  <a:cs typeface="Noto Sans SC" panose="020B0200000000000000" charset="-122"/>
                                  <a:sym typeface="Noto Sans SC" panose="020B0200000000000000" charset="-122"/>
                                </a:rPr>
                                <m:t>n</m:t>
                              </m:r>
                              <m:r>
                                <a:rPr lang="en-US" altLang="zh-CN" sz="900" b="0" i="1" smtClean="0">
                                  <a:solidFill>
                                    <a:srgbClr val="505050"/>
                                  </a:solidFill>
                                  <a:latin typeface="Cambria Math" panose="02040503050406030204" pitchFamily="18" charset="0"/>
                                  <a:ea typeface="等线" panose="02010600030101010101" charset="-122"/>
                                  <a:cs typeface="Noto Sans SC" panose="020B0200000000000000" charset="-122"/>
                                  <a:sym typeface="Noto Sans SC" panose="020B0200000000000000" charset="-122"/>
                                </a:rPr>
                                <m:t>,</m:t>
                              </m:r>
                              <m:r>
                                <a:rPr lang="en-US" altLang="zh-CN" sz="900" b="0" i="1" smtClean="0">
                                  <a:solidFill>
                                    <a:srgbClr val="505050"/>
                                  </a:solidFill>
                                  <a:latin typeface="Cambria Math" panose="02040503050406030204" pitchFamily="18" charset="0"/>
                                  <a:ea typeface="等线" panose="02010600030101010101" charset="-122"/>
                                  <a:cs typeface="Noto Sans SC" panose="020B0200000000000000" charset="-122"/>
                                  <a:sym typeface="Noto Sans SC" panose="020B0200000000000000" charset="-122"/>
                                </a:rPr>
                                <m:t>𝑝</m:t>
                              </m:r>
                              <m:r>
                                <a:rPr lang="en-US" altLang="zh-CN" sz="900" b="0" i="1" smtClean="0">
                                  <a:solidFill>
                                    <a:srgbClr val="505050"/>
                                  </a:solidFill>
                                  <a:latin typeface="Cambria Math" panose="02040503050406030204" pitchFamily="18" charset="0"/>
                                  <a:ea typeface="Cambria Math" panose="02040503050406030204" pitchFamily="18" charset="0"/>
                                  <a:cs typeface="Noto Sans SC" panose="020B0200000000000000" charset="-122"/>
                                  <a:sym typeface="Noto Sans SC" panose="020B0200000000000000" charset="-122"/>
                                </a:rPr>
                                <m:t>→∞</m:t>
                              </m:r>
                            </m:lim>
                          </m:limLow>
                        </m:fName>
                        <m:e>
                          <m:func>
                            <m:funcPr>
                              <m:ctrlPr>
                                <a:rPr lang="en-US" sz="900" b="0" i="1" smtClean="0">
                                  <a:solidFill>
                                    <a:srgbClr val="505050"/>
                                  </a:solidFill>
                                  <a:latin typeface="Cambria Math" panose="02040503050406030204" pitchFamily="18" charset="0"/>
                                  <a:ea typeface="等线" panose="02010600030101010101" charset="-122"/>
                                  <a:cs typeface="Noto Sans SC" panose="020B0200000000000000" charset="-122"/>
                                  <a:sym typeface="Noto Sans SC" panose="020B0200000000000000" charset="-122"/>
                                </a:rPr>
                              </m:ctrlPr>
                            </m:funcPr>
                            <m:fName>
                              <m:r>
                                <m:rPr>
                                  <m:sty m:val="p"/>
                                </m:rPr>
                                <a:rPr lang="en-US" sz="900" b="0" i="0" smtClean="0">
                                  <a:solidFill>
                                    <a:srgbClr val="505050"/>
                                  </a:solidFill>
                                  <a:latin typeface="Cambria Math" panose="02040503050406030204" pitchFamily="18" charset="0"/>
                                  <a:ea typeface="等线" panose="02010600030101010101" charset="-122"/>
                                  <a:cs typeface="Noto Sans SC" panose="020B0200000000000000" charset="-122"/>
                                  <a:sym typeface="Noto Sans SC" panose="020B0200000000000000" charset="-122"/>
                                </a:rPr>
                                <m:t>sup</m:t>
                              </m:r>
                            </m:fName>
                            <m:e>
                              <m:r>
                                <a:rPr lang="en-US" sz="900" b="0" i="1" smtClean="0">
                                  <a:solidFill>
                                    <a:srgbClr val="505050"/>
                                  </a:solidFill>
                                  <a:latin typeface="Cambria Math" panose="02040503050406030204" pitchFamily="18" charset="0"/>
                                  <a:ea typeface="等线" panose="02010600030101010101" charset="-122"/>
                                  <a:cs typeface="Noto Sans SC" panose="020B0200000000000000" charset="-122"/>
                                  <a:sym typeface="Noto Sans SC" panose="020B0200000000000000" charset="-122"/>
                                </a:rPr>
                                <m:t>𝐹𝐷𝑅</m:t>
                              </m:r>
                            </m:e>
                          </m:func>
                          <m:r>
                            <a:rPr lang="en-US" sz="900" b="0" i="1" smtClean="0">
                              <a:solidFill>
                                <a:srgbClr val="505050"/>
                              </a:solidFill>
                              <a:latin typeface="Cambria Math" panose="02040503050406030204" pitchFamily="18" charset="0"/>
                              <a:ea typeface="Cambria Math" panose="02040503050406030204" pitchFamily="18" charset="0"/>
                              <a:cs typeface="Noto Sans SC" panose="020B0200000000000000" charset="-122"/>
                              <a:sym typeface="Noto Sans SC" panose="020B0200000000000000" charset="-122"/>
                            </a:rPr>
                            <m:t>≤</m:t>
                          </m:r>
                          <m:r>
                            <a:rPr lang="en-US" sz="900" b="0" i="1" smtClean="0">
                              <a:solidFill>
                                <a:srgbClr val="505050"/>
                              </a:solidFill>
                              <a:latin typeface="Cambria Math" panose="02040503050406030204" pitchFamily="18" charset="0"/>
                              <a:ea typeface="Cambria Math" panose="02040503050406030204" pitchFamily="18" charset="0"/>
                              <a:cs typeface="Noto Sans SC" panose="020B0200000000000000" charset="-122"/>
                              <a:sym typeface="Noto Sans SC" panose="020B0200000000000000" charset="-122"/>
                            </a:rPr>
                            <m:t>𝛼</m:t>
                          </m:r>
                        </m:e>
                      </m:func>
                    </m:oMath>
                  </a14:m>
                  <a:r>
                    <a:rPr lang="en-US" sz="900" dirty="0">
                      <a:solidFill>
                        <a:srgbClr val="505050"/>
                      </a:solidFill>
                      <a:latin typeface="等线" panose="02010600030101010101" charset="-122"/>
                      <a:ea typeface="等线" panose="02010600030101010101" charset="-122"/>
                      <a:cs typeface="Noto Sans SC" panose="020B0200000000000000" charset="-122"/>
                      <a:sym typeface="Noto Sans SC" panose="020B0200000000000000" charset="-122"/>
                    </a:rPr>
                    <a:t>。</a:t>
                  </a:r>
                  <a:r>
                    <a:rPr lang="en-US" altLang="zh-CN" sz="900" dirty="0"/>
                    <a:t> </a:t>
                  </a:r>
                  <a:r>
                    <a:rPr lang="en-US" altLang="zh-CN" sz="1000" dirty="0">
                      <a:solidFill>
                        <a:schemeClr val="tx1"/>
                      </a:solidFill>
                      <a:latin typeface="Times New Roman" panose="02020603050405020304" pitchFamily="18" charset="0"/>
                      <a:ea typeface="等线" panose="02010600030101010101" charset="-122"/>
                      <a:cs typeface="Times New Roman" panose="02020603050405020304" pitchFamily="18" charset="0"/>
                    </a:rPr>
                    <a:t>Guarantees strict asymptotic FDR control as data scales, providing mathematical validity rather than an empirical approximation.</a:t>
                  </a:r>
                  <a:endParaRPr lang="en-US" sz="1000" dirty="0">
                    <a:solidFill>
                      <a:schemeClr val="tx1"/>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endParaRPr>
                </a:p>
              </p:txBody>
            </p:sp>
          </mc:Choice>
          <mc:Fallback>
            <p:sp>
              <p:nvSpPr>
                <p:cNvPr id="17" name="AutoShape 17"/>
                <p:cNvSpPr>
                  <a:spLocks noRot="1" noChangeAspect="1" noMove="1" noResize="1" noEditPoints="1" noAdjustHandles="1" noChangeArrowheads="1" noChangeShapeType="1" noTextEdit="1"/>
                </p:cNvSpPr>
                <p:nvPr/>
              </p:nvSpPr>
              <p:spPr>
                <a:xfrm>
                  <a:off x="4714875" y="3238500"/>
                  <a:ext cx="3476625" cy="762000"/>
                </a:xfrm>
                <a:prstGeom prst="rect">
                  <a:avLst/>
                </a:prstGeom>
                <a:blipFill rotWithShape="1">
                  <a:blip r:embed="rId4"/>
                </a:blipFill>
                <a:ln w="12700" cap="flat" cmpd="sng">
                  <a:noFill/>
                  <a:prstDash val="solid"/>
                  <a:round/>
                </a:ln>
              </p:spPr>
              <p:txBody>
                <a:bodyPr/>
                <a:lstStyle/>
                <a:p>
                  <a:r>
                    <a:rPr lang="zh-CN" altLang="en-US">
                      <a:noFill/>
                    </a:rPr>
                    <a:t> </a:t>
                  </a:r>
                </a:p>
              </p:txBody>
            </p:sp>
          </mc:Fallback>
        </mc:AlternateContent>
      </p:grpSp>
      <p:sp>
        <p:nvSpPr>
          <p:cNvPr id="18" name="AutoShape 18"/>
          <p:cNvSpPr/>
          <p:nvPr/>
        </p:nvSpPr>
        <p:spPr>
          <a:xfrm>
            <a:off x="285750" y="4114800"/>
            <a:ext cx="8572500" cy="857250"/>
          </a:xfrm>
          <a:prstGeom prst="roundRect">
            <a:avLst>
              <a:gd name="adj" fmla="val 11111"/>
            </a:avLst>
          </a:prstGeom>
          <a:solidFill>
            <a:srgbClr val="FAFAFA">
              <a:alpha val="100000"/>
            </a:srgbClr>
          </a:solidFill>
          <a:ln w="25400" cap="flat" cmpd="sng">
            <a:noFill/>
            <a:prstDash val="solid"/>
            <a:round/>
          </a:ln>
        </p:spPr>
        <p:txBody>
          <a:bodyPr vert="horz" wrap="square" lIns="47625" tIns="47625" rIns="47625" bIns="47625" rtlCol="0" anchor="ctr"/>
          <a:lstStyle/>
          <a:p>
            <a:pPr algn="ctr">
              <a:defRPr/>
            </a:pPr>
            <a:endParaRPr sz="1350"/>
          </a:p>
        </p:txBody>
      </p:sp>
      <p:sp>
        <p:nvSpPr>
          <p:cNvPr id="19" name="AutoShape 19"/>
          <p:cNvSpPr/>
          <p:nvPr/>
        </p:nvSpPr>
        <p:spPr>
          <a:xfrm>
            <a:off x="309673" y="4212674"/>
            <a:ext cx="2709973" cy="753466"/>
          </a:xfrm>
          <a:prstGeom prst="roundRect">
            <a:avLst>
              <a:gd name="adj" fmla="val 8108"/>
            </a:avLst>
          </a:prstGeom>
          <a:solidFill>
            <a:srgbClr val="42A5F5">
              <a:alpha val="10000"/>
            </a:srgbClr>
          </a:solidFill>
          <a:ln w="25400" cap="flat" cmpd="sng">
            <a:noFill/>
            <a:prstDash val="solid"/>
            <a:round/>
          </a:ln>
        </p:spPr>
        <p:txBody>
          <a:bodyPr vert="horz" wrap="square" lIns="47625" tIns="47625" rIns="47625" bIns="47625" rtlCol="0" anchor="ctr"/>
          <a:lstStyle/>
          <a:p>
            <a:pPr algn="ctr">
              <a:defRPr/>
            </a:pPr>
            <a:endParaRPr sz="1350"/>
          </a:p>
        </p:txBody>
      </p:sp>
      <p:sp>
        <p:nvSpPr>
          <p:cNvPr id="20" name="AutoShape 20"/>
          <p:cNvSpPr/>
          <p:nvPr/>
        </p:nvSpPr>
        <p:spPr>
          <a:xfrm>
            <a:off x="357298" y="4191000"/>
            <a:ext cx="2781300" cy="6096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1000" b="1" dirty="0">
                <a:solidFill>
                  <a:srgbClr val="00529B"/>
                </a:solidFill>
                <a:latin typeface="Noto Sans SC" panose="020B0200000000000000" charset="-122"/>
                <a:ea typeface="Noto Sans SC" panose="020B0200000000000000" charset="-122"/>
              </a:rPr>
              <a:t>Premise</a:t>
            </a:r>
            <a:r>
              <a:rPr lang="en-US" altLang="zh-CN" sz="1000" b="1" dirty="0"/>
              <a:t> </a:t>
            </a:r>
            <a:r>
              <a:rPr lang="en-US" sz="1000" b="1"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000" dirty="0"/>
          </a:p>
          <a:p>
            <a:pPr>
              <a:lnSpc>
                <a:spcPct val="125000"/>
              </a:lnSpc>
            </a:pPr>
            <a:r>
              <a:rPr lang="en-US" altLang="zh-CN" sz="1000" dirty="0">
                <a:solidFill>
                  <a:schemeClr val="tx1"/>
                </a:solidFill>
                <a:latin typeface="Times New Roman" panose="02020603050405020304" pitchFamily="18" charset="0"/>
                <a:ea typeface="等线" panose="02010600030101010101" charset="-122"/>
                <a:cs typeface="Times New Roman" panose="02020603050405020304" pitchFamily="18" charset="0"/>
              </a:rPr>
              <a:t>C1 Symmetry + C2 Weak Dependence </a:t>
            </a:r>
            <a:r>
              <a:rPr lang="en-US" sz="1000" dirty="0">
                <a:solidFill>
                  <a:schemeClr val="tx1"/>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rPr>
              <a:t>→ </a:t>
            </a:r>
            <a:r>
              <a:rPr lang="en-US" altLang="zh-CN" sz="1000" dirty="0">
                <a:solidFill>
                  <a:schemeClr val="tx1"/>
                </a:solidFill>
                <a:latin typeface="Times New Roman" panose="02020603050405020304" pitchFamily="18" charset="0"/>
                <a:ea typeface="等线" panose="02010600030101010101" charset="-122"/>
                <a:cs typeface="Times New Roman" panose="02020603050405020304" pitchFamily="18" charset="0"/>
              </a:rPr>
              <a:t>Estimable false positives with controlled fluctuations.</a:t>
            </a:r>
            <a:r>
              <a:rPr lang="en-US" altLang="zh-CN" sz="1000" dirty="0">
                <a:solidFill>
                  <a:schemeClr val="tx1"/>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rPr>
              <a:t> </a:t>
            </a:r>
            <a:endParaRPr lang="en-US" sz="1000" dirty="0">
              <a:solidFill>
                <a:schemeClr val="tx1"/>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endParaRPr>
          </a:p>
        </p:txBody>
      </p:sp>
      <p:pic>
        <p:nvPicPr>
          <p:cNvPr id="21" name="Picture 2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19424" y="4443081"/>
            <a:ext cx="228600" cy="228600"/>
          </a:xfrm>
          <a:prstGeom prst="rect">
            <a:avLst/>
          </a:prstGeom>
        </p:spPr>
      </p:pic>
      <p:sp>
        <p:nvSpPr>
          <p:cNvPr id="22" name="AutoShape 22"/>
          <p:cNvSpPr/>
          <p:nvPr/>
        </p:nvSpPr>
        <p:spPr>
          <a:xfrm>
            <a:off x="3257549" y="4190999"/>
            <a:ext cx="2676527" cy="783681"/>
          </a:xfrm>
          <a:prstGeom prst="roundRect">
            <a:avLst>
              <a:gd name="adj" fmla="val 8108"/>
            </a:avLst>
          </a:prstGeom>
          <a:solidFill>
            <a:srgbClr val="E91E63">
              <a:alpha val="8000"/>
            </a:srgbClr>
          </a:solidFill>
          <a:ln w="25400" cap="flat" cmpd="sng">
            <a:noFill/>
            <a:prstDash val="solid"/>
            <a:round/>
          </a:ln>
        </p:spPr>
        <p:txBody>
          <a:bodyPr vert="horz" wrap="square" lIns="47625" tIns="47625" rIns="47625" bIns="47625" rtlCol="0" anchor="ctr"/>
          <a:lstStyle/>
          <a:p>
            <a:pPr algn="ctr">
              <a:defRPr/>
            </a:pPr>
            <a:endParaRPr sz="1350"/>
          </a:p>
        </p:txBody>
      </p:sp>
      <p:sp>
        <p:nvSpPr>
          <p:cNvPr id="23" name="AutoShape 23"/>
          <p:cNvSpPr/>
          <p:nvPr/>
        </p:nvSpPr>
        <p:spPr>
          <a:xfrm>
            <a:off x="3352799" y="4238625"/>
            <a:ext cx="2505075" cy="6096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1050" b="1" dirty="0">
                <a:solidFill>
                  <a:srgbClr val="C2185B"/>
                </a:solidFill>
                <a:latin typeface="等线" panose="02010600030101010101" charset="-122"/>
                <a:ea typeface="等线" panose="02010600030101010101" charset="-122"/>
              </a:rPr>
              <a:t>Derivation: </a:t>
            </a:r>
            <a:endParaRPr lang="en-US" sz="1050" dirty="0">
              <a:latin typeface="等线" panose="02010600030101010101" charset="-122"/>
              <a:ea typeface="等线" panose="02010600030101010101" charset="-122"/>
            </a:endParaRPr>
          </a:p>
          <a:p>
            <a:pPr>
              <a:lnSpc>
                <a:spcPct val="125000"/>
              </a:lnSpc>
            </a:pPr>
            <a:r>
              <a:rPr lang="en-US" altLang="zh-CN" sz="1000" dirty="0">
                <a:solidFill>
                  <a:schemeClr val="tx1"/>
                </a:solidFill>
                <a:latin typeface="Times New Roman" panose="02020603050405020304" pitchFamily="18" charset="0"/>
                <a:ea typeface="等线" panose="02010600030101010101" charset="-122"/>
                <a:cs typeface="Times New Roman" panose="02020603050405020304" pitchFamily="18" charset="0"/>
              </a:rPr>
              <a:t>Prop 1 Constraints </a:t>
            </a:r>
            <a:r>
              <a:rPr lang="en-US" sz="1000" dirty="0">
                <a:solidFill>
                  <a:schemeClr val="tx1"/>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rPr>
              <a:t>→ </a:t>
            </a:r>
            <a:r>
              <a:rPr lang="en-US" altLang="zh-CN" sz="1000" dirty="0">
                <a:solidFill>
                  <a:schemeClr val="tx1"/>
                </a:solidFill>
                <a:latin typeface="Times New Roman" panose="02020603050405020304" pitchFamily="18" charset="0"/>
                <a:ea typeface="等线" panose="02010600030101010101" charset="-122"/>
                <a:cs typeface="Times New Roman" panose="02020603050405020304" pitchFamily="18" charset="0"/>
              </a:rPr>
              <a:t>Establishes the theoretical foundation for FDR control transitioning from the local to the global level</a:t>
            </a:r>
            <a:endParaRPr lang="en-US" sz="1000" dirty="0">
              <a:solidFill>
                <a:schemeClr val="tx1"/>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endParaRPr>
          </a:p>
        </p:txBody>
      </p:sp>
      <p:pic>
        <p:nvPicPr>
          <p:cNvPr id="24" name="Picture 2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15025" y="4443081"/>
            <a:ext cx="228600" cy="228600"/>
          </a:xfrm>
          <a:prstGeom prst="rect">
            <a:avLst/>
          </a:prstGeom>
        </p:spPr>
      </p:pic>
      <p:sp>
        <p:nvSpPr>
          <p:cNvPr id="25" name="AutoShape 25"/>
          <p:cNvSpPr/>
          <p:nvPr/>
        </p:nvSpPr>
        <p:spPr>
          <a:xfrm>
            <a:off x="6086475" y="4213781"/>
            <a:ext cx="2600325" cy="747104"/>
          </a:xfrm>
          <a:prstGeom prst="roundRect">
            <a:avLst>
              <a:gd name="adj" fmla="val 8108"/>
            </a:avLst>
          </a:prstGeom>
          <a:solidFill>
            <a:srgbClr val="388E3C">
              <a:alpha val="8000"/>
            </a:srgbClr>
          </a:solidFill>
          <a:ln w="25400" cap="flat" cmpd="sng">
            <a:noFill/>
            <a:prstDash val="solid"/>
            <a:round/>
          </a:ln>
        </p:spPr>
        <p:txBody>
          <a:bodyPr vert="horz" wrap="square" lIns="47625" tIns="47625" rIns="47625" bIns="47625" rtlCol="0" anchor="ctr"/>
          <a:lstStyle/>
          <a:p>
            <a:pPr algn="ctr">
              <a:defRPr/>
            </a:pPr>
            <a:endParaRPr sz="1350"/>
          </a:p>
        </p:txBody>
      </p:sp>
      <p:sp>
        <p:nvSpPr>
          <p:cNvPr id="26" name="AutoShape 26"/>
          <p:cNvSpPr/>
          <p:nvPr/>
        </p:nvSpPr>
        <p:spPr>
          <a:xfrm>
            <a:off x="6210300" y="4138120"/>
            <a:ext cx="2428875" cy="822765"/>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1050" b="1" dirty="0">
                <a:solidFill>
                  <a:srgbClr val="2E7D32"/>
                </a:solidFill>
                <a:latin typeface="等线" panose="02010600030101010101" charset="-122"/>
                <a:ea typeface="等线" panose="02010600030101010101" charset="-122"/>
                <a:cs typeface="Noto Sans SC" panose="020B0200000000000000" charset="-122"/>
                <a:sym typeface="Noto Sans SC" panose="020B0200000000000000" charset="-122"/>
              </a:rPr>
              <a:t>Results</a:t>
            </a:r>
            <a:r>
              <a:rPr lang="en-US" sz="1050" b="1" dirty="0">
                <a:solidFill>
                  <a:srgbClr val="2E7D32"/>
                </a:solidFill>
                <a:latin typeface="等线" panose="02010600030101010101" charset="-122"/>
                <a:ea typeface="等线" panose="02010600030101010101" charset="-122"/>
                <a:cs typeface="Noto Sans SC" panose="020B0200000000000000" charset="-122"/>
                <a:sym typeface="Noto Sans SC" panose="020B0200000000000000" charset="-122"/>
              </a:rPr>
              <a:t>：</a:t>
            </a:r>
            <a:endParaRPr lang="en-US" sz="1050" dirty="0">
              <a:latin typeface="等线" panose="02010600030101010101" charset="-122"/>
              <a:ea typeface="等线" panose="02010600030101010101" charset="-122"/>
            </a:endParaRPr>
          </a:p>
          <a:p>
            <a:pPr>
              <a:lnSpc>
                <a:spcPct val="125000"/>
              </a:lnSpc>
            </a:pPr>
            <a:r>
              <a:rPr lang="en-US" altLang="zh-CN" sz="1000" dirty="0">
                <a:solidFill>
                  <a:schemeClr val="tx1"/>
                </a:solidFill>
                <a:latin typeface="Times New Roman" panose="02020603050405020304" pitchFamily="18" charset="0"/>
                <a:ea typeface="等线" panose="02010600030101010101" charset="-122"/>
                <a:cs typeface="Times New Roman" panose="02020603050405020304" pitchFamily="18" charset="0"/>
              </a:rPr>
              <a:t>Inclusion rate sorting + truncation </a:t>
            </a:r>
            <a:r>
              <a:rPr lang="en-US" sz="1000" dirty="0">
                <a:solidFill>
                  <a:schemeClr val="tx1"/>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rPr>
              <a:t>→ </a:t>
            </a:r>
            <a:r>
              <a:rPr lang="en-US" altLang="zh-CN" sz="1000" dirty="0">
                <a:solidFill>
                  <a:schemeClr val="tx1"/>
                </a:solidFill>
                <a:latin typeface="Times New Roman" panose="02020603050405020304" pitchFamily="18" charset="0"/>
                <a:ea typeface="等线" panose="02010600030101010101" charset="-122"/>
                <a:cs typeface="Times New Roman" panose="02020603050405020304" pitchFamily="18" charset="0"/>
              </a:rPr>
              <a:t>Stable global FDR strictly bounded within </a:t>
            </a:r>
            <a:r>
              <a:rPr lang="en-US" sz="1000" dirty="0">
                <a:solidFill>
                  <a:schemeClr val="tx1"/>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rPr>
              <a:t>α。</a:t>
            </a:r>
            <a:endParaRPr lang="en-US" sz="1000" dirty="0">
              <a:solidFill>
                <a:schemeClr val="tx1"/>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endParaRPr>
          </a:p>
        </p:txBody>
      </p:sp>
      <p:pic>
        <p:nvPicPr>
          <p:cNvPr id="29" name="图片 28"/>
          <p:cNvPicPr>
            <a:picLocks noChangeAspect="1"/>
          </p:cNvPicPr>
          <p:nvPr/>
        </p:nvPicPr>
        <p:blipFill>
          <a:blip r:embed="rId7">
            <a:clrChange>
              <a:clrFrom>
                <a:srgbClr val="FFFFFF">
                  <a:alpha val="100000"/>
                </a:srgbClr>
              </a:clrFrom>
              <a:clrTo>
                <a:srgbClr val="FFFFFF">
                  <a:alpha val="100000"/>
                  <a:alpha val="0"/>
                </a:srgbClr>
              </a:clrTo>
            </a:clrChange>
          </a:blip>
          <a:stretch>
            <a:fillRect/>
          </a:stretch>
        </p:blipFill>
        <p:spPr>
          <a:xfrm>
            <a:off x="183931" y="809071"/>
            <a:ext cx="4169073" cy="1248708"/>
          </a:xfrm>
          <a:prstGeom prst="rect">
            <a:avLst/>
          </a:prstGeom>
        </p:spPr>
      </p:pic>
      <p:pic>
        <p:nvPicPr>
          <p:cNvPr id="31" name="图片 30"/>
          <p:cNvPicPr>
            <a:picLocks noChangeAspect="1"/>
          </p:cNvPicPr>
          <p:nvPr/>
        </p:nvPicPr>
        <p:blipFill>
          <a:blip r:embed="rId8"/>
          <a:stretch>
            <a:fillRect/>
          </a:stretch>
        </p:blipFill>
        <p:spPr>
          <a:xfrm>
            <a:off x="4467383" y="964918"/>
            <a:ext cx="4227779" cy="1027511"/>
          </a:xfrm>
          <a:prstGeom prst="rect">
            <a:avLst/>
          </a:prstGeom>
        </p:spPr>
      </p:pic>
      <p:pic>
        <p:nvPicPr>
          <p:cNvPr id="33" name="Picture 2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34605" y="3037286"/>
            <a:ext cx="228600" cy="2286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1"/>
          <a:srcRect l="9302" r="9302"/>
          <a:stretch>
            <a:fillRect/>
          </a:stretch>
        </p:blipFill>
        <p:spPr>
          <a:xfrm>
            <a:off x="0" y="-4445"/>
            <a:ext cx="9144000" cy="1027511"/>
          </a:xfrm>
          <a:prstGeom prst="rect">
            <a:avLst/>
          </a:prstGeom>
        </p:spPr>
      </p:pic>
      <p:sp>
        <p:nvSpPr>
          <p:cNvPr id="2" name="AutoShape 2"/>
          <p:cNvSpPr/>
          <p:nvPr/>
        </p:nvSpPr>
        <p:spPr>
          <a:xfrm>
            <a:off x="285750" y="285750"/>
            <a:ext cx="8572500" cy="47625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250" b="1" dirty="0">
                <a:solidFill>
                  <a:srgbClr val="333333"/>
                </a:solidFill>
                <a:latin typeface="微软雅黑" panose="020B0503020204020204" charset="-122"/>
                <a:ea typeface="微软雅黑" panose="020B0503020204020204" charset="-122"/>
                <a:sym typeface="Noto Sans SC" panose="020B0200000000000000" charset="-122"/>
              </a:rPr>
              <a:t>Theorem 1: Core Theoretical Guarantee</a:t>
            </a:r>
            <a:endParaRPr lang="en-US" sz="2250" b="1" dirty="0">
              <a:solidFill>
                <a:srgbClr val="333333"/>
              </a:solidFill>
              <a:latin typeface="微软雅黑" panose="020B0503020204020204" charset="-122"/>
              <a:ea typeface="微软雅黑" panose="020B0503020204020204" charset="-122"/>
              <a:sym typeface="Noto Sans SC" panose="020B0200000000000000" charset="-122"/>
            </a:endParaRPr>
          </a:p>
        </p:txBody>
      </p:sp>
      <p:sp>
        <p:nvSpPr>
          <p:cNvPr id="3" name="AutoShape 3"/>
          <p:cNvSpPr/>
          <p:nvPr/>
        </p:nvSpPr>
        <p:spPr>
          <a:xfrm>
            <a:off x="285750" y="1094186"/>
            <a:ext cx="8286750" cy="477439"/>
          </a:xfrm>
          <a:prstGeom prst="roundRect">
            <a:avLst>
              <a:gd name="adj" fmla="val 13333"/>
            </a:avLst>
          </a:prstGeom>
          <a:solidFill>
            <a:srgbClr val="42A5F5">
              <a:alpha val="15000"/>
            </a:srgbClr>
          </a:solidFill>
          <a:ln w="12700" cap="flat" cmpd="sng">
            <a:solidFill>
              <a:srgbClr val="00529B">
                <a:alpha val="30000"/>
              </a:srgbClr>
            </a:solidFill>
            <a:prstDash val="solid"/>
            <a:round/>
          </a:ln>
        </p:spPr>
        <p:txBody>
          <a:bodyPr vert="horz" wrap="square" lIns="47625" tIns="47625" rIns="47625" bIns="47625" rtlCol="0" anchor="ctr"/>
          <a:lstStyle/>
          <a:p>
            <a:pPr algn="ctr">
              <a:defRPr/>
            </a:pPr>
            <a:endParaRPr sz="1350"/>
          </a:p>
        </p:txBody>
      </p:sp>
      <p:sp>
        <p:nvSpPr>
          <p:cNvPr id="5" name="AutoShape 5"/>
          <p:cNvSpPr/>
          <p:nvPr/>
        </p:nvSpPr>
        <p:spPr>
          <a:xfrm>
            <a:off x="390474" y="1143000"/>
            <a:ext cx="8182026" cy="381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050" b="1" dirty="0">
                <a:solidFill>
                  <a:srgbClr val="00529B"/>
                </a:solidFill>
                <a:latin typeface="等线" panose="02010600030101010101" charset="-122"/>
                <a:ea typeface="等线" panose="02010600030101010101" charset="-122"/>
                <a:cs typeface="Noto Sans SC" panose="020B0200000000000000" charset="-122"/>
                <a:sym typeface="Noto Sans SC" panose="020B0200000000000000" charset="-122"/>
              </a:rPr>
              <a:t>Conclusion：</a:t>
            </a:r>
            <a:r>
              <a:rPr lang="en-US" sz="975" dirty="0">
                <a:solidFill>
                  <a:srgbClr val="333333"/>
                </a:solidFill>
                <a:latin typeface="等线" panose="02010600030101010101" charset="-122"/>
                <a:ea typeface="等线" panose="02010600030101010101" charset="-122"/>
                <a:cs typeface="Noto Sans SC" panose="020B0200000000000000" charset="-122"/>
                <a:sym typeface="Noto Sans SC" panose="020B0200000000000000" charset="-122"/>
              </a:rPr>
              <a:t> </a:t>
            </a:r>
            <a:r>
              <a:rPr lang="en-US" sz="1050" dirty="0">
                <a:solidFill>
                  <a:srgbClr val="424242"/>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rPr>
              <a:t>Under the same assumptions as Proposition 3, the Fed-FDR algorithm achieves a theoretical breakthrough: it ensures strict FDR control at any preset level α, and achieves asymptotically optimal statistical power as the sample size approaches infinity.</a:t>
            </a:r>
            <a:endParaRPr lang="en-US" sz="1000" dirty="0">
              <a:solidFill>
                <a:srgbClr val="424242"/>
              </a:solidFill>
              <a:latin typeface="Times New Roman" panose="02020603050405020304" pitchFamily="18" charset="0"/>
              <a:ea typeface="等线" panose="02010600030101010101" charset="-122"/>
              <a:cs typeface="Times New Roman" panose="02020603050405020304" pitchFamily="18" charset="0"/>
            </a:endParaRPr>
          </a:p>
        </p:txBody>
      </p:sp>
      <p:sp>
        <p:nvSpPr>
          <p:cNvPr id="6" name="AutoShape 6"/>
          <p:cNvSpPr/>
          <p:nvPr/>
        </p:nvSpPr>
        <p:spPr>
          <a:xfrm>
            <a:off x="285750" y="1714500"/>
            <a:ext cx="3952875" cy="3292458"/>
          </a:xfrm>
          <a:prstGeom prst="roundRect">
            <a:avLst>
              <a:gd name="adj" fmla="val 2580"/>
            </a:avLst>
          </a:prstGeom>
          <a:solidFill>
            <a:srgbClr val="FFFFFF">
              <a:alpha val="100000"/>
            </a:srgbClr>
          </a:solidFill>
          <a:ln w="25400" cap="flat" cmpd="sng">
            <a:noFill/>
            <a:prstDash val="solid"/>
            <a:round/>
          </a:ln>
          <a:effectLst>
            <a:outerShdw blurRad="190500" dist="63500" dir="2700000" algn="tl" rotWithShape="0">
              <a:srgbClr val="000000">
                <a:alpha val="8000"/>
              </a:srgbClr>
            </a:outerShdw>
          </a:effectLst>
        </p:spPr>
        <p:txBody>
          <a:bodyPr vert="horz" wrap="square" lIns="47625" tIns="47625" rIns="47625" bIns="47625" rtlCol="0" anchor="ctr"/>
          <a:lstStyle/>
          <a:p>
            <a:pPr algn="ctr">
              <a:defRPr/>
            </a:pPr>
            <a:endParaRPr sz="1350"/>
          </a:p>
        </p:txBody>
      </p:sp>
      <p:sp>
        <p:nvSpPr>
          <p:cNvPr id="7" name="AutoShape 7"/>
          <p:cNvSpPr/>
          <p:nvPr/>
        </p:nvSpPr>
        <p:spPr>
          <a:xfrm>
            <a:off x="428625" y="1857375"/>
            <a:ext cx="3619500" cy="28575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200" b="1"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Theorem 1’s </a:t>
            </a:r>
            <a:r>
              <a:rPr lang="en-US" altLang="zh-CN" sz="1200" b="1" dirty="0">
                <a:solidFill>
                  <a:srgbClr val="00529B"/>
                </a:solidFill>
                <a:latin typeface="Noto Sans SC" panose="020B0200000000000000" charset="-122"/>
                <a:ea typeface="Noto Sans SC" panose="020B0200000000000000" charset="-122"/>
              </a:rPr>
              <a:t>Double Guarantees :</a:t>
            </a:r>
            <a:endParaRPr lang="en-US" sz="1200" b="1" dirty="0">
              <a:solidFill>
                <a:srgbClr val="00529B"/>
              </a:solidFill>
              <a:latin typeface="Noto Sans SC" panose="020B0200000000000000" charset="-122"/>
              <a:ea typeface="Noto Sans SC" panose="020B0200000000000000" charset="-122"/>
            </a:endParaRPr>
          </a:p>
        </p:txBody>
      </p:sp>
      <p:sp>
        <p:nvSpPr>
          <p:cNvPr id="8" name="AutoShape 8"/>
          <p:cNvSpPr/>
          <p:nvPr/>
        </p:nvSpPr>
        <p:spPr>
          <a:xfrm>
            <a:off x="428625" y="2162175"/>
            <a:ext cx="3667125" cy="1241425"/>
          </a:xfrm>
          <a:prstGeom prst="roundRect">
            <a:avLst>
              <a:gd name="adj" fmla="val 4347"/>
            </a:avLst>
          </a:prstGeom>
          <a:solidFill>
            <a:srgbClr val="42A5F5">
              <a:alpha val="8000"/>
            </a:srgbClr>
          </a:solidFill>
          <a:ln w="25400" cap="flat" cmpd="sng">
            <a:noFill/>
            <a:prstDash val="solid"/>
            <a:round/>
          </a:ln>
        </p:spPr>
        <p:txBody>
          <a:bodyPr vert="horz" wrap="square" lIns="47625" tIns="47625" rIns="47625" bIns="47625" rtlCol="0" anchor="ctr"/>
          <a:lstStyle/>
          <a:p>
            <a:pPr algn="ctr">
              <a:defRPr/>
            </a:pPr>
            <a:endParaRPr sz="1350"/>
          </a:p>
        </p:txBody>
      </p:sp>
      <p:sp>
        <p:nvSpPr>
          <p:cNvPr id="9" name="AutoShape 9"/>
          <p:cNvSpPr/>
          <p:nvPr/>
        </p:nvSpPr>
        <p:spPr>
          <a:xfrm>
            <a:off x="500062" y="2173802"/>
            <a:ext cx="3476625" cy="238125"/>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975" b="1" dirty="0">
                <a:solidFill>
                  <a:srgbClr val="1565C0"/>
                </a:solidFill>
                <a:latin typeface="Noto Sans SC" panose="020B0200000000000000" charset="-122"/>
                <a:ea typeface="Noto Sans SC" panose="020B0200000000000000" charset="-122"/>
                <a:cs typeface="Noto Sans SC" panose="020B0200000000000000" charset="-122"/>
                <a:sym typeface="Noto Sans SC" panose="020B0200000000000000" charset="-122"/>
              </a:rPr>
              <a:t> 1. Strict FDR Control</a:t>
            </a:r>
            <a:endParaRPr lang="en-US" sz="825" dirty="0"/>
          </a:p>
        </p:txBody>
      </p:sp>
      <p:sp>
        <p:nvSpPr>
          <p:cNvPr id="10" name="AutoShape 10"/>
          <p:cNvSpPr/>
          <p:nvPr/>
        </p:nvSpPr>
        <p:spPr>
          <a:xfrm>
            <a:off x="523875" y="2362200"/>
            <a:ext cx="3476625" cy="789957"/>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050" dirty="0">
                <a:solidFill>
                  <a:srgbClr val="424242"/>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rPr>
              <a:t>For any significance level α ∈ (0,1), as the total sample size </a:t>
            </a:r>
            <a:r>
              <a:rPr lang="en-US" sz="1050" dirty="0" err="1">
                <a:solidFill>
                  <a:srgbClr val="424242"/>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rPr>
              <a:t>nK</a:t>
            </a:r>
            <a:r>
              <a:rPr lang="en-US" sz="1050" dirty="0">
                <a:solidFill>
                  <a:srgbClr val="424242"/>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rPr>
              <a:t> approaches infinity, the false discovery rate of the algorithm will be strictly limited within the preset threshold, and the bias term converges extremely quickly.</a:t>
            </a:r>
            <a:endParaRPr lang="en-US" sz="1000" dirty="0">
              <a:latin typeface="Times New Roman" panose="02020603050405020304" pitchFamily="18" charset="0"/>
              <a:ea typeface="等线" panose="02010600030101010101" charset="-122"/>
              <a:cs typeface="Times New Roman" panose="02020603050405020304" pitchFamily="18" charset="0"/>
            </a:endParaRPr>
          </a:p>
        </p:txBody>
      </p:sp>
      <p:sp>
        <p:nvSpPr>
          <p:cNvPr id="13" name="AutoShape 13"/>
          <p:cNvSpPr/>
          <p:nvPr/>
        </p:nvSpPr>
        <p:spPr>
          <a:xfrm>
            <a:off x="428625" y="3524250"/>
            <a:ext cx="3667125" cy="1403941"/>
          </a:xfrm>
          <a:prstGeom prst="roundRect">
            <a:avLst>
              <a:gd name="adj" fmla="val 4347"/>
            </a:avLst>
          </a:prstGeom>
          <a:solidFill>
            <a:srgbClr val="F59E0B">
              <a:alpha val="8000"/>
            </a:srgbClr>
          </a:solidFill>
          <a:ln w="25400" cap="flat" cmpd="sng">
            <a:noFill/>
            <a:prstDash val="solid"/>
            <a:round/>
          </a:ln>
        </p:spPr>
        <p:txBody>
          <a:bodyPr vert="horz" wrap="square" lIns="47625" tIns="47625" rIns="47625" bIns="47625" rtlCol="0" anchor="ctr"/>
          <a:lstStyle/>
          <a:p>
            <a:pPr algn="ctr">
              <a:defRPr/>
            </a:pPr>
            <a:endParaRPr sz="1350"/>
          </a:p>
        </p:txBody>
      </p:sp>
      <p:sp>
        <p:nvSpPr>
          <p:cNvPr id="14" name="AutoShape 14"/>
          <p:cNvSpPr/>
          <p:nvPr/>
        </p:nvSpPr>
        <p:spPr>
          <a:xfrm>
            <a:off x="523875" y="3568554"/>
            <a:ext cx="3476625" cy="238125"/>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975" b="1" dirty="0">
                <a:solidFill>
                  <a:srgbClr val="B45309"/>
                </a:solidFill>
                <a:latin typeface="Noto Sans SC" panose="020B0200000000000000" charset="-122"/>
                <a:ea typeface="Noto Sans SC" panose="020B0200000000000000" charset="-122"/>
                <a:cs typeface="Noto Sans SC" panose="020B0200000000000000" charset="-122"/>
                <a:sym typeface="Noto Sans SC" panose="020B0200000000000000" charset="-122"/>
              </a:rPr>
              <a:t>2. Asymptotic Optimality</a:t>
            </a:r>
            <a:endParaRPr lang="en-US" sz="825" dirty="0"/>
          </a:p>
        </p:txBody>
      </p:sp>
      <p:sp>
        <p:nvSpPr>
          <p:cNvPr id="15" name="AutoShape 15"/>
          <p:cNvSpPr/>
          <p:nvPr/>
        </p:nvSpPr>
        <p:spPr>
          <a:xfrm>
            <a:off x="523875" y="3857625"/>
            <a:ext cx="3476625" cy="687312"/>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050" dirty="0">
                <a:solidFill>
                  <a:srgbClr val="424242"/>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rPr>
              <a:t>Under the sparsity assumption, when the feature dimension p grows synchronously with the sample size, the algorithm can identify all true signals with probability 1, achieving the theoretical optimal statistical power.</a:t>
            </a:r>
            <a:endParaRPr lang="en-US" sz="1050" dirty="0">
              <a:solidFill>
                <a:srgbClr val="424242"/>
              </a:solidFill>
              <a:latin typeface="Times New Roman" panose="02020603050405020304" pitchFamily="18" charset="0"/>
              <a:ea typeface="等线" panose="02010600030101010101" charset="-122"/>
              <a:cs typeface="Times New Roman" panose="02020603050405020304" pitchFamily="18" charset="0"/>
            </a:endParaRPr>
          </a:p>
        </p:txBody>
      </p:sp>
      <p:sp>
        <p:nvSpPr>
          <p:cNvPr id="18" name="AutoShape 18"/>
          <p:cNvSpPr/>
          <p:nvPr/>
        </p:nvSpPr>
        <p:spPr>
          <a:xfrm>
            <a:off x="4476750" y="1714499"/>
            <a:ext cx="4438650" cy="3292457"/>
          </a:xfrm>
          <a:prstGeom prst="roundRect">
            <a:avLst>
              <a:gd name="adj" fmla="val 2580"/>
            </a:avLst>
          </a:prstGeom>
          <a:solidFill>
            <a:srgbClr val="FFFFFF">
              <a:alpha val="100000"/>
            </a:srgbClr>
          </a:solidFill>
          <a:ln w="25400" cap="flat" cmpd="sng">
            <a:noFill/>
            <a:prstDash val="solid"/>
            <a:round/>
          </a:ln>
          <a:effectLst>
            <a:outerShdw blurRad="190500" dist="63500" dir="2700000" algn="tl" rotWithShape="0">
              <a:srgbClr val="000000">
                <a:alpha val="8000"/>
              </a:srgbClr>
            </a:outerShdw>
          </a:effectLst>
        </p:spPr>
        <p:txBody>
          <a:bodyPr vert="horz" wrap="square" lIns="47625" tIns="47625" rIns="47625" bIns="47625" rtlCol="0" anchor="ctr"/>
          <a:lstStyle/>
          <a:p>
            <a:pPr algn="ctr">
              <a:defRPr/>
            </a:pPr>
            <a:endParaRPr sz="1350"/>
          </a:p>
        </p:txBody>
      </p:sp>
      <p:sp>
        <p:nvSpPr>
          <p:cNvPr id="19" name="AutoShape 19"/>
          <p:cNvSpPr/>
          <p:nvPr/>
        </p:nvSpPr>
        <p:spPr>
          <a:xfrm>
            <a:off x="4476750" y="1857375"/>
            <a:ext cx="4523710" cy="28575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200" b="1"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1200" b="1" dirty="0">
                <a:solidFill>
                  <a:srgbClr val="00529B"/>
                </a:solidFill>
                <a:latin typeface="Noto Sans SC" panose="020B0200000000000000" charset="-122"/>
                <a:ea typeface="Noto Sans SC" panose="020B0200000000000000" charset="-122"/>
              </a:rPr>
              <a:t>Logical Closed-Loop: A Complete Chain from Assumptions to Practice</a:t>
            </a:r>
            <a:endParaRPr lang="en-US" sz="1200" b="1" dirty="0">
              <a:solidFill>
                <a:srgbClr val="00529B"/>
              </a:solidFill>
              <a:latin typeface="Noto Sans SC" panose="020B0200000000000000" charset="-122"/>
              <a:ea typeface="Noto Sans SC" panose="020B0200000000000000" charset="-122"/>
            </a:endParaRPr>
          </a:p>
        </p:txBody>
      </p:sp>
      <p:sp>
        <p:nvSpPr>
          <p:cNvPr id="20" name="AutoShape 20"/>
          <p:cNvSpPr/>
          <p:nvPr/>
        </p:nvSpPr>
        <p:spPr>
          <a:xfrm>
            <a:off x="4619624" y="2292864"/>
            <a:ext cx="4238625" cy="1095375"/>
          </a:xfrm>
          <a:prstGeom prst="roundRect">
            <a:avLst>
              <a:gd name="adj" fmla="val 4347"/>
            </a:avLst>
          </a:prstGeom>
          <a:solidFill>
            <a:srgbClr val="10B981">
              <a:alpha val="8000"/>
            </a:srgbClr>
          </a:solidFill>
          <a:ln w="25400" cap="flat" cmpd="sng">
            <a:noFill/>
            <a:prstDash val="solid"/>
            <a:round/>
          </a:ln>
        </p:spPr>
        <p:txBody>
          <a:bodyPr vert="horz" wrap="square" lIns="47625" tIns="47625" rIns="47625" bIns="47625" rtlCol="0" anchor="ctr"/>
          <a:lstStyle/>
          <a:p>
            <a:pPr algn="ctr">
              <a:defRPr/>
            </a:pPr>
            <a:endParaRPr sz="1350"/>
          </a:p>
        </p:txBody>
      </p:sp>
      <p:sp>
        <p:nvSpPr>
          <p:cNvPr id="21" name="AutoShape 21"/>
          <p:cNvSpPr/>
          <p:nvPr/>
        </p:nvSpPr>
        <p:spPr>
          <a:xfrm>
            <a:off x="4714875" y="2362200"/>
            <a:ext cx="3524250" cy="238125"/>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975" b="1" dirty="0">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Logical Path</a:t>
            </a:r>
            <a:endParaRPr lang="en-US" sz="825" dirty="0"/>
          </a:p>
        </p:txBody>
      </p:sp>
      <p:sp>
        <p:nvSpPr>
          <p:cNvPr id="22" name="AutoShape 22"/>
          <p:cNvSpPr/>
          <p:nvPr/>
        </p:nvSpPr>
        <p:spPr>
          <a:xfrm>
            <a:off x="4714875" y="2667000"/>
            <a:ext cx="4094199" cy="66675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050" dirty="0">
                <a:solidFill>
                  <a:srgbClr val="424242"/>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rPr>
              <a:t>A1-A5 Basic Assumptions (Independent and Identically Distributed / Sparsity) → Proposition 2&amp;3 (Lasso Fidelity and De-biased Symmetry) → Theorem 1 (FDR Controlled + Power Converges to 1).</a:t>
            </a:r>
            <a:endParaRPr lang="en-US" sz="1050" dirty="0">
              <a:solidFill>
                <a:srgbClr val="424242"/>
              </a:solidFill>
              <a:latin typeface="Times New Roman" panose="02020603050405020304" pitchFamily="18" charset="0"/>
              <a:ea typeface="等线" panose="02010600030101010101" charset="-122"/>
              <a:cs typeface="Times New Roman" panose="02020603050405020304" pitchFamily="18" charset="0"/>
            </a:endParaRPr>
          </a:p>
        </p:txBody>
      </p:sp>
      <p:sp>
        <p:nvSpPr>
          <p:cNvPr id="23" name="AutoShape 23"/>
          <p:cNvSpPr/>
          <p:nvPr/>
        </p:nvSpPr>
        <p:spPr>
          <a:xfrm>
            <a:off x="4619625" y="3524250"/>
            <a:ext cx="4238624" cy="1403941"/>
          </a:xfrm>
          <a:prstGeom prst="roundRect">
            <a:avLst>
              <a:gd name="adj" fmla="val 4347"/>
            </a:avLst>
          </a:prstGeom>
          <a:solidFill>
            <a:srgbClr val="8B5CF6">
              <a:alpha val="8000"/>
            </a:srgbClr>
          </a:solidFill>
          <a:ln w="25400" cap="flat" cmpd="sng">
            <a:noFill/>
            <a:prstDash val="solid"/>
            <a:round/>
          </a:ln>
        </p:spPr>
        <p:txBody>
          <a:bodyPr vert="horz" wrap="square" lIns="47625" tIns="47625" rIns="47625" bIns="47625" rtlCol="0" anchor="ctr"/>
          <a:lstStyle/>
          <a:p>
            <a:pPr algn="ctr">
              <a:defRPr/>
            </a:pPr>
            <a:endParaRPr sz="1350"/>
          </a:p>
        </p:txBody>
      </p:sp>
      <p:sp>
        <p:nvSpPr>
          <p:cNvPr id="24" name="AutoShape 24"/>
          <p:cNvSpPr/>
          <p:nvPr/>
        </p:nvSpPr>
        <p:spPr>
          <a:xfrm>
            <a:off x="4714875" y="3600450"/>
            <a:ext cx="3524250" cy="238125"/>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975" b="1" dirty="0">
                <a:solidFill>
                  <a:srgbClr val="5B21B6"/>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Value</a:t>
            </a:r>
            <a:endParaRPr lang="en-US" sz="825" dirty="0"/>
          </a:p>
        </p:txBody>
      </p:sp>
      <p:sp>
        <p:nvSpPr>
          <p:cNvPr id="25" name="AutoShape 25"/>
          <p:cNvSpPr/>
          <p:nvPr/>
        </p:nvSpPr>
        <p:spPr>
          <a:xfrm>
            <a:off x="4714875" y="3905250"/>
            <a:ext cx="4094199" cy="9525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050" dirty="0">
                <a:solidFill>
                  <a:srgbClr val="424242"/>
                </a:solidFill>
                <a:latin typeface="Times New Roman" panose="02020603050405020304" pitchFamily="18" charset="0"/>
                <a:ea typeface="等线" panose="02010600030101010101" charset="-122"/>
                <a:cs typeface="Times New Roman" panose="02020603050405020304" pitchFamily="18" charset="0"/>
                <a:sym typeface="Noto Sans SC" panose="020B0200000000000000" charset="-122"/>
              </a:rPr>
              <a:t>Breaking the dilemma of traditional federated learning, it proves that the algorithm theoretically balances reliability and effectiveness. Its linear communication and computational complexity make this method highly valuable for engineering applications in high-dimensional data scenarios such as healthcare and finance.</a:t>
            </a:r>
            <a:endParaRPr lang="en-US" sz="1050" dirty="0">
              <a:solidFill>
                <a:srgbClr val="424242"/>
              </a:solidFill>
              <a:latin typeface="Times New Roman" panose="02020603050405020304" pitchFamily="18" charset="0"/>
              <a:ea typeface="等线" panose="02010600030101010101" charset="-122"/>
              <a:cs typeface="Times New Roman" panose="02020603050405020304" pitchFamily="18" charset="0"/>
            </a:endParaRPr>
          </a:p>
        </p:txBody>
      </p:sp>
      <p:pic>
        <p:nvPicPr>
          <p:cNvPr id="27" name="图片 26"/>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581025" y="3135985"/>
            <a:ext cx="3314268" cy="260211"/>
          </a:xfrm>
          <a:prstGeom prst="rect">
            <a:avLst/>
          </a:prstGeom>
        </p:spPr>
      </p:pic>
      <p:pic>
        <p:nvPicPr>
          <p:cNvPr id="29" name="图片 28"/>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390525" y="4617149"/>
            <a:ext cx="3766508" cy="29947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0" descr="preencoded.png"/>
          <p:cNvPicPr>
            <a:picLocks noChangeAspect="1"/>
          </p:cNvPicPr>
          <p:nvPr/>
        </p:nvPicPr>
        <p:blipFill>
          <a:blip r:embed="rId1"/>
          <a:srcRect l="9302" r="9302"/>
          <a:stretch>
            <a:fillRect/>
          </a:stretch>
        </p:blipFill>
        <p:spPr>
          <a:xfrm>
            <a:off x="0" y="0"/>
            <a:ext cx="9144000" cy="1027511"/>
          </a:xfrm>
          <a:prstGeom prst="rect">
            <a:avLst/>
          </a:prstGeom>
        </p:spPr>
      </p:pic>
      <p:sp>
        <p:nvSpPr>
          <p:cNvPr id="2" name="AutoShape 2"/>
          <p:cNvSpPr/>
          <p:nvPr/>
        </p:nvSpPr>
        <p:spPr>
          <a:xfrm>
            <a:off x="381000" y="285750"/>
            <a:ext cx="8382000" cy="381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250" b="1" dirty="0">
                <a:solidFill>
                  <a:srgbClr val="333333"/>
                </a:solidFill>
                <a:latin typeface="微软雅黑" panose="020B0503020204020204" charset="-122"/>
                <a:ea typeface="微软雅黑" panose="020B0503020204020204" charset="-122"/>
                <a:sym typeface="Noto Sans SC" panose="020B0200000000000000" charset="-122"/>
              </a:rPr>
              <a:t>4.1 </a:t>
            </a:r>
            <a:r>
              <a:rPr lang="en-US" altLang="zh-CN" sz="2400" b="1" dirty="0"/>
              <a:t>Cross-Site Support Set Heterogeneity</a:t>
            </a:r>
            <a:endParaRPr lang="en-US" sz="2250" b="1" dirty="0">
              <a:solidFill>
                <a:srgbClr val="333333"/>
              </a:solidFill>
              <a:latin typeface="微软雅黑" panose="020B0503020204020204" charset="-122"/>
              <a:ea typeface="微软雅黑" panose="020B0503020204020204" charset="-122"/>
            </a:endParaRPr>
          </a:p>
        </p:txBody>
      </p:sp>
      <p:sp>
        <p:nvSpPr>
          <p:cNvPr id="3" name="AutoShape 3"/>
          <p:cNvSpPr/>
          <p:nvPr/>
        </p:nvSpPr>
        <p:spPr>
          <a:xfrm>
            <a:off x="381000" y="1047750"/>
            <a:ext cx="8382000" cy="381000"/>
          </a:xfrm>
          <a:prstGeom prst="roundRect">
            <a:avLst>
              <a:gd name="adj" fmla="val 15384"/>
            </a:avLst>
          </a:prstGeom>
          <a:solidFill>
            <a:srgbClr val="42A5F5">
              <a:alpha val="15000"/>
            </a:srgbClr>
          </a:solidFill>
          <a:ln w="12700" cap="flat" cmpd="sng">
            <a:solidFill>
              <a:srgbClr val="00529B">
                <a:alpha val="30000"/>
              </a:srgbClr>
            </a:solidFill>
            <a:prstDash val="solid"/>
            <a:round/>
          </a:ln>
        </p:spPr>
        <p:txBody>
          <a:bodyPr vert="horz" wrap="square" lIns="47625" tIns="47625" rIns="47625" bIns="47625" rtlCol="0" anchor="ctr"/>
          <a:lstStyle/>
          <a:p>
            <a:pPr algn="ctr">
              <a:defRPr/>
            </a:pPr>
            <a:endParaRPr sz="1350"/>
          </a:p>
        </p:txBody>
      </p:sp>
      <p:sp>
        <p:nvSpPr>
          <p:cNvPr id="4" name="AutoShape 4"/>
          <p:cNvSpPr/>
          <p:nvPr/>
        </p:nvSpPr>
        <p:spPr>
          <a:xfrm>
            <a:off x="523875" y="1027511"/>
            <a:ext cx="8096250" cy="401239"/>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050" b="1"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If the "related features" of different sites are not completely the same, will our method still be applicable?</a:t>
            </a:r>
            <a:endParaRPr lang="en-US" sz="825" dirty="0"/>
          </a:p>
        </p:txBody>
      </p:sp>
      <p:sp>
        <p:nvSpPr>
          <p:cNvPr id="5" name="AutoShape 5"/>
          <p:cNvSpPr/>
          <p:nvPr/>
        </p:nvSpPr>
        <p:spPr>
          <a:xfrm>
            <a:off x="381000" y="1523999"/>
            <a:ext cx="3905250" cy="3614543"/>
          </a:xfrm>
          <a:prstGeom prst="roundRect">
            <a:avLst>
              <a:gd name="adj" fmla="val 3582"/>
            </a:avLst>
          </a:prstGeom>
          <a:solidFill>
            <a:srgbClr val="FFFFFF">
              <a:alpha val="100000"/>
            </a:srgbClr>
          </a:solidFill>
          <a:ln w="25400" cap="flat" cmpd="sng">
            <a:noFill/>
            <a:prstDash val="solid"/>
            <a:round/>
          </a:ln>
          <a:effectLst>
            <a:outerShdw blurRad="127000" dist="50800" dir="2700000" algn="tl" rotWithShape="0">
              <a:srgbClr val="000000">
                <a:alpha val="6000"/>
              </a:srgbClr>
            </a:outerShdw>
          </a:effectLst>
        </p:spPr>
        <p:txBody>
          <a:bodyPr vert="horz" wrap="square" lIns="47625" tIns="47625" rIns="47625" bIns="47625" rtlCol="0" anchor="ctr"/>
          <a:lstStyle/>
          <a:p>
            <a:pPr algn="ctr">
              <a:defRPr/>
            </a:pPr>
            <a:endParaRPr sz="1350"/>
          </a:p>
        </p:txBody>
      </p:sp>
      <p:sp>
        <p:nvSpPr>
          <p:cNvPr id="6" name="AutoShape 6"/>
          <p:cNvSpPr/>
          <p:nvPr/>
        </p:nvSpPr>
        <p:spPr>
          <a:xfrm>
            <a:off x="531019" y="1476373"/>
            <a:ext cx="3619500" cy="28575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200" b="1"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 Problem：</a:t>
            </a:r>
            <a:endParaRPr lang="en-US" sz="825" dirty="0"/>
          </a:p>
        </p:txBody>
      </p:sp>
      <p:sp>
        <p:nvSpPr>
          <p:cNvPr id="7" name="AutoShape 7"/>
          <p:cNvSpPr/>
          <p:nvPr/>
        </p:nvSpPr>
        <p:spPr>
          <a:xfrm>
            <a:off x="476249" y="1469119"/>
            <a:ext cx="3524250" cy="1631488"/>
          </a:xfrm>
          <a:prstGeom prst="roundRect">
            <a:avLst>
              <a:gd name="adj" fmla="val 8421"/>
            </a:avLst>
          </a:prstGeom>
          <a:solidFill>
            <a:srgbClr val="42A5F5">
              <a:alpha val="10000"/>
            </a:srgbClr>
          </a:solidFill>
          <a:ln w="25400" cap="flat" cmpd="sng">
            <a:noFill/>
            <a:prstDash val="solid"/>
            <a:round/>
          </a:ln>
        </p:spPr>
        <p:txBody>
          <a:bodyPr vert="horz" wrap="square" lIns="47625" tIns="47625" rIns="47625" bIns="47625" rtlCol="0" anchor="ctr"/>
          <a:lstStyle/>
          <a:p>
            <a:pPr algn="ctr">
              <a:defRPr/>
            </a:pPr>
            <a:endParaRPr sz="1350" dirty="0"/>
          </a:p>
        </p:txBody>
      </p:sp>
      <mc:AlternateContent xmlns:mc="http://schemas.openxmlformats.org/markup-compatibility/2006">
        <mc:Choice xmlns:a14="http://schemas.microsoft.com/office/drawing/2010/main" Requires="a14">
          <p:sp>
            <p:nvSpPr>
              <p:cNvPr id="8" name="AutoShape 8"/>
              <p:cNvSpPr/>
              <p:nvPr/>
            </p:nvSpPr>
            <p:spPr>
              <a:xfrm>
                <a:off x="571500" y="1995320"/>
                <a:ext cx="3583781" cy="777179"/>
              </a:xfrm>
              <a:prstGeom prst="rect">
                <a:avLst/>
              </a:prstGeom>
              <a:noFill/>
              <a:ln w="12700" cap="flat" cmpd="sng">
                <a:noFill/>
                <a:prstDash val="solid"/>
                <a:round/>
              </a:ln>
            </p:spPr>
            <p:txBody>
              <a:bodyPr vert="horz" wrap="square" lIns="0" tIns="0" rIns="0" bIns="0" rtlCol="0" anchor="ctr" anchorCtr="0"/>
              <a:lstStyle/>
              <a:p>
                <a:r>
                  <a:rPr lang="en-US" altLang="zh-CN" sz="1000" dirty="0">
                    <a:latin typeface="Times New Roman" panose="02020603050405020304" pitchFamily="18" charset="0"/>
                    <a:cs typeface="Times New Roman" panose="02020603050405020304" pitchFamily="18" charset="0"/>
                  </a:rPr>
                  <a:t>Under the basic Assumption A1, the model requires all sites to share the exact same feature support set:</a:t>
                </a:r>
                <a:r>
                  <a:rPr lang="en-US" altLang="zh-CN" sz="1000"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a:t>
                </a:r>
                <a14:m>
                  <m:oMath xmlns:m="http://schemas.openxmlformats.org/officeDocument/2006/math">
                    <m:sSubSup>
                      <m:sSubSupPr>
                        <m:ctrlPr>
                          <a:rPr lang="en-US" altLang="zh-CN" sz="1000" i="1">
                            <a:solidFill>
                              <a:srgbClr val="374151"/>
                            </a:solidFill>
                            <a:latin typeface="Cambria Math" panose="02040503050406030204" pitchFamily="18" charset="0"/>
                            <a:ea typeface="Noto Sans SC" panose="020B0200000000000000" charset="-122"/>
                            <a:sym typeface="Noto Sans SC" panose="020B0200000000000000" charset="-122"/>
                          </a:rPr>
                        </m:ctrlPr>
                      </m:sSubSupPr>
                      <m:e>
                        <m:r>
                          <a:rPr lang="en-US" altLang="zh-CN" sz="1000" i="1">
                            <a:solidFill>
                              <a:srgbClr val="374151"/>
                            </a:solidFill>
                            <a:latin typeface="Cambria Math" panose="02040503050406030204" pitchFamily="18" charset="0"/>
                            <a:ea typeface="Noto Sans SC" panose="020B0200000000000000" charset="-122"/>
                            <a:sym typeface="Noto Sans SC" panose="020B0200000000000000" charset="-122"/>
                          </a:rPr>
                          <m:t>𝑆</m:t>
                        </m:r>
                      </m:e>
                      <m:sub>
                        <m:r>
                          <a:rPr lang="en-US" altLang="zh-CN" sz="1000" i="1">
                            <a:solidFill>
                              <a:srgbClr val="374151"/>
                            </a:solidFill>
                            <a:latin typeface="Cambria Math" panose="02040503050406030204" pitchFamily="18" charset="0"/>
                            <a:ea typeface="Noto Sans SC" panose="020B0200000000000000" charset="-122"/>
                            <a:sym typeface="Noto Sans SC" panose="020B0200000000000000" charset="-122"/>
                          </a:rPr>
                          <m:t>1</m:t>
                        </m:r>
                      </m:sub>
                      <m:sup>
                        <m:r>
                          <a:rPr lang="en-US" altLang="zh-CN" sz="1000" i="1">
                            <a:solidFill>
                              <a:srgbClr val="374151"/>
                            </a:solidFill>
                            <a:latin typeface="Cambria Math" panose="02040503050406030204" pitchFamily="18" charset="0"/>
                            <a:ea typeface="Noto Sans SC" panose="020B0200000000000000" charset="-122"/>
                            <a:sym typeface="Noto Sans SC" panose="020B0200000000000000" charset="-122"/>
                          </a:rPr>
                          <m:t>(</m:t>
                        </m:r>
                        <m:r>
                          <a:rPr lang="en-US" altLang="zh-CN" sz="1000" i="1">
                            <a:solidFill>
                              <a:srgbClr val="374151"/>
                            </a:solidFill>
                            <a:latin typeface="Cambria Math" panose="02040503050406030204" pitchFamily="18" charset="0"/>
                            <a:ea typeface="Noto Sans SC" panose="020B0200000000000000" charset="-122"/>
                            <a:sym typeface="Noto Sans SC" panose="020B0200000000000000" charset="-122"/>
                          </a:rPr>
                          <m:t>1</m:t>
                        </m:r>
                        <m:r>
                          <a:rPr lang="en-US" altLang="zh-CN" sz="1000" i="1">
                            <a:solidFill>
                              <a:srgbClr val="374151"/>
                            </a:solidFill>
                            <a:latin typeface="Cambria Math" panose="02040503050406030204" pitchFamily="18" charset="0"/>
                            <a:ea typeface="Noto Sans SC" panose="020B0200000000000000" charset="-122"/>
                            <a:sym typeface="Noto Sans SC" panose="020B0200000000000000" charset="-122"/>
                          </a:rPr>
                          <m:t>)</m:t>
                        </m:r>
                      </m:sup>
                    </m:sSubSup>
                    <m:r>
                      <a:rPr lang="en-US" altLang="zh-CN" sz="1000" i="1">
                        <a:solidFill>
                          <a:srgbClr val="374151"/>
                        </a:solidFill>
                        <a:latin typeface="Cambria Math" panose="02040503050406030204" pitchFamily="18" charset="0"/>
                        <a:ea typeface="Noto Sans SC" panose="020B0200000000000000" charset="-122"/>
                        <a:sym typeface="Noto Sans SC" panose="020B0200000000000000" charset="-122"/>
                      </a:rPr>
                      <m:t>=</m:t>
                    </m:r>
                    <m:sSubSup>
                      <m:sSubSupPr>
                        <m:ctrlPr>
                          <a:rPr lang="en-US" altLang="zh-CN" sz="1000" i="1">
                            <a:solidFill>
                              <a:srgbClr val="374151"/>
                            </a:solidFill>
                            <a:latin typeface="Cambria Math" panose="02040503050406030204" pitchFamily="18" charset="0"/>
                            <a:ea typeface="Noto Sans SC" panose="020B0200000000000000" charset="-122"/>
                            <a:sym typeface="Noto Sans SC" panose="020B0200000000000000" charset="-122"/>
                          </a:rPr>
                        </m:ctrlPr>
                      </m:sSubSupPr>
                      <m:e>
                        <m:r>
                          <a:rPr lang="en-US" altLang="zh-CN" sz="1000" i="1">
                            <a:solidFill>
                              <a:srgbClr val="374151"/>
                            </a:solidFill>
                            <a:latin typeface="Cambria Math" panose="02040503050406030204" pitchFamily="18" charset="0"/>
                            <a:ea typeface="Noto Sans SC" panose="020B0200000000000000" charset="-122"/>
                            <a:sym typeface="Noto Sans SC" panose="020B0200000000000000" charset="-122"/>
                          </a:rPr>
                          <m:t>𝑆</m:t>
                        </m:r>
                      </m:e>
                      <m:sub>
                        <m:r>
                          <a:rPr lang="en-US" altLang="zh-CN" sz="1000" i="1">
                            <a:solidFill>
                              <a:srgbClr val="374151"/>
                            </a:solidFill>
                            <a:latin typeface="Cambria Math" panose="02040503050406030204" pitchFamily="18" charset="0"/>
                            <a:ea typeface="Noto Sans SC" panose="020B0200000000000000" charset="-122"/>
                            <a:sym typeface="Noto Sans SC" panose="020B0200000000000000" charset="-122"/>
                          </a:rPr>
                          <m:t>1</m:t>
                        </m:r>
                      </m:sub>
                      <m:sup>
                        <m:r>
                          <a:rPr lang="en-US" altLang="zh-CN" sz="1000" i="1">
                            <a:solidFill>
                              <a:srgbClr val="374151"/>
                            </a:solidFill>
                            <a:latin typeface="Cambria Math" panose="02040503050406030204" pitchFamily="18" charset="0"/>
                            <a:ea typeface="Noto Sans SC" panose="020B0200000000000000" charset="-122"/>
                            <a:sym typeface="Noto Sans SC" panose="020B0200000000000000" charset="-122"/>
                          </a:rPr>
                          <m:t>(</m:t>
                        </m:r>
                        <m:r>
                          <a:rPr lang="en-US" altLang="zh-CN" sz="1000" i="1">
                            <a:solidFill>
                              <a:srgbClr val="374151"/>
                            </a:solidFill>
                            <a:latin typeface="Cambria Math" panose="02040503050406030204" pitchFamily="18" charset="0"/>
                            <a:ea typeface="Noto Sans SC" panose="020B0200000000000000" charset="-122"/>
                            <a:sym typeface="Noto Sans SC" panose="020B0200000000000000" charset="-122"/>
                          </a:rPr>
                          <m:t>2</m:t>
                        </m:r>
                        <m:r>
                          <a:rPr lang="en-US" altLang="zh-CN" sz="1000" i="1">
                            <a:solidFill>
                              <a:srgbClr val="374151"/>
                            </a:solidFill>
                            <a:latin typeface="Cambria Math" panose="02040503050406030204" pitchFamily="18" charset="0"/>
                            <a:ea typeface="Noto Sans SC" panose="020B0200000000000000" charset="-122"/>
                            <a:sym typeface="Noto Sans SC" panose="020B0200000000000000" charset="-122"/>
                          </a:rPr>
                          <m:t>)</m:t>
                        </m:r>
                      </m:sup>
                    </m:sSubSup>
                    <m:r>
                      <a:rPr lang="en-US" altLang="zh-CN" sz="1000" i="1">
                        <a:solidFill>
                          <a:srgbClr val="374151"/>
                        </a:solidFill>
                        <a:latin typeface="Cambria Math" panose="02040503050406030204" pitchFamily="18" charset="0"/>
                        <a:ea typeface="Noto Sans SC" panose="020B0200000000000000" charset="-122"/>
                        <a:sym typeface="Noto Sans SC" panose="020B0200000000000000" charset="-122"/>
                      </a:rPr>
                      <m:t>=</m:t>
                    </m:r>
                    <m:r>
                      <a:rPr lang="en-US" altLang="zh-CN" sz="1000" i="1">
                        <a:solidFill>
                          <a:srgbClr val="374151"/>
                        </a:solidFill>
                        <a:latin typeface="Cambria Math" panose="02040503050406030204" pitchFamily="18" charset="0"/>
                        <a:ea typeface="Cambria Math" panose="02040503050406030204" pitchFamily="18" charset="0"/>
                        <a:sym typeface="Noto Sans SC" panose="020B0200000000000000" charset="-122"/>
                      </a:rPr>
                      <m:t>⋯=</m:t>
                    </m:r>
                    <m:sSubSup>
                      <m:sSubSupPr>
                        <m:ctrlPr>
                          <a:rPr lang="en-US" altLang="zh-CN" sz="1000" i="1">
                            <a:solidFill>
                              <a:srgbClr val="374151"/>
                            </a:solidFill>
                            <a:latin typeface="Cambria Math" panose="02040503050406030204" pitchFamily="18" charset="0"/>
                            <a:ea typeface="Noto Sans SC" panose="020B0200000000000000" charset="-122"/>
                            <a:sym typeface="Noto Sans SC" panose="020B0200000000000000" charset="-122"/>
                          </a:rPr>
                        </m:ctrlPr>
                      </m:sSubSupPr>
                      <m:e>
                        <m:r>
                          <a:rPr lang="en-US" altLang="zh-CN" sz="1000" i="1">
                            <a:solidFill>
                              <a:srgbClr val="374151"/>
                            </a:solidFill>
                            <a:latin typeface="Cambria Math" panose="02040503050406030204" pitchFamily="18" charset="0"/>
                            <a:ea typeface="Noto Sans SC" panose="020B0200000000000000" charset="-122"/>
                            <a:sym typeface="Noto Sans SC" panose="020B0200000000000000" charset="-122"/>
                          </a:rPr>
                          <m:t>𝑆</m:t>
                        </m:r>
                      </m:e>
                      <m:sub>
                        <m:r>
                          <a:rPr lang="en-US" altLang="zh-CN" sz="1000" i="1">
                            <a:solidFill>
                              <a:srgbClr val="374151"/>
                            </a:solidFill>
                            <a:latin typeface="Cambria Math" panose="02040503050406030204" pitchFamily="18" charset="0"/>
                            <a:ea typeface="Noto Sans SC" panose="020B0200000000000000" charset="-122"/>
                            <a:sym typeface="Noto Sans SC" panose="020B0200000000000000" charset="-122"/>
                          </a:rPr>
                          <m:t>1</m:t>
                        </m:r>
                      </m:sub>
                      <m:sup>
                        <m:d>
                          <m:dPr>
                            <m:ctrlPr>
                              <a:rPr lang="en-US" altLang="zh-CN" sz="1000" i="1">
                                <a:solidFill>
                                  <a:srgbClr val="374151"/>
                                </a:solidFill>
                                <a:latin typeface="Cambria Math" panose="02040503050406030204" pitchFamily="18" charset="0"/>
                                <a:ea typeface="Noto Sans SC" panose="020B0200000000000000" charset="-122"/>
                                <a:sym typeface="Noto Sans SC" panose="020B0200000000000000" charset="-122"/>
                              </a:rPr>
                            </m:ctrlPr>
                          </m:dPr>
                          <m:e>
                            <m:r>
                              <a:rPr lang="en-US" altLang="zh-CN" sz="1000" i="1">
                                <a:solidFill>
                                  <a:srgbClr val="374151"/>
                                </a:solidFill>
                                <a:latin typeface="Cambria Math" panose="02040503050406030204" pitchFamily="18" charset="0"/>
                                <a:ea typeface="Noto Sans SC" panose="020B0200000000000000" charset="-122"/>
                                <a:sym typeface="Noto Sans SC" panose="020B0200000000000000" charset="-122"/>
                              </a:rPr>
                              <m:t>𝑘</m:t>
                            </m:r>
                          </m:e>
                        </m:d>
                      </m:sup>
                    </m:sSubSup>
                    <m:r>
                      <a:rPr lang="en-US" altLang="zh-CN" sz="1000" i="1">
                        <a:solidFill>
                          <a:srgbClr val="374151"/>
                        </a:solidFill>
                        <a:latin typeface="Cambria Math" panose="02040503050406030204" pitchFamily="18" charset="0"/>
                        <a:ea typeface="Noto Sans SC" panose="020B0200000000000000" charset="-122"/>
                        <a:sym typeface="Noto Sans SC" panose="020B0200000000000000" charset="-122"/>
                      </a:rPr>
                      <m:t>=</m:t>
                    </m:r>
                    <m:sSub>
                      <m:sSubPr>
                        <m:ctrlPr>
                          <a:rPr lang="en-US" altLang="zh-CN" sz="1000" i="1">
                            <a:solidFill>
                              <a:srgbClr val="374151"/>
                            </a:solidFill>
                            <a:latin typeface="Cambria Math" panose="02040503050406030204" pitchFamily="18" charset="0"/>
                            <a:ea typeface="Noto Sans SC" panose="020B0200000000000000" charset="-122"/>
                            <a:sym typeface="Noto Sans SC" panose="020B0200000000000000" charset="-122"/>
                          </a:rPr>
                        </m:ctrlPr>
                      </m:sSubPr>
                      <m:e>
                        <m:r>
                          <a:rPr lang="en-US" altLang="zh-CN" sz="1000" i="1">
                            <a:solidFill>
                              <a:srgbClr val="374151"/>
                            </a:solidFill>
                            <a:latin typeface="Cambria Math" panose="02040503050406030204" pitchFamily="18" charset="0"/>
                            <a:ea typeface="Noto Sans SC" panose="020B0200000000000000" charset="-122"/>
                            <a:sym typeface="Noto Sans SC" panose="020B0200000000000000" charset="-122"/>
                          </a:rPr>
                          <m:t>𝑆</m:t>
                        </m:r>
                      </m:e>
                      <m:sub>
                        <m:r>
                          <a:rPr lang="en-US" altLang="zh-CN" sz="1000" i="1">
                            <a:solidFill>
                              <a:srgbClr val="374151"/>
                            </a:solidFill>
                            <a:latin typeface="Cambria Math" panose="02040503050406030204" pitchFamily="18" charset="0"/>
                            <a:ea typeface="Noto Sans SC" panose="020B0200000000000000" charset="-122"/>
                            <a:sym typeface="Noto Sans SC" panose="020B0200000000000000" charset="-122"/>
                          </a:rPr>
                          <m:t>1</m:t>
                        </m:r>
                      </m:sub>
                    </m:sSub>
                    <m:r>
                      <a:rPr lang="zh-CN" altLang="en-US" sz="1000" i="1" smtClean="0">
                        <a:solidFill>
                          <a:srgbClr val="374151"/>
                        </a:solidFill>
                        <a:latin typeface="Cambria Math" panose="02040503050406030204" pitchFamily="18" charset="0"/>
                        <a:ea typeface="Noto Sans SC" panose="020B0200000000000000" charset="-122"/>
                        <a:sym typeface="Noto Sans SC" panose="020B0200000000000000" charset="-122"/>
                      </a:rPr>
                      <m:t>。</m:t>
                    </m:r>
                  </m:oMath>
                </a14:m>
                <a:r>
                  <a:rPr lang="en-US" altLang="zh-CN" sz="1000" dirty="0"/>
                  <a:t> </a:t>
                </a:r>
                <a:r>
                  <a:rPr lang="en-US" altLang="zh-CN" sz="1000" dirty="0">
                    <a:latin typeface="Times New Roman" panose="02020603050405020304" pitchFamily="18" charset="0"/>
                    <a:cs typeface="Times New Roman" panose="02020603050405020304" pitchFamily="18" charset="0"/>
                  </a:rPr>
                  <a:t>That is, for any feature </a:t>
                </a:r>
                <a14:m>
                  <m:oMath xmlns:m="http://schemas.openxmlformats.org/officeDocument/2006/math">
                    <m:r>
                      <a:rPr lang="en-US" altLang="zh-CN" sz="1000" dirty="0">
                        <a:latin typeface="Times New Roman" panose="02020603050405020304" pitchFamily="18" charset="0"/>
                        <a:cs typeface="Times New Roman" panose="02020603050405020304" pitchFamily="18" charset="0"/>
                        <a:sym typeface="Noto Sans SC" panose="020B0200000000000000" charset="-122"/>
                      </a:rPr>
                      <m:t>𝑗</m:t>
                    </m:r>
                    <m:r>
                      <a:rPr lang="en-US" altLang="zh-CN" sz="1000" dirty="0">
                        <a:latin typeface="Times New Roman" panose="02020603050405020304" pitchFamily="18" charset="0"/>
                        <a:cs typeface="Times New Roman" panose="02020603050405020304" pitchFamily="18" charset="0"/>
                        <a:sym typeface="Noto Sans SC" panose="020B0200000000000000" charset="-122"/>
                      </a:rPr>
                      <m:t> ,</m:t>
                    </m:r>
                  </m:oMath>
                </a14:m>
                <a:r>
                  <a:rPr lang="en-US" altLang="zh-CN" sz="1000" dirty="0">
                    <a:latin typeface="Times New Roman" panose="02020603050405020304" pitchFamily="18" charset="0"/>
                    <a:cs typeface="Times New Roman" panose="02020603050405020304" pitchFamily="18" charset="0"/>
                  </a:rPr>
                  <a:t>if it is a non-zero feature relevant to the response variable at one site, it must be relevant across all K sites, allowing only the effect size </a:t>
                </a:r>
                <a14:m>
                  <m:oMath xmlns:m="http://schemas.openxmlformats.org/officeDocument/2006/math">
                    <m:sSubSup>
                      <m:sSubSupPr>
                        <m:ctrlPr>
                          <a:rPr lang="en-US" altLang="zh-CN" sz="1000">
                            <a:latin typeface="Times New Roman" panose="02020603050405020304" pitchFamily="18" charset="0"/>
                            <a:cs typeface="Times New Roman" panose="02020603050405020304" pitchFamily="18" charset="0"/>
                            <a:sym typeface="Noto Sans SC" panose="020B0200000000000000" charset="-122"/>
                          </a:rPr>
                        </m:ctrlPr>
                      </m:sSubSupPr>
                      <m:e>
                        <m:r>
                          <a:rPr lang="zh-CN" altLang="en-US" sz="1000">
                            <a:latin typeface="Times New Roman" panose="02020603050405020304" pitchFamily="18" charset="0"/>
                            <a:cs typeface="Times New Roman" panose="02020603050405020304" pitchFamily="18" charset="0"/>
                            <a:sym typeface="Noto Sans SC" panose="020B0200000000000000" charset="-122"/>
                          </a:rPr>
                          <m:t>𝛿</m:t>
                        </m:r>
                      </m:e>
                      <m:sub>
                        <m:r>
                          <m:rPr>
                            <m:sty m:val="p"/>
                          </m:rPr>
                          <a:rPr lang="en-US" altLang="zh-CN" sz="1000">
                            <a:latin typeface="Times New Roman" panose="02020603050405020304" pitchFamily="18" charset="0"/>
                            <a:cs typeface="Times New Roman" panose="02020603050405020304" pitchFamily="18" charset="0"/>
                            <a:sym typeface="Noto Sans SC" panose="020B0200000000000000" charset="-122"/>
                          </a:rPr>
                          <m:t>j</m:t>
                        </m:r>
                      </m:sub>
                      <m:sup>
                        <m:r>
                          <a:rPr lang="en-US" altLang="zh-CN" sz="1000">
                            <a:latin typeface="Times New Roman" panose="02020603050405020304" pitchFamily="18" charset="0"/>
                            <a:cs typeface="Times New Roman" panose="02020603050405020304" pitchFamily="18" charset="0"/>
                            <a:sym typeface="Noto Sans SC" panose="020B0200000000000000" charset="-122"/>
                          </a:rPr>
                          <m:t>𝑘</m:t>
                        </m:r>
                      </m:sup>
                    </m:sSubSup>
                    <m:r>
                      <a:rPr lang="en-US" altLang="zh-CN" sz="1000">
                        <a:latin typeface="Times New Roman" panose="02020603050405020304" pitchFamily="18" charset="0"/>
                        <a:cs typeface="Times New Roman" panose="02020603050405020304" pitchFamily="18" charset="0"/>
                        <a:sym typeface="Noto Sans SC" panose="020B0200000000000000" charset="-122"/>
                      </a:rPr>
                      <m:t> </m:t>
                    </m:r>
                  </m:oMath>
                </a14:m>
                <a:r>
                  <a:rPr lang="en-US" altLang="zh-CN" sz="1000" dirty="0">
                    <a:latin typeface="Times New Roman" panose="02020603050405020304" pitchFamily="18" charset="0"/>
                    <a:cs typeface="Times New Roman" panose="02020603050405020304" pitchFamily="18" charset="0"/>
                  </a:rPr>
                  <a:t>to vary across sites. However, in real-world multi-center studies, as the number of sites increases, it is difficult to guarantee that the feature support sets of all sites overlap perfectly.</a:t>
                </a:r>
                <a:endParaRPr lang="en-US" sz="1000" dirty="0">
                  <a:latin typeface="Times New Roman" panose="02020603050405020304" pitchFamily="18" charset="0"/>
                  <a:cs typeface="Times New Roman" panose="02020603050405020304" pitchFamily="18" charset="0"/>
                  <a:sym typeface="Noto Sans SC" panose="020B0200000000000000" charset="-122"/>
                </a:endParaRPr>
              </a:p>
            </p:txBody>
          </p:sp>
        </mc:Choice>
        <mc:Fallback>
          <p:sp>
            <p:nvSpPr>
              <p:cNvPr id="8" name="AutoShape 8"/>
              <p:cNvSpPr>
                <a:spLocks noRot="1" noChangeAspect="1" noMove="1" noResize="1" noEditPoints="1" noAdjustHandles="1" noChangeArrowheads="1" noChangeShapeType="1" noTextEdit="1"/>
              </p:cNvSpPr>
              <p:nvPr/>
            </p:nvSpPr>
            <p:spPr>
              <a:xfrm>
                <a:off x="571500" y="1995320"/>
                <a:ext cx="3583781" cy="777179"/>
              </a:xfrm>
              <a:prstGeom prst="rect">
                <a:avLst/>
              </a:prstGeom>
              <a:blipFill rotWithShape="1">
                <a:blip r:embed="rId2"/>
                <a:stretch>
                  <a:fillRect t="-32865" r="13" b="-32834"/>
                </a:stretch>
              </a:blipFill>
              <a:ln w="12700" cap="flat" cmpd="sng">
                <a:noFill/>
                <a:prstDash val="solid"/>
                <a:round/>
              </a:ln>
            </p:spPr>
            <p:txBody>
              <a:bodyPr/>
              <a:lstStyle/>
              <a:p>
                <a:r>
                  <a:rPr lang="zh-CN" altLang="en-US">
                    <a:noFill/>
                  </a:rPr>
                  <a:t> </a:t>
                </a:r>
              </a:p>
            </p:txBody>
          </p:sp>
        </mc:Fallback>
      </mc:AlternateContent>
      <p:grpSp>
        <p:nvGrpSpPr>
          <p:cNvPr id="23" name="组合 22"/>
          <p:cNvGrpSpPr/>
          <p:nvPr/>
        </p:nvGrpSpPr>
        <p:grpSpPr>
          <a:xfrm>
            <a:off x="408247" y="3136523"/>
            <a:ext cx="3878003" cy="1935212"/>
            <a:chOff x="571500" y="3095625"/>
            <a:chExt cx="3549185" cy="1095375"/>
          </a:xfrm>
        </p:grpSpPr>
        <p:sp>
          <p:nvSpPr>
            <p:cNvPr id="9" name="AutoShape 9"/>
            <p:cNvSpPr/>
            <p:nvPr/>
          </p:nvSpPr>
          <p:spPr>
            <a:xfrm>
              <a:off x="571500" y="3095625"/>
              <a:ext cx="3524250" cy="1095375"/>
            </a:xfrm>
            <a:prstGeom prst="roundRect">
              <a:avLst>
                <a:gd name="adj" fmla="val 6956"/>
              </a:avLst>
            </a:prstGeom>
            <a:solidFill>
              <a:srgbClr val="FFA726">
                <a:alpha val="10000"/>
              </a:srgbClr>
            </a:solidFill>
            <a:ln w="25400" cap="flat" cmpd="sng">
              <a:noFill/>
              <a:prstDash val="solid"/>
              <a:round/>
            </a:ln>
          </p:spPr>
          <p:txBody>
            <a:bodyPr vert="horz" wrap="square" lIns="47625" tIns="47625" rIns="47625" bIns="47625" rtlCol="0" anchor="ctr"/>
            <a:lstStyle/>
            <a:p>
              <a:pPr algn="ctr">
                <a:defRPr/>
              </a:pPr>
              <a:endParaRPr sz="1350"/>
            </a:p>
          </p:txBody>
        </p:sp>
        <p:sp>
          <p:nvSpPr>
            <p:cNvPr id="10" name="AutoShape 10"/>
            <p:cNvSpPr/>
            <p:nvPr/>
          </p:nvSpPr>
          <p:spPr>
            <a:xfrm>
              <a:off x="666750" y="3141019"/>
              <a:ext cx="3453935" cy="310981"/>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975" b="1" dirty="0">
                  <a:solidFill>
                    <a:srgbClr val="E65100"/>
                  </a:solidFill>
                  <a:latin typeface="Noto Sans SC" panose="020B0200000000000000" charset="-122"/>
                  <a:ea typeface="Noto Sans SC" panose="020B0200000000000000" charset="-122"/>
                  <a:cs typeface="Noto Sans SC" panose="020B0200000000000000" charset="-122"/>
                  <a:sym typeface="Noto Sans SC" panose="020B0200000000000000" charset="-122"/>
                </a:rPr>
                <a:t>This section’s </a:t>
              </a:r>
              <a:r>
                <a:rPr lang="en-US" altLang="zh-CN" sz="975" b="1" dirty="0" err="1">
                  <a:solidFill>
                    <a:srgbClr val="E65100"/>
                  </a:solidFill>
                  <a:latin typeface="Noto Sans SC" panose="020B0200000000000000" charset="-122"/>
                  <a:ea typeface="Noto Sans SC" panose="020B0200000000000000" charset="-122"/>
                  <a:cs typeface="Noto Sans SC" panose="020B0200000000000000" charset="-122"/>
                  <a:sym typeface="Noto Sans SC" panose="020B0200000000000000" charset="-122"/>
                </a:rPr>
                <a:t>perpose</a:t>
              </a:r>
              <a:r>
                <a:rPr lang="zh-CN" altLang="en-US" sz="975" b="1" dirty="0">
                  <a:solidFill>
                    <a:srgbClr val="E651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altLang="zh-CN" sz="975" b="1" dirty="0">
                <a:solidFill>
                  <a:srgbClr val="E651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nSpc>
                  <a:spcPct val="125000"/>
                </a:lnSpc>
                <a:defRPr/>
              </a:pPr>
              <a:r>
                <a:rPr lang="en-US" altLang="zh-CN" sz="1000" dirty="0">
                  <a:latin typeface="Times New Roman" panose="02020603050405020304" pitchFamily="18" charset="0"/>
                  <a:cs typeface="Times New Roman" panose="02020603050405020304" pitchFamily="18" charset="0"/>
                </a:rPr>
                <a:t>In the realistic scenario of heterogeneous support sets, we define two core research objectives and evaluate Fed-FDR's FDR control and statistical power under each objective.</a:t>
              </a:r>
              <a:endParaRPr lang="en-US" altLang="zh-CN" sz="1000" dirty="0">
                <a:latin typeface="Times New Roman" panose="02020603050405020304" pitchFamily="18" charset="0"/>
                <a:cs typeface="Times New Roman" panose="02020603050405020304" pitchFamily="18" charset="0"/>
                <a:sym typeface="Noto Sans SC" panose="020B0200000000000000" charset="-122"/>
              </a:endParaRPr>
            </a:p>
          </p:txBody>
        </p:sp>
      </p:grpSp>
      <p:sp>
        <p:nvSpPr>
          <p:cNvPr id="12" name="AutoShape 12"/>
          <p:cNvSpPr/>
          <p:nvPr/>
        </p:nvSpPr>
        <p:spPr>
          <a:xfrm>
            <a:off x="4341021" y="1524000"/>
            <a:ext cx="4707286" cy="3614542"/>
          </a:xfrm>
          <a:prstGeom prst="roundRect">
            <a:avLst>
              <a:gd name="adj" fmla="val 3582"/>
            </a:avLst>
          </a:prstGeom>
          <a:solidFill>
            <a:srgbClr val="FFFFFF">
              <a:alpha val="100000"/>
            </a:srgbClr>
          </a:solidFill>
          <a:ln w="25400" cap="flat" cmpd="sng">
            <a:noFill/>
            <a:prstDash val="solid"/>
            <a:round/>
          </a:ln>
          <a:effectLst>
            <a:outerShdw blurRad="127000" dist="50800" dir="2700000" algn="tl" rotWithShape="0">
              <a:srgbClr val="000000">
                <a:alpha val="6000"/>
              </a:srgbClr>
            </a:outerShdw>
          </a:effectLst>
        </p:spPr>
        <p:txBody>
          <a:bodyPr vert="horz" wrap="square" lIns="47625" tIns="47625" rIns="47625" bIns="47625" rtlCol="0" anchor="ctr"/>
          <a:lstStyle/>
          <a:p>
            <a:pPr algn="ctr">
              <a:defRPr/>
            </a:pPr>
            <a:endParaRPr sz="1350"/>
          </a:p>
        </p:txBody>
      </p:sp>
      <p:sp>
        <p:nvSpPr>
          <p:cNvPr id="14" name="AutoShape 14"/>
          <p:cNvSpPr/>
          <p:nvPr/>
        </p:nvSpPr>
        <p:spPr>
          <a:xfrm>
            <a:off x="4524143" y="1476376"/>
            <a:ext cx="4304341" cy="1238247"/>
          </a:xfrm>
          <a:prstGeom prst="roundRect">
            <a:avLst>
              <a:gd name="adj" fmla="val 9230"/>
            </a:avLst>
          </a:prstGeom>
          <a:solidFill>
            <a:srgbClr val="F3F4F6">
              <a:alpha val="100000"/>
            </a:srgbClr>
          </a:solidFill>
          <a:ln w="25400" cap="flat" cmpd="sng">
            <a:noFill/>
            <a:prstDash val="solid"/>
            <a:round/>
          </a:ln>
        </p:spPr>
        <p:txBody>
          <a:bodyPr vert="horz" wrap="square" lIns="47625" tIns="47625" rIns="47625" bIns="47625" rtlCol="0" anchor="ctr"/>
          <a:lstStyle/>
          <a:p>
            <a:pPr algn="ctr">
              <a:defRPr/>
            </a:pPr>
            <a:endParaRPr sz="1350"/>
          </a:p>
        </p:txBody>
      </p:sp>
      <p:sp>
        <p:nvSpPr>
          <p:cNvPr id="16" name="AutoShape 16"/>
          <p:cNvSpPr/>
          <p:nvPr/>
        </p:nvSpPr>
        <p:spPr>
          <a:xfrm>
            <a:off x="4476750" y="2762250"/>
            <a:ext cx="2047875" cy="1095375"/>
          </a:xfrm>
          <a:prstGeom prst="roundRect">
            <a:avLst>
              <a:gd name="adj" fmla="val 6956"/>
            </a:avLst>
          </a:prstGeom>
          <a:solidFill>
            <a:srgbClr val="2196F3">
              <a:alpha val="8000"/>
            </a:srgbClr>
          </a:solidFill>
          <a:ln w="25400" cap="flat" cmpd="sng">
            <a:noFill/>
            <a:prstDash val="solid"/>
            <a:round/>
          </a:ln>
        </p:spPr>
        <p:txBody>
          <a:bodyPr vert="horz" wrap="square" lIns="47625" tIns="47625" rIns="47625" bIns="47625" rtlCol="0" anchor="ctr"/>
          <a:lstStyle/>
          <a:p>
            <a:pPr algn="ctr">
              <a:defRPr/>
            </a:pPr>
            <a:endParaRPr sz="1350"/>
          </a:p>
        </p:txBody>
      </p:sp>
      <p:sp>
        <p:nvSpPr>
          <p:cNvPr id="17" name="AutoShape 17"/>
          <p:cNvSpPr/>
          <p:nvPr/>
        </p:nvSpPr>
        <p:spPr>
          <a:xfrm>
            <a:off x="4476750" y="2857500"/>
            <a:ext cx="2099487" cy="9525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1000" b="1" dirty="0">
                <a:solidFill>
                  <a:schemeClr val="accent1"/>
                </a:solidFill>
                <a:latin typeface="Times New Roman" panose="02020603050405020304" pitchFamily="18" charset="0"/>
                <a:cs typeface="Times New Roman" panose="02020603050405020304" pitchFamily="18" charset="0"/>
              </a:rPr>
              <a:t>Target A: Lock Core Commonalities</a:t>
            </a:r>
            <a:endParaRPr lang="en-US" altLang="zh-CN" sz="1000" b="1" dirty="0">
              <a:solidFill>
                <a:schemeClr val="accent1"/>
              </a:solidFill>
              <a:latin typeface="Times New Roman" panose="02020603050405020304" pitchFamily="18" charset="0"/>
              <a:cs typeface="Times New Roman" panose="02020603050405020304" pitchFamily="18" charset="0"/>
            </a:endParaRPr>
          </a:p>
          <a:p>
            <a:pPr>
              <a:lnSpc>
                <a:spcPct val="125000"/>
              </a:lnSpc>
              <a:defRPr/>
            </a:pPr>
            <a:r>
              <a:rPr lang="en-US" altLang="zh-CN" sz="1000" dirty="0">
                <a:latin typeface="Times New Roman" panose="02020603050405020304" pitchFamily="18" charset="0"/>
                <a:cs typeface="Times New Roman" panose="02020603050405020304" pitchFamily="18" charset="0"/>
              </a:rPr>
              <a:t>Select only features recognized by the majority of </a:t>
            </a:r>
            <a:r>
              <a:rPr lang="en-US" altLang="zh-CN" sz="1000" dirty="0" err="1">
                <a:latin typeface="Times New Roman" panose="02020603050405020304" pitchFamily="18" charset="0"/>
                <a:cs typeface="Times New Roman" panose="02020603050405020304" pitchFamily="18" charset="0"/>
              </a:rPr>
              <a:t>sites.FDR</a:t>
            </a:r>
            <a:r>
              <a:rPr lang="en-US" altLang="zh-CN" sz="1000" dirty="0">
                <a:latin typeface="Times New Roman" panose="02020603050405020304" pitchFamily="18" charset="0"/>
                <a:cs typeface="Times New Roman" panose="02020603050405020304" pitchFamily="18" charset="0"/>
              </a:rPr>
              <a:t> increases slightly, while power remains at 100%.</a:t>
            </a:r>
            <a:br>
              <a:rPr lang="en-US" sz="1000" dirty="0">
                <a:solidFill>
                  <a:srgbClr val="1F2329"/>
                </a:solidFill>
                <a:latin typeface="等线" panose="02010600030101010101" charset="-122"/>
                <a:ea typeface="等线" panose="02010600030101010101" charset="-122"/>
                <a:cs typeface="Noto Sans SC" panose="020B0200000000000000" charset="-122"/>
                <a:sym typeface="Noto Sans SC" panose="020B0200000000000000" charset="-122"/>
              </a:rPr>
            </a:br>
            <a:r>
              <a:rPr lang="en-US" altLang="zh-CN" sz="1000" dirty="0">
                <a:latin typeface="Times New Roman" panose="02020603050405020304" pitchFamily="18" charset="0"/>
                <a:cs typeface="Times New Roman" panose="02020603050405020304" pitchFamily="18" charset="0"/>
              </a:rPr>
              <a:t>Reason: Strong signals always selected, few weak signals mixed in.</a:t>
            </a:r>
            <a:endParaRPr lang="en-US" sz="1000" dirty="0">
              <a:latin typeface="Times New Roman" panose="02020603050405020304" pitchFamily="18" charset="0"/>
              <a:cs typeface="Times New Roman" panose="02020603050405020304" pitchFamily="18" charset="0"/>
              <a:sym typeface="Noto Sans SC" panose="020B0200000000000000" charset="-122"/>
            </a:endParaRPr>
          </a:p>
        </p:txBody>
      </p:sp>
      <p:sp>
        <p:nvSpPr>
          <p:cNvPr id="18" name="AutoShape 18"/>
          <p:cNvSpPr/>
          <p:nvPr/>
        </p:nvSpPr>
        <p:spPr>
          <a:xfrm>
            <a:off x="6576237" y="2762250"/>
            <a:ext cx="2275367" cy="1095375"/>
          </a:xfrm>
          <a:prstGeom prst="roundRect">
            <a:avLst>
              <a:gd name="adj" fmla="val 6956"/>
            </a:avLst>
          </a:prstGeom>
          <a:solidFill>
            <a:srgbClr val="4CAF50">
              <a:alpha val="8000"/>
            </a:srgbClr>
          </a:solidFill>
          <a:ln w="25400" cap="flat" cmpd="sng">
            <a:noFill/>
            <a:prstDash val="solid"/>
            <a:round/>
          </a:ln>
        </p:spPr>
        <p:txBody>
          <a:bodyPr vert="horz" wrap="square" lIns="47625" tIns="47625" rIns="47625" bIns="47625" rtlCol="0" anchor="ctr"/>
          <a:lstStyle/>
          <a:p>
            <a:pPr algn="ctr">
              <a:defRPr/>
            </a:pPr>
            <a:endParaRPr sz="1350"/>
          </a:p>
        </p:txBody>
      </p:sp>
      <p:sp>
        <p:nvSpPr>
          <p:cNvPr id="19" name="AutoShape 19"/>
          <p:cNvSpPr/>
          <p:nvPr/>
        </p:nvSpPr>
        <p:spPr>
          <a:xfrm>
            <a:off x="6627850" y="2857500"/>
            <a:ext cx="2356662" cy="9525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1000" b="1" dirty="0">
                <a:solidFill>
                  <a:schemeClr val="accent6">
                    <a:lumMod val="75000"/>
                  </a:schemeClr>
                </a:solidFill>
              </a:rPr>
              <a:t>Target B: Mine Potential Signals</a:t>
            </a:r>
            <a:endParaRPr lang="en-US" altLang="zh-CN" sz="1000" b="1" dirty="0">
              <a:solidFill>
                <a:schemeClr val="accent6">
                  <a:lumMod val="75000"/>
                </a:schemeClr>
              </a:solidFill>
            </a:endParaRPr>
          </a:p>
          <a:p>
            <a:pPr>
              <a:lnSpc>
                <a:spcPct val="125000"/>
              </a:lnSpc>
              <a:defRPr/>
            </a:pPr>
            <a:r>
              <a:rPr lang="en-US" altLang="zh-CN" sz="1000" dirty="0">
                <a:latin typeface="Times New Roman" panose="02020603050405020304" pitchFamily="18" charset="0"/>
                <a:cs typeface="Times New Roman" panose="02020603050405020304" pitchFamily="18" charset="0"/>
              </a:rPr>
              <a:t>Include features recognized even by a minority of sites. FDR is strictly controlled, while power drops slightly.</a:t>
            </a:r>
            <a:br>
              <a:rPr lang="en-US" sz="1000" dirty="0">
                <a:latin typeface="Times New Roman" panose="02020603050405020304" pitchFamily="18" charset="0"/>
                <a:cs typeface="Times New Roman" panose="02020603050405020304" pitchFamily="18" charset="0"/>
                <a:sym typeface="Noto Sans SC" panose="020B0200000000000000" charset="-122"/>
              </a:rPr>
            </a:br>
            <a:r>
              <a:rPr lang="en-US" altLang="zh-CN" sz="1000" dirty="0">
                <a:latin typeface="Times New Roman" panose="02020603050405020304" pitchFamily="18" charset="0"/>
                <a:cs typeface="Times New Roman" panose="02020603050405020304" pitchFamily="18" charset="0"/>
              </a:rPr>
              <a:t>Reason: Prevents missing weak signals while strictly controlling false positive interference.</a:t>
            </a:r>
            <a:endParaRPr lang="en-US" sz="1000" dirty="0">
              <a:latin typeface="Times New Roman" panose="02020603050405020304" pitchFamily="18" charset="0"/>
              <a:cs typeface="Times New Roman" panose="02020603050405020304" pitchFamily="18" charset="0"/>
              <a:sym typeface="Noto Sans SC" panose="020B0200000000000000" charset="-122"/>
            </a:endParaRPr>
          </a:p>
        </p:txBody>
      </p:sp>
      <p:sp>
        <p:nvSpPr>
          <p:cNvPr id="20" name="AutoShape 20"/>
          <p:cNvSpPr/>
          <p:nvPr/>
        </p:nvSpPr>
        <p:spPr>
          <a:xfrm>
            <a:off x="4476750" y="3905251"/>
            <a:ext cx="4374854" cy="1166484"/>
          </a:xfrm>
          <a:prstGeom prst="roundRect">
            <a:avLst>
              <a:gd name="adj" fmla="val 11428"/>
            </a:avLst>
          </a:prstGeom>
          <a:solidFill>
            <a:srgbClr val="9C27B0">
              <a:alpha val="6000"/>
            </a:srgbClr>
          </a:solidFill>
          <a:ln w="25400" cap="flat" cmpd="sng">
            <a:noFill/>
            <a:prstDash val="solid"/>
            <a:round/>
          </a:ln>
        </p:spPr>
        <p:txBody>
          <a:bodyPr vert="horz" wrap="square" lIns="47625" tIns="47625" rIns="47625" bIns="47625" rtlCol="0" anchor="ctr"/>
          <a:lstStyle/>
          <a:p>
            <a:pPr algn="ctr">
              <a:defRPr/>
            </a:pPr>
            <a:endParaRPr sz="1350"/>
          </a:p>
        </p:txBody>
      </p:sp>
      <p:sp>
        <p:nvSpPr>
          <p:cNvPr id="21" name="AutoShape 21"/>
          <p:cNvSpPr/>
          <p:nvPr/>
        </p:nvSpPr>
        <p:spPr>
          <a:xfrm>
            <a:off x="4524142" y="4000499"/>
            <a:ext cx="4300215" cy="975537"/>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000" b="1" dirty="0">
                <a:solidFill>
                  <a:srgbClr val="4A148C"/>
                </a:solidFill>
                <a:latin typeface="等线" panose="02010600030101010101" charset="-122"/>
                <a:ea typeface="等线" panose="02010600030101010101" charset="-122"/>
                <a:cs typeface="Noto Sans SC" panose="020B0200000000000000" charset="-122"/>
                <a:sym typeface="Noto Sans SC" panose="020B0200000000000000" charset="-122"/>
              </a:rPr>
              <a:t>Fed-FDR </a:t>
            </a:r>
            <a:r>
              <a:rPr lang="en-US" altLang="zh-CN" sz="1000" b="1" dirty="0">
                <a:solidFill>
                  <a:srgbClr val="4A148C"/>
                </a:solidFill>
                <a:latin typeface="等线" panose="02010600030101010101" charset="-122"/>
                <a:ea typeface="等线" panose="02010600030101010101" charset="-122"/>
              </a:rPr>
              <a:t>Core Advantages </a:t>
            </a:r>
            <a:r>
              <a:rPr lang="en-US" sz="1000" b="1" dirty="0">
                <a:solidFill>
                  <a:srgbClr val="4A148C"/>
                </a:solidFill>
                <a:latin typeface="等线" panose="02010600030101010101" charset="-122"/>
                <a:ea typeface="等线" panose="02010600030101010101" charset="-122"/>
                <a:sym typeface="Noto Sans SC" panose="020B0200000000000000" charset="-122"/>
              </a:rPr>
              <a:t>：</a:t>
            </a:r>
            <a:endParaRPr lang="en-US" sz="1000" b="1" dirty="0">
              <a:solidFill>
                <a:srgbClr val="4A148C"/>
              </a:solidFill>
              <a:latin typeface="等线" panose="02010600030101010101" charset="-122"/>
              <a:ea typeface="等线" panose="02010600030101010101" charset="-122"/>
            </a:endParaRPr>
          </a:p>
          <a:p>
            <a:r>
              <a:rPr lang="en-US" altLang="zh-CN" sz="1000" dirty="0">
                <a:latin typeface="Times New Roman" panose="02020603050405020304" pitchFamily="18" charset="0"/>
                <a:cs typeface="Times New Roman" panose="02020603050405020304" pitchFamily="18" charset="0"/>
              </a:rPr>
              <a:t>No need to pre-specify the degree of heterogeneity; the algorithm automatically </a:t>
            </a:r>
            <a:r>
              <a:rPr lang="en-US" altLang="zh-CN" sz="1000" dirty="0" err="1">
                <a:latin typeface="Times New Roman" panose="02020603050405020304" pitchFamily="18" charset="0"/>
                <a:cs typeface="Times New Roman" panose="02020603050405020304" pitchFamily="18" charset="0"/>
              </a:rPr>
              <a:t>adapts.Provides</a:t>
            </a:r>
            <a:r>
              <a:rPr lang="en-US" altLang="zh-CN" sz="1000" dirty="0">
                <a:latin typeface="Times New Roman" panose="02020603050405020304" pitchFamily="18" charset="0"/>
                <a:cs typeface="Times New Roman" panose="02020603050405020304" pitchFamily="18" charset="0"/>
              </a:rPr>
              <a:t> clear statistical performance boundaries with interpretable </a:t>
            </a:r>
            <a:r>
              <a:rPr lang="en-US" altLang="zh-CN" sz="1000" dirty="0" err="1">
                <a:latin typeface="Times New Roman" panose="02020603050405020304" pitchFamily="18" charset="0"/>
                <a:cs typeface="Times New Roman" panose="02020603050405020304" pitchFamily="18" charset="0"/>
              </a:rPr>
              <a:t>results.A</a:t>
            </a:r>
            <a:r>
              <a:rPr lang="en-US" altLang="zh-CN" sz="1000" dirty="0">
                <a:latin typeface="Times New Roman" panose="02020603050405020304" pitchFamily="18" charset="0"/>
                <a:cs typeface="Times New Roman" panose="02020603050405020304" pitchFamily="18" charset="0"/>
              </a:rPr>
              <a:t> single algorithm flexibly switches between "identifying commonalities" and "identifying the full set," balancing research efficiency and scientific </a:t>
            </a:r>
            <a:r>
              <a:rPr lang="en-US" altLang="zh-CN" sz="1000" dirty="0" err="1">
                <a:latin typeface="Times New Roman" panose="02020603050405020304" pitchFamily="18" charset="0"/>
                <a:cs typeface="Times New Roman" panose="02020603050405020304" pitchFamily="18" charset="0"/>
              </a:rPr>
              <a:t>rigor.Fed</a:t>
            </a:r>
            <a:r>
              <a:rPr lang="en-US" altLang="zh-CN" sz="1000" dirty="0">
                <a:latin typeface="Times New Roman" panose="02020603050405020304" pitchFamily="18" charset="0"/>
                <a:cs typeface="Times New Roman" panose="02020603050405020304" pitchFamily="18" charset="0"/>
              </a:rPr>
              <a:t>-FDR can accurately tackle this "heterogeneity" challenge without pre-specifying data distributions.</a:t>
            </a:r>
            <a:endParaRPr lang="en-US" altLang="zh-CN" sz="1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5" name="文本框 24"/>
              <p:cNvSpPr txBox="1"/>
              <p:nvPr/>
            </p:nvSpPr>
            <p:spPr>
              <a:xfrm>
                <a:off x="4598787" y="1480343"/>
                <a:ext cx="4327461" cy="1329531"/>
              </a:xfrm>
              <a:prstGeom prst="rect">
                <a:avLst/>
              </a:prstGeom>
              <a:noFill/>
            </p:spPr>
            <p:txBody>
              <a:bodyPr wrap="square" rtlCol="0">
                <a:spAutoFit/>
              </a:bodyPr>
              <a:lstStyle/>
              <a:p>
                <a:pPr marL="228600" indent="-228600">
                  <a:lnSpc>
                    <a:spcPct val="125000"/>
                  </a:lnSpc>
                  <a:buAutoNum type="circleNumDbPlain"/>
                </a:pPr>
                <a14:m>
                  <m:oMath xmlns:m="http://schemas.openxmlformats.org/officeDocument/2006/math">
                    <m:sSub>
                      <m:sSubPr>
                        <m:ctrlPr>
                          <a:rPr lang="en-US" altLang="zh-CN" sz="1000" b="1">
                            <a:solidFill>
                              <a:srgbClr val="374151"/>
                            </a:solidFill>
                            <a:latin typeface="Cambria Math" panose="02040503050406030204" pitchFamily="18" charset="0"/>
                            <a:ea typeface="Noto Sans SC" panose="020B0200000000000000" charset="-122"/>
                            <a:sym typeface="Noto Sans SC" panose="020B0200000000000000" charset="-122"/>
                          </a:rPr>
                        </m:ctrlPr>
                      </m:sSubPr>
                      <m:e>
                        <m:r>
                          <a:rPr lang="en-US" altLang="zh-CN" sz="1000" b="1" i="0">
                            <a:solidFill>
                              <a:srgbClr val="374151"/>
                            </a:solidFill>
                            <a:latin typeface="Cambria Math" panose="02040503050406030204" pitchFamily="18" charset="0"/>
                            <a:ea typeface="Noto Sans SC" panose="020B0200000000000000" charset="-122"/>
                            <a:sym typeface="Noto Sans SC" panose="020B0200000000000000" charset="-122"/>
                          </a:rPr>
                          <m:t>𝐒</m:t>
                        </m:r>
                      </m:e>
                      <m:sub>
                        <m:r>
                          <a:rPr lang="en-US" altLang="zh-CN" sz="1000" b="1" i="0">
                            <a:solidFill>
                              <a:srgbClr val="374151"/>
                            </a:solidFill>
                            <a:latin typeface="Cambria Math" panose="02040503050406030204" pitchFamily="18" charset="0"/>
                            <a:ea typeface="Noto Sans SC" panose="020B0200000000000000" charset="-122"/>
                            <a:sym typeface="Noto Sans SC" panose="020B0200000000000000" charset="-122"/>
                          </a:rPr>
                          <m:t>𝟏</m:t>
                        </m:r>
                      </m:sub>
                    </m:sSub>
                    <m:r>
                      <a:rPr lang="en-US" altLang="zh-CN" sz="1000" b="1" i="0">
                        <a:solidFill>
                          <a:srgbClr val="374151"/>
                        </a:solidFill>
                        <a:latin typeface="Cambria Math" panose="02040503050406030204" pitchFamily="18" charset="0"/>
                        <a:ea typeface="Noto Sans SC" panose="020B0200000000000000" charset="-122"/>
                        <a:sym typeface="Noto Sans SC" panose="020B0200000000000000" charset="-122"/>
                      </a:rPr>
                      <m:t>=</m:t>
                    </m:r>
                    <m:nary>
                      <m:naryPr>
                        <m:chr m:val="⋂"/>
                        <m:supHide m:val="on"/>
                        <m:ctrlPr>
                          <a:rPr lang="en-US" altLang="zh-CN" sz="1000" b="1" smtClean="0">
                            <a:solidFill>
                              <a:srgbClr val="374151"/>
                            </a:solidFill>
                            <a:latin typeface="Cambria Math" panose="02040503050406030204" pitchFamily="18" charset="0"/>
                            <a:ea typeface="Noto Sans SC" panose="020B0200000000000000" charset="-122"/>
                            <a:sym typeface="Noto Sans SC" panose="020B0200000000000000" charset="-122"/>
                          </a:rPr>
                        </m:ctrlPr>
                      </m:naryPr>
                      <m:sub>
                        <m:r>
                          <m:rPr>
                            <m:brk m:alnAt="7"/>
                          </m:rPr>
                          <a:rPr lang="en-US" altLang="zh-CN" sz="1000" b="1" i="0">
                            <a:solidFill>
                              <a:srgbClr val="374151"/>
                            </a:solidFill>
                            <a:latin typeface="Cambria Math" panose="02040503050406030204" pitchFamily="18" charset="0"/>
                            <a:ea typeface="Noto Sans SC" panose="020B0200000000000000" charset="-122"/>
                            <a:sym typeface="Noto Sans SC" panose="020B0200000000000000" charset="-122"/>
                          </a:rPr>
                          <m:t>𝟏</m:t>
                        </m:r>
                        <m:r>
                          <a:rPr lang="en-US" altLang="zh-CN" sz="1000" b="1" i="0">
                            <a:solidFill>
                              <a:srgbClr val="374151"/>
                            </a:solidFill>
                            <a:latin typeface="Cambria Math" panose="02040503050406030204" pitchFamily="18" charset="0"/>
                            <a:ea typeface="Cambria Math" panose="02040503050406030204" pitchFamily="18" charset="0"/>
                            <a:sym typeface="Noto Sans SC" panose="020B0200000000000000" charset="-122"/>
                          </a:rPr>
                          <m:t>≤</m:t>
                        </m:r>
                        <m:r>
                          <a:rPr lang="en-US" altLang="zh-CN" sz="1000" b="1" i="0">
                            <a:solidFill>
                              <a:srgbClr val="374151"/>
                            </a:solidFill>
                            <a:latin typeface="Cambria Math" panose="02040503050406030204" pitchFamily="18" charset="0"/>
                            <a:ea typeface="Cambria Math" panose="02040503050406030204" pitchFamily="18" charset="0"/>
                            <a:sym typeface="Noto Sans SC" panose="020B0200000000000000" charset="-122"/>
                          </a:rPr>
                          <m:t>𝐤</m:t>
                        </m:r>
                        <m:r>
                          <a:rPr lang="en-US" altLang="zh-CN" sz="1000" b="1" i="0">
                            <a:solidFill>
                              <a:srgbClr val="374151"/>
                            </a:solidFill>
                            <a:latin typeface="Cambria Math" panose="02040503050406030204" pitchFamily="18" charset="0"/>
                            <a:ea typeface="Cambria Math" panose="02040503050406030204" pitchFamily="18" charset="0"/>
                            <a:sym typeface="Noto Sans SC" panose="020B0200000000000000" charset="-122"/>
                          </a:rPr>
                          <m:t>≤</m:t>
                        </m:r>
                        <m:r>
                          <a:rPr lang="en-US" altLang="zh-CN" sz="1000" b="1" i="0">
                            <a:solidFill>
                              <a:srgbClr val="374151"/>
                            </a:solidFill>
                            <a:latin typeface="Cambria Math" panose="02040503050406030204" pitchFamily="18" charset="0"/>
                            <a:ea typeface="Cambria Math" panose="02040503050406030204" pitchFamily="18" charset="0"/>
                            <a:sym typeface="Noto Sans SC" panose="020B0200000000000000" charset="-122"/>
                          </a:rPr>
                          <m:t>𝐊</m:t>
                        </m:r>
                      </m:sub>
                      <m:sup/>
                      <m:e>
                        <m:sSubSup>
                          <m:sSubSupPr>
                            <m:ctrlPr>
                              <a:rPr lang="en-US" altLang="zh-CN" sz="1000" b="1">
                                <a:solidFill>
                                  <a:srgbClr val="374151"/>
                                </a:solidFill>
                                <a:latin typeface="Cambria Math" panose="02040503050406030204" pitchFamily="18" charset="0"/>
                                <a:ea typeface="Noto Sans SC" panose="020B0200000000000000" charset="-122"/>
                                <a:sym typeface="Noto Sans SC" panose="020B0200000000000000" charset="-122"/>
                              </a:rPr>
                            </m:ctrlPr>
                          </m:sSubSupPr>
                          <m:e>
                            <m:r>
                              <a:rPr lang="en-US" altLang="zh-CN" sz="1000" b="1" i="0">
                                <a:solidFill>
                                  <a:srgbClr val="374151"/>
                                </a:solidFill>
                                <a:latin typeface="Cambria Math" panose="02040503050406030204" pitchFamily="18" charset="0"/>
                                <a:ea typeface="Noto Sans SC" panose="020B0200000000000000" charset="-122"/>
                                <a:sym typeface="Noto Sans SC" panose="020B0200000000000000" charset="-122"/>
                              </a:rPr>
                              <m:t>𝐒</m:t>
                            </m:r>
                          </m:e>
                          <m:sub>
                            <m:r>
                              <a:rPr lang="en-US" altLang="zh-CN" sz="1000" b="1" i="0">
                                <a:solidFill>
                                  <a:srgbClr val="374151"/>
                                </a:solidFill>
                                <a:latin typeface="Cambria Math" panose="02040503050406030204" pitchFamily="18" charset="0"/>
                                <a:ea typeface="Noto Sans SC" panose="020B0200000000000000" charset="-122"/>
                                <a:sym typeface="Noto Sans SC" panose="020B0200000000000000" charset="-122"/>
                              </a:rPr>
                              <m:t>𝟏</m:t>
                            </m:r>
                          </m:sub>
                          <m:sup>
                            <m:r>
                              <a:rPr lang="en-US" altLang="zh-CN" sz="1000" b="1" i="0">
                                <a:solidFill>
                                  <a:srgbClr val="374151"/>
                                </a:solidFill>
                                <a:latin typeface="Cambria Math" panose="02040503050406030204" pitchFamily="18" charset="0"/>
                                <a:ea typeface="Noto Sans SC" panose="020B0200000000000000" charset="-122"/>
                                <a:sym typeface="Noto Sans SC" panose="020B0200000000000000" charset="-122"/>
                              </a:rPr>
                              <m:t>(</m:t>
                            </m:r>
                            <m:r>
                              <a:rPr lang="en-US" altLang="zh-CN" sz="1000" b="1" i="0">
                                <a:solidFill>
                                  <a:srgbClr val="374151"/>
                                </a:solidFill>
                                <a:latin typeface="Cambria Math" panose="02040503050406030204" pitchFamily="18" charset="0"/>
                                <a:ea typeface="Noto Sans SC" panose="020B0200000000000000" charset="-122"/>
                                <a:sym typeface="Noto Sans SC" panose="020B0200000000000000" charset="-122"/>
                              </a:rPr>
                              <m:t>𝐤</m:t>
                            </m:r>
                            <m:r>
                              <a:rPr lang="en-US" altLang="zh-CN" sz="1000" b="1" i="0">
                                <a:solidFill>
                                  <a:srgbClr val="374151"/>
                                </a:solidFill>
                                <a:latin typeface="Cambria Math" panose="02040503050406030204" pitchFamily="18" charset="0"/>
                                <a:ea typeface="Noto Sans SC" panose="020B0200000000000000" charset="-122"/>
                                <a:sym typeface="Noto Sans SC" panose="020B0200000000000000" charset="-122"/>
                              </a:rPr>
                              <m:t>)</m:t>
                            </m:r>
                          </m:sup>
                        </m:sSubSup>
                      </m:e>
                    </m:nary>
                  </m:oMath>
                </a14:m>
                <a:r>
                  <a:rPr lang="en-US" altLang="zh-CN" sz="1000"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000" dirty="0">
                    <a:latin typeface="Times New Roman" panose="02020603050405020304" pitchFamily="18" charset="0"/>
                    <a:cs typeface="Times New Roman" panose="02020603050405020304" pitchFamily="18" charset="0"/>
                  </a:rPr>
                  <a:t>Shared features relevant across all sites; the most universally applicable relevant features</a:t>
                </a:r>
                <a:endParaRPr lang="en-US" altLang="zh-CN" sz="1000" dirty="0">
                  <a:solidFill>
                    <a:srgbClr val="1F2329"/>
                  </a:solidFill>
                  <a:latin typeface="Noto Sans SC" panose="020B0200000000000000" charset="-122"/>
                  <a:ea typeface="Noto Sans SC" panose="020B0200000000000000" charset="-122"/>
                  <a:cs typeface="Times New Roman" panose="02020603050405020304" pitchFamily="18" charset="0"/>
                  <a:sym typeface="Noto Sans SC" panose="020B0200000000000000" charset="-122"/>
                </a:endParaRPr>
              </a:p>
              <a:p>
                <a:pPr marL="228600" indent="-228600">
                  <a:lnSpc>
                    <a:spcPct val="125000"/>
                  </a:lnSpc>
                  <a:buAutoNum type="circleNumDbPlain"/>
                </a:pPr>
                <a:r>
                  <a:rPr lang="en-US" altLang="zh-CN" sz="1000"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14:m>
                  <m:oMath xmlns:m="http://schemas.openxmlformats.org/officeDocument/2006/math">
                    <m:sSub>
                      <m:sSubPr>
                        <m:ctrlPr>
                          <a:rPr lang="en-US" altLang="zh-CN" sz="1000" b="1" i="1">
                            <a:solidFill>
                              <a:srgbClr val="374151"/>
                            </a:solidFill>
                            <a:latin typeface="Cambria Math" panose="02040503050406030204" pitchFamily="18" charset="0"/>
                            <a:ea typeface="Noto Sans SC" panose="020B0200000000000000" charset="-122"/>
                            <a:sym typeface="Noto Sans SC" panose="020B0200000000000000" charset="-122"/>
                          </a:rPr>
                        </m:ctrlPr>
                      </m:sSubPr>
                      <m:e>
                        <m:r>
                          <a:rPr lang="en-US" altLang="zh-CN" sz="1000" b="1" i="1">
                            <a:solidFill>
                              <a:srgbClr val="374151"/>
                            </a:solidFill>
                            <a:latin typeface="Cambria Math" panose="02040503050406030204" pitchFamily="18" charset="0"/>
                            <a:ea typeface="Noto Sans SC" panose="020B0200000000000000" charset="-122"/>
                            <a:sym typeface="Noto Sans SC" panose="020B0200000000000000" charset="-122"/>
                          </a:rPr>
                          <m:t>𝑼</m:t>
                        </m:r>
                      </m:e>
                      <m:sub>
                        <m:r>
                          <a:rPr lang="en-US" altLang="zh-CN" sz="1000" b="1" i="1">
                            <a:solidFill>
                              <a:srgbClr val="374151"/>
                            </a:solidFill>
                            <a:latin typeface="Cambria Math" panose="02040503050406030204" pitchFamily="18" charset="0"/>
                            <a:ea typeface="Noto Sans SC" panose="020B0200000000000000" charset="-122"/>
                            <a:sym typeface="Noto Sans SC" panose="020B0200000000000000" charset="-122"/>
                          </a:rPr>
                          <m:t>𝟏</m:t>
                        </m:r>
                      </m:sub>
                    </m:sSub>
                    <m:r>
                      <a:rPr lang="en-US" altLang="zh-CN" sz="1000" b="1" i="1">
                        <a:solidFill>
                          <a:srgbClr val="374151"/>
                        </a:solidFill>
                        <a:latin typeface="Cambria Math" panose="02040503050406030204" pitchFamily="18" charset="0"/>
                        <a:ea typeface="Noto Sans SC" panose="020B0200000000000000" charset="-122"/>
                        <a:sym typeface="Noto Sans SC" panose="020B0200000000000000" charset="-122"/>
                      </a:rPr>
                      <m:t>=</m:t>
                    </m:r>
                    <m:nary>
                      <m:naryPr>
                        <m:chr m:val="⋃"/>
                        <m:supHide m:val="on"/>
                        <m:ctrlPr>
                          <a:rPr lang="en-US" altLang="zh-CN" sz="1000" b="1" i="1">
                            <a:solidFill>
                              <a:srgbClr val="374151"/>
                            </a:solidFill>
                            <a:latin typeface="Cambria Math" panose="02040503050406030204" pitchFamily="18" charset="0"/>
                            <a:ea typeface="Noto Sans SC" panose="020B0200000000000000" charset="-122"/>
                            <a:sym typeface="Noto Sans SC" panose="020B0200000000000000" charset="-122"/>
                          </a:rPr>
                        </m:ctrlPr>
                      </m:naryPr>
                      <m:sub>
                        <m:r>
                          <m:rPr>
                            <m:brk m:alnAt="7"/>
                          </m:rPr>
                          <a:rPr lang="en-US" altLang="zh-CN" sz="1000" b="1" i="1">
                            <a:solidFill>
                              <a:srgbClr val="374151"/>
                            </a:solidFill>
                            <a:latin typeface="Cambria Math" panose="02040503050406030204" pitchFamily="18" charset="0"/>
                            <a:ea typeface="Noto Sans SC" panose="020B0200000000000000" charset="-122"/>
                            <a:sym typeface="Noto Sans SC" panose="020B0200000000000000" charset="-122"/>
                          </a:rPr>
                          <m:t>𝟏</m:t>
                        </m:r>
                        <m:r>
                          <a:rPr lang="en-US" altLang="zh-CN" sz="1000" b="1" i="1">
                            <a:solidFill>
                              <a:srgbClr val="374151"/>
                            </a:solidFill>
                            <a:latin typeface="Cambria Math" panose="02040503050406030204" pitchFamily="18" charset="0"/>
                            <a:ea typeface="Cambria Math" panose="02040503050406030204" pitchFamily="18" charset="0"/>
                            <a:sym typeface="Noto Sans SC" panose="020B0200000000000000" charset="-122"/>
                          </a:rPr>
                          <m:t>≤</m:t>
                        </m:r>
                        <m:r>
                          <a:rPr lang="en-US" altLang="zh-CN" sz="1000" b="1" i="1">
                            <a:solidFill>
                              <a:srgbClr val="374151"/>
                            </a:solidFill>
                            <a:latin typeface="Cambria Math" panose="02040503050406030204" pitchFamily="18" charset="0"/>
                            <a:ea typeface="Cambria Math" panose="02040503050406030204" pitchFamily="18" charset="0"/>
                            <a:sym typeface="Noto Sans SC" panose="020B0200000000000000" charset="-122"/>
                          </a:rPr>
                          <m:t>𝒌</m:t>
                        </m:r>
                        <m:r>
                          <a:rPr lang="en-US" altLang="zh-CN" sz="1000" b="1" i="1">
                            <a:solidFill>
                              <a:srgbClr val="374151"/>
                            </a:solidFill>
                            <a:latin typeface="Cambria Math" panose="02040503050406030204" pitchFamily="18" charset="0"/>
                            <a:ea typeface="Cambria Math" panose="02040503050406030204" pitchFamily="18" charset="0"/>
                            <a:sym typeface="Noto Sans SC" panose="020B0200000000000000" charset="-122"/>
                          </a:rPr>
                          <m:t>≤</m:t>
                        </m:r>
                        <m:r>
                          <a:rPr lang="en-US" altLang="zh-CN" sz="1000" b="1" i="1">
                            <a:solidFill>
                              <a:srgbClr val="374151"/>
                            </a:solidFill>
                            <a:latin typeface="Cambria Math" panose="02040503050406030204" pitchFamily="18" charset="0"/>
                            <a:ea typeface="Cambria Math" panose="02040503050406030204" pitchFamily="18" charset="0"/>
                            <a:sym typeface="Noto Sans SC" panose="020B0200000000000000" charset="-122"/>
                          </a:rPr>
                          <m:t>𝑲</m:t>
                        </m:r>
                      </m:sub>
                      <m:sup/>
                      <m:e>
                        <m:sSubSup>
                          <m:sSubSupPr>
                            <m:ctrlPr>
                              <a:rPr lang="en-US" altLang="zh-CN" sz="1000" b="1" i="1">
                                <a:solidFill>
                                  <a:srgbClr val="374151"/>
                                </a:solidFill>
                                <a:latin typeface="Cambria Math" panose="02040503050406030204" pitchFamily="18" charset="0"/>
                                <a:ea typeface="Noto Sans SC" panose="020B0200000000000000" charset="-122"/>
                                <a:sym typeface="Noto Sans SC" panose="020B0200000000000000" charset="-122"/>
                              </a:rPr>
                            </m:ctrlPr>
                          </m:sSubSupPr>
                          <m:e>
                            <m:r>
                              <a:rPr lang="en-US" altLang="zh-CN" sz="1000" b="1" i="1">
                                <a:solidFill>
                                  <a:srgbClr val="374151"/>
                                </a:solidFill>
                                <a:latin typeface="Cambria Math" panose="02040503050406030204" pitchFamily="18" charset="0"/>
                                <a:ea typeface="Noto Sans SC" panose="020B0200000000000000" charset="-122"/>
                                <a:sym typeface="Noto Sans SC" panose="020B0200000000000000" charset="-122"/>
                              </a:rPr>
                              <m:t>𝑺</m:t>
                            </m:r>
                          </m:e>
                          <m:sub>
                            <m:r>
                              <a:rPr lang="en-US" altLang="zh-CN" sz="1000" b="1" i="1">
                                <a:solidFill>
                                  <a:srgbClr val="374151"/>
                                </a:solidFill>
                                <a:latin typeface="Cambria Math" panose="02040503050406030204" pitchFamily="18" charset="0"/>
                                <a:ea typeface="Noto Sans SC" panose="020B0200000000000000" charset="-122"/>
                                <a:sym typeface="Noto Sans SC" panose="020B0200000000000000" charset="-122"/>
                              </a:rPr>
                              <m:t>𝟏</m:t>
                            </m:r>
                          </m:sub>
                          <m:sup>
                            <m:r>
                              <a:rPr lang="en-US" altLang="zh-CN" sz="1000" b="1" i="1">
                                <a:solidFill>
                                  <a:srgbClr val="374151"/>
                                </a:solidFill>
                                <a:latin typeface="Cambria Math" panose="02040503050406030204" pitchFamily="18" charset="0"/>
                                <a:ea typeface="Noto Sans SC" panose="020B0200000000000000" charset="-122"/>
                                <a:sym typeface="Noto Sans SC" panose="020B0200000000000000" charset="-122"/>
                              </a:rPr>
                              <m:t>(</m:t>
                            </m:r>
                            <m:r>
                              <a:rPr lang="en-US" altLang="zh-CN" sz="1000" b="1" i="1">
                                <a:solidFill>
                                  <a:srgbClr val="374151"/>
                                </a:solidFill>
                                <a:latin typeface="Cambria Math" panose="02040503050406030204" pitchFamily="18" charset="0"/>
                                <a:ea typeface="Noto Sans SC" panose="020B0200000000000000" charset="-122"/>
                                <a:sym typeface="Noto Sans SC" panose="020B0200000000000000" charset="-122"/>
                              </a:rPr>
                              <m:t>𝒌</m:t>
                            </m:r>
                            <m:r>
                              <a:rPr lang="en-US" altLang="zh-CN" sz="1000" b="1" i="1">
                                <a:solidFill>
                                  <a:srgbClr val="374151"/>
                                </a:solidFill>
                                <a:latin typeface="Cambria Math" panose="02040503050406030204" pitchFamily="18" charset="0"/>
                                <a:ea typeface="Noto Sans SC" panose="020B0200000000000000" charset="-122"/>
                                <a:sym typeface="Noto Sans SC" panose="020B0200000000000000" charset="-122"/>
                              </a:rPr>
                              <m:t>)</m:t>
                            </m:r>
                          </m:sup>
                        </m:sSubSup>
                      </m:e>
                    </m:nary>
                  </m:oMath>
                </a14:m>
                <a:r>
                  <a:rPr lang="en-US" altLang="zh-CN" sz="1000" b="1"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1000"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000" dirty="0">
                    <a:latin typeface="Times New Roman" panose="02020603050405020304" pitchFamily="18" charset="0"/>
                    <a:cs typeface="Times New Roman" panose="02020603050405020304" pitchFamily="18" charset="0"/>
                  </a:rPr>
                  <a:t>Features relevant in at least one site; contains all potential weak signals.</a:t>
                </a:r>
                <a:endParaRPr lang="en-US" altLang="zh-CN" sz="1000" dirty="0">
                  <a:latin typeface="Times New Roman" panose="02020603050405020304" pitchFamily="18" charset="0"/>
                  <a:cs typeface="Times New Roman" panose="02020603050405020304" pitchFamily="18" charset="0"/>
                  <a:sym typeface="Noto Sans SC" panose="020B0200000000000000" charset="-122"/>
                </a:endParaRPr>
              </a:p>
              <a:p>
                <a:pPr marL="228600" indent="-228600">
                  <a:lnSpc>
                    <a:spcPct val="125000"/>
                  </a:lnSpc>
                  <a:buAutoNum type="circleNumDbPlain"/>
                </a:pPr>
                <a:r>
                  <a:rPr lang="en-US" altLang="zh-CN" sz="1000" b="1" dirty="0">
                    <a:latin typeface="Times New Roman" panose="02020603050405020304" pitchFamily="18" charset="0"/>
                    <a:cs typeface="Times New Roman" panose="02020603050405020304" pitchFamily="18" charset="0"/>
                  </a:rPr>
                  <a:t>Source of Heterogeneity Set </a:t>
                </a:r>
                <a14:m>
                  <m:oMath xmlns:m="http://schemas.openxmlformats.org/officeDocument/2006/math">
                    <m:sSub>
                      <m:sSubPr>
                        <m:ctrlPr>
                          <a:rPr lang="en-US" altLang="zh-CN" sz="1000" b="1" i="1" smtClean="0">
                            <a:solidFill>
                              <a:srgbClr val="374151"/>
                            </a:solidFill>
                            <a:latin typeface="Cambria Math" panose="02040503050406030204" pitchFamily="18" charset="0"/>
                            <a:ea typeface="Noto Sans SC" panose="020B0200000000000000" charset="-122"/>
                            <a:sym typeface="Noto Sans SC" panose="020B0200000000000000" charset="-122"/>
                          </a:rPr>
                        </m:ctrlPr>
                      </m:sSubPr>
                      <m:e>
                        <m:r>
                          <a:rPr lang="en-US" altLang="zh-CN" sz="1000" b="1" i="1" smtClean="0">
                            <a:solidFill>
                              <a:srgbClr val="374151"/>
                            </a:solidFill>
                            <a:latin typeface="Cambria Math" panose="02040503050406030204" pitchFamily="18" charset="0"/>
                            <a:ea typeface="Noto Sans SC" panose="020B0200000000000000" charset="-122"/>
                            <a:sym typeface="Noto Sans SC" panose="020B0200000000000000" charset="-122"/>
                          </a:rPr>
                          <m:t>𝑼</m:t>
                        </m:r>
                      </m:e>
                      <m:sub>
                        <m:r>
                          <a:rPr lang="en-US" altLang="zh-CN" sz="1000" b="1" i="1" smtClean="0">
                            <a:solidFill>
                              <a:srgbClr val="374151"/>
                            </a:solidFill>
                            <a:latin typeface="Cambria Math" panose="02040503050406030204" pitchFamily="18" charset="0"/>
                            <a:ea typeface="Noto Sans SC" panose="020B0200000000000000" charset="-122"/>
                            <a:sym typeface="Noto Sans SC" panose="020B0200000000000000" charset="-122"/>
                          </a:rPr>
                          <m:t>𝟏</m:t>
                        </m:r>
                      </m:sub>
                    </m:sSub>
                    <m:r>
                      <a:rPr lang="en-US" altLang="zh-CN" sz="1000" b="1" i="1" smtClean="0">
                        <a:solidFill>
                          <a:srgbClr val="374151"/>
                        </a:solidFill>
                        <a:latin typeface="Cambria Math" panose="02040503050406030204" pitchFamily="18" charset="0"/>
                        <a:ea typeface="Cambria Math" panose="02040503050406030204" pitchFamily="18" charset="0"/>
                        <a:sym typeface="Noto Sans SC" panose="020B0200000000000000" charset="-122"/>
                      </a:rPr>
                      <m:t>∖</m:t>
                    </m:r>
                    <m:sSub>
                      <m:sSubPr>
                        <m:ctrlPr>
                          <a:rPr lang="en-US" altLang="zh-CN" sz="1000" b="1" i="1" smtClean="0">
                            <a:solidFill>
                              <a:srgbClr val="374151"/>
                            </a:solidFill>
                            <a:latin typeface="Cambria Math" panose="02040503050406030204" pitchFamily="18" charset="0"/>
                            <a:ea typeface="Cambria Math" panose="02040503050406030204" pitchFamily="18" charset="0"/>
                            <a:sym typeface="Noto Sans SC" panose="020B0200000000000000" charset="-122"/>
                          </a:rPr>
                        </m:ctrlPr>
                      </m:sSubPr>
                      <m:e>
                        <m:r>
                          <a:rPr lang="en-US" altLang="zh-CN" sz="1000" b="1" i="1" smtClean="0">
                            <a:solidFill>
                              <a:srgbClr val="374151"/>
                            </a:solidFill>
                            <a:latin typeface="Cambria Math" panose="02040503050406030204" pitchFamily="18" charset="0"/>
                            <a:ea typeface="Cambria Math" panose="02040503050406030204" pitchFamily="18" charset="0"/>
                            <a:sym typeface="Noto Sans SC" panose="020B0200000000000000" charset="-122"/>
                          </a:rPr>
                          <m:t>𝑺</m:t>
                        </m:r>
                      </m:e>
                      <m:sub>
                        <m:r>
                          <a:rPr lang="en-US" altLang="zh-CN" sz="1000" b="1" i="1" smtClean="0">
                            <a:solidFill>
                              <a:srgbClr val="374151"/>
                            </a:solidFill>
                            <a:latin typeface="Cambria Math" panose="02040503050406030204" pitchFamily="18" charset="0"/>
                            <a:ea typeface="Cambria Math" panose="02040503050406030204" pitchFamily="18" charset="0"/>
                            <a:sym typeface="Noto Sans SC" panose="020B0200000000000000" charset="-122"/>
                          </a:rPr>
                          <m:t>𝟏</m:t>
                        </m:r>
                      </m:sub>
                    </m:sSub>
                  </m:oMath>
                </a14:m>
                <a:r>
                  <a:rPr lang="zh-CN" altLang="en-US" sz="1000"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000" dirty="0">
                    <a:latin typeface="Times New Roman" panose="02020603050405020304" pitchFamily="18" charset="0"/>
                    <a:cs typeface="Times New Roman" panose="02020603050405020304" pitchFamily="18" charset="0"/>
                  </a:rPr>
                  <a:t>Features relevant only in a subset of sites, rather than all sites.</a:t>
                </a:r>
                <a:endParaRPr lang="en-US" altLang="zh-CN" sz="1000" dirty="0">
                  <a:latin typeface="Times New Roman" panose="02020603050405020304" pitchFamily="18" charset="0"/>
                  <a:cs typeface="Times New Roman" panose="02020603050405020304" pitchFamily="18" charset="0"/>
                  <a:sym typeface="Noto Sans SC" panose="020B0200000000000000" charset="-122"/>
                </a:endParaRPr>
              </a:p>
            </p:txBody>
          </p:sp>
        </mc:Choice>
        <mc:Fallback>
          <p:sp>
            <p:nvSpPr>
              <p:cNvPr id="25" name="文本框 24"/>
              <p:cNvSpPr txBox="1">
                <a:spLocks noRot="1" noChangeAspect="1" noMove="1" noResize="1" noEditPoints="1" noAdjustHandles="1" noChangeArrowheads="1" noChangeShapeType="1" noTextEdit="1"/>
              </p:cNvSpPr>
              <p:nvPr/>
            </p:nvSpPr>
            <p:spPr>
              <a:xfrm>
                <a:off x="4598787" y="1480343"/>
                <a:ext cx="4327461" cy="1329531"/>
              </a:xfrm>
              <a:prstGeom prst="rect">
                <a:avLst/>
              </a:prstGeom>
              <a:blipFill rotWithShape="1">
                <a:blip r:embed="rId3"/>
                <a:stretch>
                  <a:fillRect l="-3" t="-12" r="1" b="48"/>
                </a:stretch>
              </a:blipFill>
            </p:spPr>
            <p:txBody>
              <a:bodyPr/>
              <a:lstStyle/>
              <a:p>
                <a:r>
                  <a:rPr lang="zh-CN" altLang="en-US">
                    <a:noFill/>
                  </a:rPr>
                  <a:t> </a:t>
                </a:r>
              </a:p>
            </p:txBody>
          </p:sp>
        </mc:Fallback>
      </mc:AlternateContent>
      <p:graphicFrame>
        <p:nvGraphicFramePr>
          <p:cNvPr id="26" name="表格 25"/>
          <p:cNvGraphicFramePr>
            <a:graphicFrameLocks noGrp="1"/>
          </p:cNvGraphicFramePr>
          <p:nvPr/>
        </p:nvGraphicFramePr>
        <p:xfrm>
          <a:off x="510363" y="3905730"/>
          <a:ext cx="3605136" cy="1166005"/>
        </p:xfrm>
        <a:graphic>
          <a:graphicData uri="http://schemas.openxmlformats.org/drawingml/2006/table">
            <a:tbl>
              <a:tblPr/>
              <a:tblGrid>
                <a:gridCol w="667339"/>
                <a:gridCol w="1175737"/>
                <a:gridCol w="1762060"/>
              </a:tblGrid>
              <a:tr h="154093">
                <a:tc>
                  <a:txBody>
                    <a:bodyPr/>
                    <a:lstStyle/>
                    <a:p>
                      <a:pPr algn="ctr">
                        <a:buNone/>
                      </a:pPr>
                      <a:r>
                        <a:rPr lang="en-US" altLang="zh-CN" sz="800" dirty="0">
                          <a:effectLst/>
                        </a:rPr>
                        <a:t>Target type</a:t>
                      </a:r>
                      <a:endParaRPr lang="zh-CN" altLang="en-US" sz="800" dirty="0">
                        <a:effectLst/>
                      </a:endParaRPr>
                    </a:p>
                  </a:txBody>
                  <a:tcPr marL="9138" marR="9138" marT="9138" marB="9138"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en-US" altLang="zh-CN" sz="800" dirty="0" err="1">
                          <a:effectLst/>
                        </a:rPr>
                        <a:t>defination</a:t>
                      </a:r>
                      <a:endParaRPr lang="zh-CN" altLang="en-US" sz="800" dirty="0">
                        <a:effectLst/>
                      </a:endParaRPr>
                    </a:p>
                  </a:txBody>
                  <a:tcPr marL="9138" marR="9138" marT="9138" marB="9138"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en-US" altLang="zh-CN" sz="800" dirty="0"/>
                        <a:t>Scientific Significance</a:t>
                      </a:r>
                      <a:endParaRPr lang="zh-CN" altLang="en-US" sz="800" dirty="0">
                        <a:effectLst/>
                      </a:endParaRPr>
                    </a:p>
                  </a:txBody>
                  <a:tcPr marL="9138" marR="9138" marT="9138" marB="9138"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r>
              <a:tr h="464606">
                <a:tc>
                  <a:txBody>
                    <a:bodyPr/>
                    <a:lstStyle/>
                    <a:p>
                      <a:pPr algn="ctr">
                        <a:buNone/>
                      </a:pPr>
                      <a:r>
                        <a:rPr lang="en-US" altLang="zh-CN" sz="800" dirty="0">
                          <a:effectLst/>
                        </a:rPr>
                        <a:t>Objective A: Find a set of common feature </a:t>
                      </a:r>
                      <a:r>
                        <a:rPr lang="en-US" altLang="zh-CN" sz="800" b="1" dirty="0">
                          <a:effectLst/>
                        </a:rPr>
                        <a:t>S₁</a:t>
                      </a:r>
                      <a:endParaRPr lang="zh-CN" altLang="en-US" sz="800" dirty="0">
                        <a:effectLst/>
                      </a:endParaRPr>
                    </a:p>
                  </a:txBody>
                  <a:tcPr marL="9138" marR="9138" marT="9138" marB="9138"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en-US" altLang="zh-CN" sz="800" dirty="0"/>
                        <a:t>Intersection of features important to all K sites</a:t>
                      </a:r>
                      <a:endParaRPr lang="zh-CN" altLang="en-US" sz="800" dirty="0">
                        <a:effectLst/>
                      </a:endParaRPr>
                    </a:p>
                  </a:txBody>
                  <a:tcPr marL="9138" marR="9138" marT="9138" marB="9138"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r>
                        <a:rPr lang="en-US" altLang="zh-CN" sz="800" dirty="0"/>
                        <a:t>Used for developing national clinical guidelines and industry standards — must be absolutely reliable with no false positives.</a:t>
                      </a:r>
                      <a:endParaRPr lang="zh-CN" altLang="en-US" sz="800" dirty="0">
                        <a:effectLst/>
                      </a:endParaRPr>
                    </a:p>
                  </a:txBody>
                  <a:tcPr marL="9138" marR="9138" marT="9138" marB="9138"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r>
              <a:tr h="449797">
                <a:tc>
                  <a:txBody>
                    <a:bodyPr/>
                    <a:lstStyle/>
                    <a:p>
                      <a:pPr algn="ctr">
                        <a:buNone/>
                      </a:pPr>
                      <a:r>
                        <a:rPr lang="en-US" altLang="zh-CN" sz="800" dirty="0">
                          <a:effectLst/>
                        </a:rPr>
                        <a:t>Objective B: Find the full set of features</a:t>
                      </a:r>
                      <a:r>
                        <a:rPr lang="zh-CN" altLang="en-US" sz="800" b="1" dirty="0">
                          <a:effectLst/>
                        </a:rPr>
                        <a:t> </a:t>
                      </a:r>
                      <a:r>
                        <a:rPr lang="en-US" altLang="zh-CN" sz="800" b="1" dirty="0">
                          <a:effectLst/>
                        </a:rPr>
                        <a:t>U₁</a:t>
                      </a:r>
                      <a:endParaRPr lang="zh-CN" altLang="en-US" sz="800" dirty="0">
                        <a:effectLst/>
                      </a:endParaRPr>
                    </a:p>
                  </a:txBody>
                  <a:tcPr marL="9138" marR="9138" marT="9138" marB="9138"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en-US" altLang="zh-CN" sz="800" dirty="0"/>
                        <a:t>Union of features important to ≥1 site</a:t>
                      </a:r>
                      <a:endParaRPr lang="zh-CN" altLang="en-US" sz="800" dirty="0">
                        <a:effectLst/>
                      </a:endParaRPr>
                    </a:p>
                  </a:txBody>
                  <a:tcPr marL="9138" marR="9138" marT="9138" marB="9138"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en-US" altLang="zh-CN" sz="800" dirty="0"/>
                        <a:t>Used for exploratory research and biomarker screening — cannot afford to miss any potentially useful signals.</a:t>
                      </a:r>
                      <a:endParaRPr lang="zh-CN" altLang="en-US" sz="800" dirty="0">
                        <a:effectLst/>
                      </a:endParaRPr>
                    </a:p>
                  </a:txBody>
                  <a:tcPr marL="9138" marR="9138" marT="9138" marB="9138"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1"/>
          <a:srcRect l="9302" r="9302"/>
          <a:stretch>
            <a:fillRect/>
          </a:stretch>
        </p:blipFill>
        <p:spPr>
          <a:xfrm>
            <a:off x="0" y="0"/>
            <a:ext cx="9144000" cy="1027511"/>
          </a:xfrm>
          <a:prstGeom prst="rect">
            <a:avLst/>
          </a:prstGeom>
        </p:spPr>
      </p:pic>
      <p:sp>
        <p:nvSpPr>
          <p:cNvPr id="20" name="AutoShape 10"/>
          <p:cNvSpPr/>
          <p:nvPr/>
        </p:nvSpPr>
        <p:spPr>
          <a:xfrm>
            <a:off x="5059874" y="1483020"/>
            <a:ext cx="3810000" cy="929604"/>
          </a:xfrm>
          <a:prstGeom prst="roundRect">
            <a:avLst>
              <a:gd name="adj" fmla="val 5333"/>
            </a:avLst>
          </a:prstGeom>
          <a:solidFill>
            <a:srgbClr val="F0F4F8">
              <a:alpha val="100000"/>
            </a:srgbClr>
          </a:solidFill>
          <a:ln w="25400" cap="flat" cmpd="sng">
            <a:noFill/>
            <a:prstDash val="solid"/>
            <a:round/>
          </a:ln>
        </p:spPr>
        <p:txBody>
          <a:bodyPr vert="horz" wrap="square" lIns="0" tIns="0" rIns="0" bIns="0" rtlCol="0" anchor="ctr" anchorCtr="0"/>
          <a:lstStyle/>
          <a:p>
            <a:pPr algn="ctr">
              <a:defRPr/>
            </a:pPr>
            <a:endParaRPr sz="1350"/>
          </a:p>
        </p:txBody>
      </p:sp>
      <p:sp>
        <p:nvSpPr>
          <p:cNvPr id="2" name="AutoShape 2"/>
          <p:cNvSpPr/>
          <p:nvPr/>
        </p:nvSpPr>
        <p:spPr>
          <a:xfrm>
            <a:off x="381000" y="95250"/>
            <a:ext cx="8382000" cy="619125"/>
          </a:xfrm>
          <a:prstGeom prst="rect">
            <a:avLst/>
          </a:prstGeom>
          <a:noFill/>
          <a:ln w="12700" cap="flat" cmpd="sng">
            <a:noFill/>
            <a:prstDash val="solid"/>
            <a:round/>
          </a:ln>
        </p:spPr>
        <p:txBody>
          <a:bodyPr vert="horz" wrap="square" lIns="0" tIns="0" rIns="0" bIns="0" rtlCol="0" anchor="ctr" anchorCtr="0"/>
          <a:lstStyle/>
          <a:p>
            <a:pPr algn="l">
              <a:lnSpc>
                <a:spcPct val="125000"/>
              </a:lnSpc>
              <a:buClrTx/>
              <a:buSzTx/>
              <a:buFontTx/>
              <a:defRPr/>
            </a:pPr>
            <a:r>
              <a:rPr lang="en-US" sz="2250" b="1" dirty="0">
                <a:solidFill>
                  <a:srgbClr val="333333"/>
                </a:solidFill>
                <a:latin typeface="微软雅黑" panose="020B0503020204020204" charset="-122"/>
                <a:ea typeface="微软雅黑" panose="020B0503020204020204" charset="-122"/>
                <a:sym typeface="Noto Sans SC" panose="020B0200000000000000" charset="-122"/>
              </a:rPr>
              <a:t>Theorem 2</a:t>
            </a:r>
            <a:endParaRPr lang="en-US" sz="2250" b="1" dirty="0">
              <a:solidFill>
                <a:srgbClr val="333333"/>
              </a:solidFill>
              <a:latin typeface="微软雅黑" panose="020B0503020204020204" charset="-122"/>
              <a:ea typeface="微软雅黑" panose="020B0503020204020204" charset="-122"/>
            </a:endParaRPr>
          </a:p>
        </p:txBody>
      </p:sp>
      <p:sp>
        <p:nvSpPr>
          <p:cNvPr id="3" name="AutoShape 3"/>
          <p:cNvSpPr/>
          <p:nvPr/>
        </p:nvSpPr>
        <p:spPr>
          <a:xfrm>
            <a:off x="274125" y="1027511"/>
            <a:ext cx="8644987" cy="401239"/>
          </a:xfrm>
          <a:prstGeom prst="roundRect">
            <a:avLst>
              <a:gd name="adj" fmla="val 15384"/>
            </a:avLst>
          </a:prstGeom>
          <a:solidFill>
            <a:srgbClr val="42A5F5">
              <a:alpha val="15000"/>
            </a:srgbClr>
          </a:solidFill>
          <a:ln w="12700" cap="flat" cmpd="sng">
            <a:solidFill>
              <a:srgbClr val="00529B">
                <a:alpha val="30000"/>
              </a:srgbClr>
            </a:solidFill>
            <a:prstDash val="solid"/>
            <a:round/>
          </a:ln>
        </p:spPr>
        <p:txBody>
          <a:bodyPr vert="horz" wrap="square" lIns="47625" tIns="47625" rIns="47625" bIns="47625" rtlCol="0" anchor="ctr"/>
          <a:lstStyle/>
          <a:p>
            <a:pPr algn="ctr">
              <a:defRPr/>
            </a:pPr>
            <a:endParaRPr sz="1350"/>
          </a:p>
        </p:txBody>
      </p:sp>
      <p:sp>
        <p:nvSpPr>
          <p:cNvPr id="5" name="AutoShape 5"/>
          <p:cNvSpPr/>
          <p:nvPr/>
        </p:nvSpPr>
        <p:spPr>
          <a:xfrm>
            <a:off x="380999" y="1093470"/>
            <a:ext cx="8444023" cy="25908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1050" b="1" dirty="0">
                <a:solidFill>
                  <a:schemeClr val="accent1">
                    <a:lumMod val="75000"/>
                  </a:schemeClr>
                </a:solidFill>
                <a:latin typeface="Times New Roman" panose="02020603050405020304" pitchFamily="18" charset="0"/>
                <a:cs typeface="Times New Roman" panose="02020603050405020304" pitchFamily="18" charset="0"/>
                <a:sym typeface="Noto Sans SC" panose="020B0200000000000000" charset="-122"/>
              </a:rPr>
              <a:t>Core </a:t>
            </a:r>
            <a:r>
              <a:rPr lang="en-US" altLang="zh-CN" sz="1050" b="1" dirty="0" err="1">
                <a:solidFill>
                  <a:schemeClr val="accent1">
                    <a:lumMod val="75000"/>
                  </a:schemeClr>
                </a:solidFill>
                <a:latin typeface="Times New Roman" panose="02020603050405020304" pitchFamily="18" charset="0"/>
                <a:cs typeface="Times New Roman" panose="02020603050405020304" pitchFamily="18" charset="0"/>
                <a:sym typeface="Noto Sans SC" panose="020B0200000000000000" charset="-122"/>
              </a:rPr>
              <a:t>conclusion</a:t>
            </a:r>
            <a:r>
              <a:rPr lang="en-US" sz="1050" b="1" dirty="0" err="1">
                <a:solidFill>
                  <a:schemeClr val="accent1">
                    <a:lumMod val="75000"/>
                  </a:schemeClr>
                </a:solidFill>
                <a:latin typeface="Times New Roman" panose="02020603050405020304" pitchFamily="18" charset="0"/>
                <a:cs typeface="Times New Roman" panose="02020603050405020304" pitchFamily="18" charset="0"/>
                <a:sym typeface="Noto Sans SC" panose="020B0200000000000000" charset="-122"/>
              </a:rPr>
              <a:t>：</a:t>
            </a:r>
            <a:r>
              <a:rPr lang="en-US" altLang="zh-CN" sz="1050" b="1" dirty="0" err="1">
                <a:solidFill>
                  <a:schemeClr val="accent1">
                    <a:lumMod val="75000"/>
                  </a:schemeClr>
                </a:solidFill>
                <a:latin typeface="Times New Roman" panose="02020603050405020304" pitchFamily="18" charset="0"/>
                <a:cs typeface="Times New Roman" panose="02020603050405020304" pitchFamily="18" charset="0"/>
              </a:rPr>
              <a:t>Fed-FDR</a:t>
            </a:r>
            <a:r>
              <a:rPr lang="en-US" altLang="zh-CN" sz="1050" b="1" dirty="0">
                <a:solidFill>
                  <a:schemeClr val="accent1">
                    <a:lumMod val="75000"/>
                  </a:schemeClr>
                </a:solidFill>
                <a:latin typeface="Times New Roman" panose="02020603050405020304" pitchFamily="18" charset="0"/>
                <a:cs typeface="Times New Roman" panose="02020603050405020304" pitchFamily="18" charset="0"/>
              </a:rPr>
              <a:t> remains effective in heterogeneous scenarios and provides precise statistical guarantees for different research objectives.</a:t>
            </a:r>
            <a:endParaRPr lang="en-US" sz="105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6" name="AutoShape 6"/>
          <p:cNvSpPr/>
          <p:nvPr/>
        </p:nvSpPr>
        <p:spPr>
          <a:xfrm>
            <a:off x="175647" y="1524000"/>
            <a:ext cx="4729727" cy="3429000"/>
          </a:xfrm>
          <a:prstGeom prst="roundRect">
            <a:avLst>
              <a:gd name="adj" fmla="val 2352"/>
            </a:avLst>
          </a:prstGeom>
          <a:solidFill>
            <a:srgbClr val="F0F4F8">
              <a:alpha val="100000"/>
            </a:srgbClr>
          </a:solidFill>
          <a:ln w="25400" cap="flat" cmpd="sng">
            <a:noFill/>
            <a:prstDash val="solid"/>
            <a:round/>
          </a:ln>
        </p:spPr>
        <p:txBody>
          <a:bodyPr vert="horz" wrap="square" lIns="0" tIns="0" rIns="0" bIns="0" rtlCol="0" anchor="ctr" anchorCtr="0"/>
          <a:lstStyle/>
          <a:p>
            <a:pPr algn="ctr">
              <a:defRPr/>
            </a:pPr>
            <a:endParaRPr sz="1350"/>
          </a:p>
        </p:txBody>
      </p:sp>
      <p:sp>
        <p:nvSpPr>
          <p:cNvPr id="7" name="AutoShape 7"/>
          <p:cNvSpPr/>
          <p:nvPr/>
        </p:nvSpPr>
        <p:spPr>
          <a:xfrm>
            <a:off x="344191" y="1619250"/>
            <a:ext cx="3524250" cy="28575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1200" b="1" dirty="0">
                <a:solidFill>
                  <a:schemeClr val="accent1">
                    <a:lumMod val="75000"/>
                  </a:schemeClr>
                </a:solidFill>
                <a:latin typeface="微软雅黑" panose="020B0503020204020204" charset="-122"/>
                <a:ea typeface="微软雅黑" panose="020B0503020204020204" charset="-122"/>
                <a:sym typeface="Noto Sans SC" panose="020B0200000000000000" charset="-122"/>
              </a:rPr>
              <a:t>Theorem 2</a:t>
            </a:r>
            <a:endParaRPr lang="en-US" altLang="zh-CN" sz="1200" b="1" dirty="0">
              <a:solidFill>
                <a:schemeClr val="accent1">
                  <a:lumMod val="75000"/>
                </a:schemeClr>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8" name="AutoShape 8"/>
              <p:cNvSpPr/>
              <p:nvPr/>
            </p:nvSpPr>
            <p:spPr>
              <a:xfrm>
                <a:off x="274125" y="3750589"/>
                <a:ext cx="4499029" cy="1251165"/>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000"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Theorem 2：</a:t>
                </a:r>
                <a:r>
                  <a:rPr lang="en-US" altLang="zh-CN" sz="1000" dirty="0"/>
                  <a:t> </a:t>
                </a:r>
                <a:r>
                  <a:rPr lang="en-US" altLang="zh-CN" sz="1000" dirty="0">
                    <a:latin typeface="Times New Roman" panose="02020603050405020304" pitchFamily="18" charset="0"/>
                    <a:cs typeface="Times New Roman" panose="02020603050405020304" pitchFamily="18" charset="0"/>
                  </a:rPr>
                  <a:t>There exists a key constant</a:t>
                </a:r>
                <a:r>
                  <a:rPr lang="en-US" sz="1000" dirty="0">
                    <a:latin typeface="Times New Roman" panose="02020603050405020304" pitchFamily="18" charset="0"/>
                    <a:cs typeface="Times New Roman" panose="02020603050405020304" pitchFamily="18" charset="0"/>
                    <a:sym typeface="Noto Sans SC" panose="020B0200000000000000" charset="-122"/>
                  </a:rPr>
                  <a:t> N*,</a:t>
                </a:r>
                <a:r>
                  <a:rPr lang="en-US" altLang="zh-CN" sz="1000" dirty="0">
                    <a:latin typeface="Times New Roman" panose="02020603050405020304" pitchFamily="18" charset="0"/>
                    <a:cs typeface="Times New Roman" panose="02020603050405020304" pitchFamily="18" charset="0"/>
                  </a:rPr>
                  <a:t>satisfying</a:t>
                </a:r>
                <a:r>
                  <a:rPr lang="en-US" sz="1000" dirty="0">
                    <a:latin typeface="Times New Roman" panose="02020603050405020304" pitchFamily="18" charset="0"/>
                    <a:cs typeface="Times New Roman" panose="02020603050405020304" pitchFamily="18" charset="0"/>
                    <a:sym typeface="Noto Sans SC" panose="020B0200000000000000" charset="-122"/>
                  </a:rPr>
                  <a:t> |S₁| ≤ N* ≤ |U₁|，</a:t>
                </a:r>
                <a:r>
                  <a:rPr lang="en-US" altLang="zh-CN" sz="1000" dirty="0">
                    <a:latin typeface="Times New Roman" panose="02020603050405020304" pitchFamily="18" charset="0"/>
                    <a:cs typeface="Times New Roman" panose="02020603050405020304" pitchFamily="18" charset="0"/>
                  </a:rPr>
                  <a:t> such that the Fed-FDR algorithm automatically trades off at this reasonable position </a:t>
                </a:r>
                <a14:m>
                  <m:oMath xmlns:m="http://schemas.openxmlformats.org/officeDocument/2006/math">
                    <m:sSup>
                      <m:sSupPr>
                        <m:ctrlPr>
                          <a:rPr lang="zh-CN" altLang="en-US" sz="1000">
                            <a:latin typeface="Times New Roman" panose="02020603050405020304" pitchFamily="18" charset="0"/>
                            <a:cs typeface="Times New Roman" panose="02020603050405020304" pitchFamily="18" charset="0"/>
                          </a:rPr>
                        </m:ctrlPr>
                      </m:sSupPr>
                      <m:e>
                        <m:r>
                          <a:rPr lang="zh-CN" altLang="en-US" sz="1000">
                            <a:latin typeface="Times New Roman" panose="02020603050405020304" pitchFamily="18" charset="0"/>
                            <a:cs typeface="Times New Roman" panose="02020603050405020304" pitchFamily="18" charset="0"/>
                          </a:rPr>
                          <m:t>𝑁</m:t>
                        </m:r>
                      </m:e>
                      <m:sup>
                        <m:r>
                          <a:rPr lang="zh-CN" altLang="en-US" sz="1000">
                            <a:latin typeface="Times New Roman" panose="02020603050405020304" pitchFamily="18" charset="0"/>
                            <a:cs typeface="Times New Roman" panose="02020603050405020304" pitchFamily="18" charset="0"/>
                          </a:rPr>
                          <m:t>⋆</m:t>
                        </m:r>
                      </m:sup>
                    </m:sSup>
                  </m:oMath>
                </a14:m>
                <a:r>
                  <a:rPr lang="zh-CN" altLang="en-US" sz="1000" dirty="0">
                    <a:latin typeface="Times New Roman" panose="02020603050405020304" pitchFamily="18" charset="0"/>
                    <a:cs typeface="Times New Roman" panose="02020603050405020304" pitchFamily="18" charset="0"/>
                  </a:rPr>
                  <a:t> </a:t>
                </a:r>
                <a:r>
                  <a:rPr lang="en-US" altLang="zh-CN" sz="1000" dirty="0">
                    <a:latin typeface="Times New Roman" panose="02020603050405020304" pitchFamily="18" charset="0"/>
                    <a:cs typeface="Times New Roman" panose="02020603050405020304" pitchFamily="18" charset="0"/>
                  </a:rPr>
                  <a:t>.It cannot achieve perfect FDR control and statistical power simultaneously, but can keep both within acceptable bounds. When heterogeneity is mild </a:t>
                </a:r>
                <a:r>
                  <a:rPr lang="zh-CN" altLang="en-US" sz="1000" dirty="0">
                    <a:latin typeface="Times New Roman" panose="02020603050405020304" pitchFamily="18" charset="0"/>
                    <a:cs typeface="Times New Roman" panose="02020603050405020304" pitchFamily="18" charset="0"/>
                  </a:rPr>
                  <a:t>（</a:t>
                </a:r>
                <a14:m>
                  <m:oMath xmlns:m="http://schemas.openxmlformats.org/officeDocument/2006/math">
                    <m:r>
                      <a:rPr lang="zh-CN" altLang="en-US" sz="1000">
                        <a:latin typeface="Times New Roman" panose="02020603050405020304" pitchFamily="18" charset="0"/>
                        <a:cs typeface="Times New Roman" panose="02020603050405020304" pitchFamily="18" charset="0"/>
                      </a:rPr>
                      <m:t>∣</m:t>
                    </m:r>
                    <m:sSub>
                      <m:sSubPr>
                        <m:ctrlPr>
                          <a:rPr lang="zh-CN" altLang="en-US" sz="1000">
                            <a:latin typeface="Times New Roman" panose="02020603050405020304" pitchFamily="18" charset="0"/>
                            <a:cs typeface="Times New Roman" panose="02020603050405020304" pitchFamily="18" charset="0"/>
                          </a:rPr>
                        </m:ctrlPr>
                      </m:sSubPr>
                      <m:e>
                        <m:r>
                          <a:rPr lang="zh-CN" altLang="en-US" sz="1000">
                            <a:latin typeface="Times New Roman" panose="02020603050405020304" pitchFamily="18" charset="0"/>
                            <a:cs typeface="Times New Roman" panose="02020603050405020304" pitchFamily="18" charset="0"/>
                          </a:rPr>
                          <m:t>𝑈</m:t>
                        </m:r>
                      </m:e>
                      <m:sub>
                        <m:r>
                          <a:rPr lang="en-US" altLang="zh-CN" sz="1000">
                            <a:latin typeface="Times New Roman" panose="02020603050405020304" pitchFamily="18" charset="0"/>
                            <a:cs typeface="Times New Roman" panose="02020603050405020304" pitchFamily="18" charset="0"/>
                          </a:rPr>
                          <m:t>1</m:t>
                        </m:r>
                      </m:sub>
                    </m:sSub>
                    <m:r>
                      <a:rPr lang="zh-CN" altLang="en-US" sz="1000">
                        <a:latin typeface="Times New Roman" panose="02020603050405020304" pitchFamily="18" charset="0"/>
                        <a:cs typeface="Times New Roman" panose="02020603050405020304" pitchFamily="18" charset="0"/>
                      </a:rPr>
                      <m:t>∣−∣</m:t>
                    </m:r>
                    <m:sSub>
                      <m:sSubPr>
                        <m:ctrlPr>
                          <a:rPr lang="zh-CN" altLang="en-US" sz="1000">
                            <a:latin typeface="Times New Roman" panose="02020603050405020304" pitchFamily="18" charset="0"/>
                            <a:cs typeface="Times New Roman" panose="02020603050405020304" pitchFamily="18" charset="0"/>
                          </a:rPr>
                        </m:ctrlPr>
                      </m:sSubPr>
                      <m:e>
                        <m:r>
                          <a:rPr lang="zh-CN" altLang="en-US" sz="1000">
                            <a:latin typeface="Times New Roman" panose="02020603050405020304" pitchFamily="18" charset="0"/>
                            <a:cs typeface="Times New Roman" panose="02020603050405020304" pitchFamily="18" charset="0"/>
                          </a:rPr>
                          <m:t>𝑆</m:t>
                        </m:r>
                      </m:e>
                      <m:sub>
                        <m:r>
                          <a:rPr lang="en-US" altLang="zh-CN" sz="1000">
                            <a:latin typeface="Times New Roman" panose="02020603050405020304" pitchFamily="18" charset="0"/>
                            <a:cs typeface="Times New Roman" panose="02020603050405020304" pitchFamily="18" charset="0"/>
                          </a:rPr>
                          <m:t>1</m:t>
                        </m:r>
                      </m:sub>
                    </m:sSub>
                    <m:r>
                      <a:rPr lang="zh-CN" altLang="en-US" sz="1000">
                        <a:latin typeface="Times New Roman" panose="02020603050405020304" pitchFamily="18" charset="0"/>
                        <a:cs typeface="Times New Roman" panose="02020603050405020304" pitchFamily="18" charset="0"/>
                      </a:rPr>
                      <m:t>∣</m:t>
                    </m:r>
                  </m:oMath>
                </a14:m>
                <a:r>
                  <a:rPr lang="zh-CN" altLang="en-US" sz="1000" dirty="0">
                    <a:latin typeface="Times New Roman" panose="02020603050405020304" pitchFamily="18" charset="0"/>
                    <a:cs typeface="Times New Roman" panose="02020603050405020304" pitchFamily="18" charset="0"/>
                  </a:rPr>
                  <a:t> </a:t>
                </a:r>
                <a:r>
                  <a:rPr lang="en-US" altLang="zh-CN" sz="1000" dirty="0">
                    <a:latin typeface="Times New Roman" panose="02020603050405020304" pitchFamily="18" charset="0"/>
                    <a:cs typeface="Times New Roman" panose="02020603050405020304" pitchFamily="18" charset="0"/>
                  </a:rPr>
                  <a:t>is small) .the algorithm's performance reverts to the ideal state of Theorem 1.</a:t>
                </a:r>
                <a:endParaRPr lang="en-US" sz="1000" dirty="0">
                  <a:latin typeface="Times New Roman" panose="02020603050405020304" pitchFamily="18" charset="0"/>
                  <a:cs typeface="Times New Roman" panose="02020603050405020304" pitchFamily="18" charset="0"/>
                  <a:sym typeface="Noto Sans SC" panose="020B0200000000000000" charset="-122"/>
                </a:endParaRPr>
              </a:p>
            </p:txBody>
          </p:sp>
        </mc:Choice>
        <mc:Fallback>
          <p:sp>
            <p:nvSpPr>
              <p:cNvPr id="8" name="AutoShape 8"/>
              <p:cNvSpPr>
                <a:spLocks noRot="1" noChangeAspect="1" noMove="1" noResize="1" noEditPoints="1" noAdjustHandles="1" noChangeArrowheads="1" noChangeShapeType="1" noTextEdit="1"/>
              </p:cNvSpPr>
              <p:nvPr/>
            </p:nvSpPr>
            <p:spPr>
              <a:xfrm>
                <a:off x="274125" y="3750589"/>
                <a:ext cx="4499029" cy="1251165"/>
              </a:xfrm>
              <a:prstGeom prst="rect">
                <a:avLst/>
              </a:prstGeom>
              <a:blipFill rotWithShape="1">
                <a:blip r:embed="rId2"/>
                <a:stretch>
                  <a:fillRect l="-10" t="-22" r="11" b="39"/>
                </a:stretch>
              </a:blipFill>
              <a:ln w="12700" cap="flat" cmpd="sng">
                <a:noFill/>
                <a:prstDash val="solid"/>
                <a:round/>
              </a:ln>
            </p:spPr>
            <p:txBody>
              <a:bodyPr/>
              <a:lstStyle/>
              <a:p>
                <a:r>
                  <a:rPr lang="zh-CN" altLang="en-US">
                    <a:noFill/>
                  </a:rPr>
                  <a:t> </a:t>
                </a:r>
              </a:p>
            </p:txBody>
          </p:sp>
        </mc:Fallback>
      </mc:AlternateContent>
      <p:grpSp>
        <p:nvGrpSpPr>
          <p:cNvPr id="16" name="组合 15"/>
          <p:cNvGrpSpPr/>
          <p:nvPr/>
        </p:nvGrpSpPr>
        <p:grpSpPr>
          <a:xfrm>
            <a:off x="5059874" y="2348830"/>
            <a:ext cx="3810000" cy="1270669"/>
            <a:chOff x="4667250" y="2190750"/>
            <a:chExt cx="3810000" cy="1428750"/>
          </a:xfrm>
        </p:grpSpPr>
        <p:sp>
          <p:nvSpPr>
            <p:cNvPr id="10" name="AutoShape 10"/>
            <p:cNvSpPr/>
            <p:nvPr/>
          </p:nvSpPr>
          <p:spPr>
            <a:xfrm>
              <a:off x="4667250" y="2190750"/>
              <a:ext cx="3810000" cy="1428750"/>
            </a:xfrm>
            <a:prstGeom prst="roundRect">
              <a:avLst>
                <a:gd name="adj" fmla="val 5333"/>
              </a:avLst>
            </a:prstGeom>
            <a:solidFill>
              <a:srgbClr val="F0F4F8">
                <a:alpha val="100000"/>
              </a:srgbClr>
            </a:solidFill>
            <a:ln w="25400" cap="flat" cmpd="sng">
              <a:noFill/>
              <a:prstDash val="solid"/>
              <a:round/>
            </a:ln>
          </p:spPr>
          <p:txBody>
            <a:bodyPr vert="horz" wrap="square" lIns="0" tIns="0" rIns="0" bIns="0" rtlCol="0" anchor="ctr" anchorCtr="0"/>
            <a:lstStyle/>
            <a:p>
              <a:pPr algn="ctr">
                <a:defRPr/>
              </a:pPr>
              <a:endParaRPr sz="1350"/>
            </a:p>
          </p:txBody>
        </p:sp>
        <p:sp>
          <p:nvSpPr>
            <p:cNvPr id="11" name="AutoShape 11"/>
            <p:cNvSpPr/>
            <p:nvPr/>
          </p:nvSpPr>
          <p:spPr>
            <a:xfrm>
              <a:off x="4857750" y="2353682"/>
              <a:ext cx="3429000" cy="1109545"/>
            </a:xfrm>
            <a:prstGeom prst="rect">
              <a:avLst/>
            </a:prstGeom>
            <a:noFill/>
            <a:ln w="12700" cap="flat" cmpd="sng">
              <a:noFill/>
              <a:prstDash val="solid"/>
              <a:round/>
            </a:ln>
          </p:spPr>
          <p:txBody>
            <a:bodyPr vert="horz" wrap="square" lIns="0" tIns="0" rIns="0" bIns="0" rtlCol="0" anchor="ctr" anchorCtr="0"/>
            <a:lstStyle/>
            <a:p>
              <a:pPr algn="ctr">
                <a:buNone/>
              </a:pPr>
              <a:r>
                <a:rPr lang="en-US" altLang="zh-CN" sz="1050" b="1" dirty="0">
                  <a:solidFill>
                    <a:schemeClr val="accent1">
                      <a:lumMod val="75000"/>
                    </a:schemeClr>
                  </a:solidFill>
                </a:rPr>
                <a:t>Objective A: Find a set of common feature S₁</a:t>
              </a:r>
              <a:endParaRPr lang="zh-CN" altLang="en-US" sz="1050" b="1" dirty="0">
                <a:solidFill>
                  <a:schemeClr val="accent1">
                    <a:lumMod val="75000"/>
                  </a:schemeClr>
                </a:solidFill>
              </a:endParaRPr>
            </a:p>
            <a:p>
              <a:pPr>
                <a:lnSpc>
                  <a:spcPct val="117000"/>
                </a:lnSpc>
              </a:pPr>
              <a:r>
                <a:rPr lang="en-US" sz="975" b="1" dirty="0">
                  <a:solidFill>
                    <a:srgbClr val="212121"/>
                  </a:solidFill>
                  <a:latin typeface="Noto Sans SC" panose="020B0200000000000000" charset="-122"/>
                  <a:ea typeface="Noto Sans SC" panose="020B0200000000000000" charset="-122"/>
                  <a:cs typeface="Noto Sans SC" panose="020B0200000000000000" charset="-122"/>
                  <a:sym typeface="Noto Sans SC" panose="020B0200000000000000" charset="-122"/>
                </a:rPr>
                <a:t>conclusion：</a:t>
              </a:r>
              <a:endParaRPr lang="en-US" sz="975" b="1" dirty="0">
                <a:solidFill>
                  <a:srgbClr val="21212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nSpc>
                  <a:spcPct val="117000"/>
                </a:lnSpc>
              </a:pPr>
              <a:endParaRPr lang="en-US" sz="975" b="1" dirty="0">
                <a:solidFill>
                  <a:srgbClr val="21212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nSpc>
                  <a:spcPct val="117000"/>
                </a:lnSpc>
              </a:pPr>
              <a:endParaRPr lang="en-US" sz="975" b="1" dirty="0">
                <a:solidFill>
                  <a:srgbClr val="21212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nSpc>
                  <a:spcPct val="117000"/>
                </a:lnSpc>
              </a:pPr>
              <a:endParaRPr lang="en-US" sz="975" b="1" dirty="0">
                <a:solidFill>
                  <a:srgbClr val="21212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nSpc>
                  <a:spcPct val="117000"/>
                </a:lnSpc>
              </a:pPr>
              <a:r>
                <a:rPr lang="en-US" altLang="zh-CN" sz="900" dirty="0">
                  <a:latin typeface="Times New Roman" panose="02020603050405020304" pitchFamily="18" charset="0"/>
                  <a:cs typeface="Times New Roman" panose="02020603050405020304" pitchFamily="18" charset="0"/>
                </a:rPr>
                <a:t>FDR increases slightly, while power remains at 100%.</a:t>
              </a:r>
              <a:endParaRPr lang="en-US" sz="975" dirty="0">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nvGrpSpPr>
          <p:cNvPr id="17" name="组合 16"/>
          <p:cNvGrpSpPr/>
          <p:nvPr/>
        </p:nvGrpSpPr>
        <p:grpSpPr>
          <a:xfrm>
            <a:off x="5059874" y="3534786"/>
            <a:ext cx="3810000" cy="1466969"/>
            <a:chOff x="4667250" y="3581281"/>
            <a:chExt cx="3810000" cy="1466969"/>
          </a:xfrm>
        </p:grpSpPr>
        <p:sp>
          <p:nvSpPr>
            <p:cNvPr id="12" name="AutoShape 12"/>
            <p:cNvSpPr/>
            <p:nvPr/>
          </p:nvSpPr>
          <p:spPr>
            <a:xfrm>
              <a:off x="4667250" y="3810000"/>
              <a:ext cx="3810000" cy="1238250"/>
            </a:xfrm>
            <a:prstGeom prst="roundRect">
              <a:avLst>
                <a:gd name="adj" fmla="val 6153"/>
              </a:avLst>
            </a:prstGeom>
            <a:solidFill>
              <a:srgbClr val="F0F4F8">
                <a:alpha val="100000"/>
              </a:srgbClr>
            </a:solidFill>
            <a:ln w="25400" cap="flat" cmpd="sng">
              <a:noFill/>
              <a:prstDash val="solid"/>
              <a:round/>
            </a:ln>
          </p:spPr>
          <p:txBody>
            <a:bodyPr vert="horz" wrap="square" lIns="0" tIns="0" rIns="0" bIns="0" rtlCol="0" anchor="ctr" anchorCtr="0"/>
            <a:lstStyle/>
            <a:p>
              <a:pPr algn="ctr">
                <a:defRPr/>
              </a:pPr>
              <a:endParaRPr sz="1350"/>
            </a:p>
          </p:txBody>
        </p:sp>
        <p:sp>
          <p:nvSpPr>
            <p:cNvPr id="13" name="AutoShape 13"/>
            <p:cNvSpPr/>
            <p:nvPr/>
          </p:nvSpPr>
          <p:spPr>
            <a:xfrm>
              <a:off x="4857750" y="3581281"/>
              <a:ext cx="3429000" cy="1466967"/>
            </a:xfrm>
            <a:prstGeom prst="rect">
              <a:avLst/>
            </a:prstGeom>
            <a:noFill/>
            <a:ln w="12700" cap="flat" cmpd="sng">
              <a:noFill/>
              <a:prstDash val="solid"/>
              <a:round/>
            </a:ln>
          </p:spPr>
          <p:txBody>
            <a:bodyPr vert="horz" wrap="square" lIns="0" tIns="0" rIns="0" bIns="0" rtlCol="0" anchor="ctr" anchorCtr="0"/>
            <a:lstStyle/>
            <a:p>
              <a:pPr algn="ctr">
                <a:buNone/>
              </a:pPr>
              <a:r>
                <a:rPr lang="en-US" altLang="zh-CN" sz="1050" b="1" dirty="0">
                  <a:solidFill>
                    <a:schemeClr val="accent1">
                      <a:lumMod val="75000"/>
                    </a:schemeClr>
                  </a:solidFill>
                </a:rPr>
                <a:t>Objective B: Find the full set of features</a:t>
              </a:r>
              <a:r>
                <a:rPr lang="zh-CN" altLang="en-US" sz="1050" b="1" dirty="0">
                  <a:solidFill>
                    <a:schemeClr val="accent1">
                      <a:lumMod val="75000"/>
                    </a:schemeClr>
                  </a:solidFill>
                </a:rPr>
                <a:t> </a:t>
              </a:r>
              <a:r>
                <a:rPr lang="en-US" altLang="zh-CN" sz="1050" b="1" dirty="0">
                  <a:solidFill>
                    <a:schemeClr val="accent1">
                      <a:lumMod val="75000"/>
                    </a:schemeClr>
                  </a:solidFill>
                </a:rPr>
                <a:t>U₁</a:t>
              </a:r>
              <a:endParaRPr lang="zh-CN" altLang="en-US" sz="1050" b="1" dirty="0">
                <a:solidFill>
                  <a:schemeClr val="accent1">
                    <a:lumMod val="75000"/>
                  </a:schemeClr>
                </a:solidFill>
              </a:endParaRPr>
            </a:p>
            <a:p>
              <a:pPr>
                <a:lnSpc>
                  <a:spcPct val="117000"/>
                </a:lnSpc>
              </a:pPr>
              <a:r>
                <a:rPr lang="en-US" altLang="zh-CN" sz="975" b="1" dirty="0">
                  <a:solidFill>
                    <a:srgbClr val="212121"/>
                  </a:solidFill>
                  <a:latin typeface="Noto Sans SC" panose="020B0200000000000000" charset="-122"/>
                  <a:ea typeface="Noto Sans SC" panose="020B0200000000000000" charset="-122"/>
                  <a:cs typeface="Noto Sans SC" panose="020B0200000000000000" charset="-122"/>
                  <a:sym typeface="Noto Sans SC" panose="020B0200000000000000" charset="-122"/>
                </a:rPr>
                <a:t>conclusion</a:t>
              </a:r>
              <a:endParaRPr lang="en-US" sz="975" b="1" dirty="0">
                <a:solidFill>
                  <a:srgbClr val="21212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nSpc>
                  <a:spcPct val="117000"/>
                </a:lnSpc>
              </a:pPr>
              <a:endParaRPr lang="en-US" sz="975"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nSpc>
                  <a:spcPct val="117000"/>
                </a:lnSpc>
              </a:pPr>
              <a:endParaRPr lang="en-US" sz="975" dirty="0">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nSpc>
                  <a:spcPct val="117000"/>
                </a:lnSpc>
              </a:pPr>
              <a:endParaRPr lang="en-US" sz="975" dirty="0">
                <a:solidFill>
                  <a:srgbClr val="61616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pic>
        <p:nvPicPr>
          <p:cNvPr id="15" name="图片 14"/>
          <p:cNvPicPr>
            <a:picLocks noChangeAspect="1"/>
          </p:cNvPicPr>
          <p:nvPr/>
        </p:nvPicPr>
        <p:blipFill>
          <a:blip r:embed="rId3"/>
          <a:stretch>
            <a:fillRect/>
          </a:stretch>
        </p:blipFill>
        <p:spPr>
          <a:xfrm>
            <a:off x="274126" y="2016709"/>
            <a:ext cx="4499029" cy="1776832"/>
          </a:xfrm>
          <a:prstGeom prst="rect">
            <a:avLst/>
          </a:prstGeom>
        </p:spPr>
      </p:pic>
      <p:sp>
        <p:nvSpPr>
          <p:cNvPr id="19" name="文本框 18"/>
          <p:cNvSpPr txBox="1"/>
          <p:nvPr/>
        </p:nvSpPr>
        <p:spPr>
          <a:xfrm>
            <a:off x="5010634" y="1415683"/>
            <a:ext cx="3908479" cy="1078052"/>
          </a:xfrm>
          <a:prstGeom prst="rect">
            <a:avLst/>
          </a:prstGeom>
          <a:noFill/>
        </p:spPr>
        <p:txBody>
          <a:bodyPr wrap="square">
            <a:spAutoFit/>
          </a:bodyPr>
          <a:lstStyle/>
          <a:p>
            <a:pPr>
              <a:lnSpc>
                <a:spcPct val="108000"/>
              </a:lnSpc>
              <a:defRPr/>
            </a:pPr>
            <a:r>
              <a:rPr lang="en-US" altLang="zh-CN" sz="1000" b="1" dirty="0">
                <a:solidFill>
                  <a:srgbClr val="42A5F5"/>
                </a:solidFill>
                <a:latin typeface="等线" panose="02010600030101010101" charset="-122"/>
                <a:ea typeface="等线" panose="02010600030101010101" charset="-122"/>
              </a:rPr>
              <a:t>Essential Definition of </a:t>
            </a:r>
            <a:r>
              <a:rPr lang="en-US" altLang="zh-CN" sz="1000" b="1" dirty="0">
                <a:solidFill>
                  <a:srgbClr val="42A5F5"/>
                </a:solidFill>
                <a:latin typeface="等线" panose="02010600030101010101" charset="-122"/>
                <a:ea typeface="等线" panose="02010600030101010101" charset="-122"/>
                <a:sym typeface="Noto Sans SC" panose="020B0200000000000000" charset="-122"/>
              </a:rPr>
              <a:t>N* </a:t>
            </a:r>
            <a:r>
              <a:rPr lang="en-US" altLang="zh-CN" sz="1000" dirty="0">
                <a:latin typeface="Times New Roman" panose="02020603050405020304" pitchFamily="18" charset="0"/>
                <a:cs typeface="Times New Roman" panose="02020603050405020304" pitchFamily="18" charset="0"/>
                <a:sym typeface="Noto Sans SC" panose="020B0200000000000000" charset="-122"/>
              </a:rPr>
              <a:t>：</a:t>
            </a:r>
            <a:r>
              <a:rPr lang="en-US" altLang="zh-CN" sz="1000" dirty="0">
                <a:latin typeface="Times New Roman" panose="02020603050405020304" pitchFamily="18" charset="0"/>
                <a:cs typeface="Times New Roman" panose="02020603050405020304" pitchFamily="18" charset="0"/>
              </a:rPr>
              <a:t> It is the mathematical expectation of the total number of finally selected features after sorting by inclusion rate. Its value is jointly determined solely by the degree of data heterogeneity and the pre-specified significance level </a:t>
            </a:r>
            <a:r>
              <a:rPr lang="en-US" altLang="zh-CN" sz="1000" dirty="0">
                <a:latin typeface="Times New Roman" panose="02020603050405020304" pitchFamily="18" charset="0"/>
                <a:cs typeface="Times New Roman" panose="02020603050405020304" pitchFamily="18" charset="0"/>
                <a:sym typeface="Noto Sans SC" panose="020B0200000000000000" charset="-122"/>
              </a:rPr>
              <a:t>α</a:t>
            </a:r>
            <a:r>
              <a:rPr lang="en-US" altLang="zh-CN" sz="1000" dirty="0">
                <a:latin typeface="Times New Roman" panose="02020603050405020304" pitchFamily="18" charset="0"/>
                <a:cs typeface="Times New Roman" panose="02020603050405020304" pitchFamily="18" charset="0"/>
              </a:rPr>
              <a:t> The smaller the heterogeneity, the closer </a:t>
            </a:r>
            <a:r>
              <a:rPr lang="en-US" altLang="zh-CN" sz="1000" dirty="0">
                <a:latin typeface="Times New Roman" panose="02020603050405020304" pitchFamily="18" charset="0"/>
                <a:cs typeface="Times New Roman" panose="02020603050405020304" pitchFamily="18" charset="0"/>
                <a:sym typeface="Noto Sans SC" panose="020B0200000000000000" charset="-122"/>
              </a:rPr>
              <a:t>N*</a:t>
            </a:r>
            <a:r>
              <a:rPr lang="en-US" altLang="zh-CN" sz="1000" dirty="0">
                <a:latin typeface="Times New Roman" panose="02020603050405020304" pitchFamily="18" charset="0"/>
                <a:cs typeface="Times New Roman" panose="02020603050405020304" pitchFamily="18" charset="0"/>
              </a:rPr>
              <a:t> is to the size of the full support set; the larger the heterogeneity, the closer </a:t>
            </a:r>
            <a:r>
              <a:rPr lang="en-US" altLang="zh-CN" sz="1000" dirty="0">
                <a:latin typeface="Times New Roman" panose="02020603050405020304" pitchFamily="18" charset="0"/>
                <a:cs typeface="Times New Roman" panose="02020603050405020304" pitchFamily="18" charset="0"/>
                <a:sym typeface="Noto Sans SC" panose="020B0200000000000000" charset="-122"/>
              </a:rPr>
              <a:t>N* </a:t>
            </a:r>
            <a:r>
              <a:rPr lang="en-US" altLang="zh-CN" sz="1000" dirty="0">
                <a:latin typeface="Times New Roman" panose="02020603050405020304" pitchFamily="18" charset="0"/>
                <a:cs typeface="Times New Roman" panose="02020603050405020304" pitchFamily="18" charset="0"/>
              </a:rPr>
              <a:t>is to the size of the common support set.</a:t>
            </a:r>
            <a:endParaRPr lang="en-US" altLang="zh-CN" sz="1000" dirty="0">
              <a:latin typeface="Times New Roman" panose="02020603050405020304" pitchFamily="18" charset="0"/>
              <a:cs typeface="Times New Roman" panose="02020603050405020304" pitchFamily="18" charset="0"/>
            </a:endParaRPr>
          </a:p>
        </p:txBody>
      </p:sp>
      <p:pic>
        <p:nvPicPr>
          <p:cNvPr id="22" name="图片 21"/>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5316536" y="2824575"/>
            <a:ext cx="3446464" cy="464084"/>
          </a:xfrm>
          <a:prstGeom prst="rect">
            <a:avLst/>
          </a:prstGeom>
        </p:spPr>
      </p:pic>
      <p:pic>
        <p:nvPicPr>
          <p:cNvPr id="24" name="图片 23"/>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5354320" y="4133361"/>
            <a:ext cx="3227070" cy="432435"/>
          </a:xfrm>
          <a:prstGeom prst="rect">
            <a:avLst/>
          </a:prstGeom>
        </p:spPr>
      </p:pic>
      <p:sp>
        <p:nvSpPr>
          <p:cNvPr id="14" name="文本框 13"/>
          <p:cNvSpPr txBox="1"/>
          <p:nvPr/>
        </p:nvSpPr>
        <p:spPr>
          <a:xfrm>
            <a:off x="5192094" y="4625639"/>
            <a:ext cx="2961993" cy="246221"/>
          </a:xfrm>
          <a:prstGeom prst="rect">
            <a:avLst/>
          </a:prstGeom>
          <a:noFill/>
        </p:spPr>
        <p:txBody>
          <a:bodyPr wrap="square">
            <a:spAutoFit/>
          </a:bodyPr>
          <a:lstStyle/>
          <a:p>
            <a:r>
              <a:rPr lang="en-US" altLang="zh-CN" sz="1000" dirty="0">
                <a:latin typeface="Times New Roman" panose="02020603050405020304" pitchFamily="18" charset="0"/>
                <a:cs typeface="Times New Roman" panose="02020603050405020304" pitchFamily="18" charset="0"/>
              </a:rPr>
              <a:t>FDR is strictly controlled, while power drops slightly.</a:t>
            </a:r>
            <a:endParaRPr lang="zh-CN" alt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0" descr="preencoded.png"/>
          <p:cNvPicPr>
            <a:picLocks noChangeAspect="1"/>
          </p:cNvPicPr>
          <p:nvPr/>
        </p:nvPicPr>
        <p:blipFill>
          <a:blip r:embed="rId1"/>
          <a:srcRect l="9302" r="9302"/>
          <a:stretch>
            <a:fillRect/>
          </a:stretch>
        </p:blipFill>
        <p:spPr>
          <a:xfrm>
            <a:off x="0" y="0"/>
            <a:ext cx="9144000" cy="1027511"/>
          </a:xfrm>
          <a:prstGeom prst="rect">
            <a:avLst/>
          </a:prstGeom>
        </p:spPr>
      </p:pic>
      <p:sp>
        <p:nvSpPr>
          <p:cNvPr id="2" name="AutoShape 2"/>
          <p:cNvSpPr/>
          <p:nvPr/>
        </p:nvSpPr>
        <p:spPr>
          <a:xfrm>
            <a:off x="543560" y="260985"/>
            <a:ext cx="8001000" cy="476250"/>
          </a:xfrm>
          <a:prstGeom prst="rect">
            <a:avLst/>
          </a:prstGeom>
          <a:noFill/>
          <a:ln w="12700" cap="flat" cmpd="sng">
            <a:noFill/>
            <a:prstDash val="solid"/>
            <a:round/>
          </a:ln>
        </p:spPr>
        <p:txBody>
          <a:bodyPr vert="horz" wrap="square" lIns="0" tIns="0" rIns="0" bIns="0" rtlCol="0" anchor="ctr" anchorCtr="0"/>
          <a:lstStyle/>
          <a:p>
            <a:pPr algn="l">
              <a:lnSpc>
                <a:spcPct val="125000"/>
              </a:lnSpc>
              <a:buClrTx/>
              <a:buSzTx/>
              <a:buFontTx/>
              <a:defRPr/>
            </a:pPr>
            <a:r>
              <a:rPr lang="en-US" sz="2250" b="1" dirty="0">
                <a:solidFill>
                  <a:srgbClr val="333333"/>
                </a:solidFill>
                <a:latin typeface="微软雅黑" panose="020B0503020204020204" charset="-122"/>
                <a:ea typeface="微软雅黑" panose="020B0503020204020204" charset="-122"/>
                <a:sym typeface="Noto Sans SC" panose="020B0200000000000000" charset="-122"/>
              </a:rPr>
              <a:t>4.2 Model Misspecification</a:t>
            </a:r>
            <a:endParaRPr lang="en-US" sz="2250" b="1" dirty="0">
              <a:solidFill>
                <a:srgbClr val="333333"/>
              </a:solidFill>
              <a:latin typeface="微软雅黑" panose="020B0503020204020204" charset="-122"/>
              <a:ea typeface="微软雅黑" panose="020B0503020204020204" charset="-122"/>
            </a:endParaRPr>
          </a:p>
        </p:txBody>
      </p:sp>
      <p:grpSp>
        <p:nvGrpSpPr>
          <p:cNvPr id="3" name="组合 2"/>
          <p:cNvGrpSpPr/>
          <p:nvPr>
            <p:custDataLst>
              <p:tags r:id="rId2"/>
            </p:custDataLst>
          </p:nvPr>
        </p:nvGrpSpPr>
        <p:grpSpPr>
          <a:xfrm>
            <a:off x="166599" y="1136796"/>
            <a:ext cx="3193584" cy="1786504"/>
            <a:chOff x="900" y="2100"/>
            <a:chExt cx="6001" cy="2887"/>
          </a:xfrm>
        </p:grpSpPr>
        <p:sp>
          <p:nvSpPr>
            <p:cNvPr id="4" name="AutoShape 4"/>
            <p:cNvSpPr/>
            <p:nvPr>
              <p:custDataLst>
                <p:tags r:id="rId3"/>
              </p:custDataLst>
            </p:nvPr>
          </p:nvSpPr>
          <p:spPr>
            <a:xfrm>
              <a:off x="900" y="2100"/>
              <a:ext cx="6001" cy="2887"/>
            </a:xfrm>
            <a:prstGeom prst="roundRect">
              <a:avLst>
                <a:gd name="adj" fmla="val 4324"/>
              </a:avLst>
            </a:prstGeom>
            <a:solidFill>
              <a:srgbClr val="F7FAFC">
                <a:alpha val="100000"/>
              </a:srgbClr>
            </a:solidFill>
            <a:ln cap="flat" cmpd="sng">
              <a:solidFill>
                <a:srgbClr val="C7D8E3">
                  <a:alpha val="100000"/>
                </a:srgbClr>
              </a:solidFill>
              <a:prstDash val="solid"/>
              <a:round/>
            </a:ln>
          </p:spPr>
          <p:txBody>
            <a:bodyPr vert="horz" wrap="square" lIns="47625" tIns="47625" rIns="47625" bIns="47625" rtlCol="0" anchor="ctr"/>
            <a:lstStyle/>
            <a:p>
              <a:pPr algn="ctr">
                <a:defRPr/>
              </a:pPr>
              <a:endParaRPr sz="1350"/>
            </a:p>
          </p:txBody>
        </p:sp>
        <p:sp>
          <p:nvSpPr>
            <p:cNvPr id="5" name="AutoShape 5"/>
            <p:cNvSpPr/>
            <p:nvPr>
              <p:custDataLst>
                <p:tags r:id="rId4"/>
              </p:custDataLst>
            </p:nvPr>
          </p:nvSpPr>
          <p:spPr>
            <a:xfrm>
              <a:off x="1019" y="2100"/>
              <a:ext cx="5400" cy="45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1200" b="1" dirty="0">
                  <a:solidFill>
                    <a:srgbClr val="007A6B"/>
                  </a:solidFill>
                  <a:latin typeface="Noto Sans SC" panose="020B0200000000000000" charset="-122"/>
                  <a:ea typeface="Noto Sans SC" panose="020B0200000000000000" charset="-122"/>
                </a:rPr>
                <a:t>What is Model Misspecification</a:t>
              </a:r>
              <a:r>
                <a:rPr lang="en-US" sz="1200" b="1" dirty="0">
                  <a:solidFill>
                    <a:srgbClr val="007A6B"/>
                  </a:solidFill>
                  <a:latin typeface="Noto Sans SC" panose="020B0200000000000000" charset="-122"/>
                  <a:ea typeface="Noto Sans SC" panose="020B0200000000000000" charset="-122"/>
                  <a:sym typeface="Noto Sans SC" panose="020B0200000000000000" charset="-122"/>
                </a:rPr>
                <a:t>？</a:t>
              </a:r>
              <a:endParaRPr lang="en-US" sz="1200" b="1" dirty="0">
                <a:solidFill>
                  <a:srgbClr val="007A6B"/>
                </a:solidFill>
                <a:latin typeface="Noto Sans SC" panose="020B0200000000000000" charset="-122"/>
                <a:ea typeface="Noto Sans SC" panose="020B0200000000000000" charset="-122"/>
              </a:endParaRPr>
            </a:p>
          </p:txBody>
        </p:sp>
        <mc:AlternateContent xmlns:mc="http://schemas.openxmlformats.org/markup-compatibility/2006">
          <mc:Choice xmlns:a14="http://schemas.microsoft.com/office/drawing/2010/main" Requires="a14">
            <p:sp>
              <p:nvSpPr>
                <p:cNvPr id="6" name="AutoShape 6"/>
                <p:cNvSpPr/>
                <p:nvPr>
                  <p:custDataLst>
                    <p:tags r:id="rId5"/>
                  </p:custDataLst>
                </p:nvPr>
              </p:nvSpPr>
              <p:spPr>
                <a:xfrm>
                  <a:off x="1062" y="2550"/>
                  <a:ext cx="5737" cy="2415"/>
                </a:xfrm>
                <a:prstGeom prst="rect">
                  <a:avLst/>
                </a:prstGeom>
                <a:noFill/>
                <a:ln w="12700" cap="flat" cmpd="sng">
                  <a:noFill/>
                  <a:prstDash val="solid"/>
                  <a:round/>
                </a:ln>
              </p:spPr>
              <p:txBody>
                <a:bodyPr vert="horz" wrap="square" lIns="0" tIns="0" rIns="0" bIns="0" rtlCol="0" anchor="ctr" anchorCtr="0"/>
                <a:lstStyle/>
                <a:p>
                  <a:r>
                    <a:rPr lang="en-US" altLang="zh-CN" sz="1000" b="1" dirty="0">
                      <a:latin typeface="Times New Roman" panose="02020603050405020304" pitchFamily="18" charset="0"/>
                      <a:cs typeface="Times New Roman" panose="02020603050405020304" pitchFamily="18" charset="0"/>
                    </a:rPr>
                    <a:t>Ideal </a:t>
                  </a:r>
                  <a:r>
                    <a:rPr lang="en-US" altLang="zh-CN" sz="1000" b="1" dirty="0" err="1">
                      <a:latin typeface="Times New Roman" panose="02020603050405020304" pitchFamily="18" charset="0"/>
                      <a:cs typeface="Times New Roman" panose="02020603050405020304" pitchFamily="18" charset="0"/>
                    </a:rPr>
                    <a:t>Assumption</a:t>
                  </a:r>
                  <a:r>
                    <a:rPr lang="en-US" sz="975" b="1" dirty="0" err="1">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000" dirty="0" err="1">
                      <a:latin typeface="Times New Roman" panose="02020603050405020304" pitchFamily="18" charset="0"/>
                      <a:cs typeface="Times New Roman" panose="02020603050405020304" pitchFamily="18" charset="0"/>
                    </a:rPr>
                    <a:t>We</a:t>
                  </a:r>
                  <a:r>
                    <a:rPr lang="en-US" altLang="zh-CN" sz="1000" dirty="0">
                      <a:latin typeface="Times New Roman" panose="02020603050405020304" pitchFamily="18" charset="0"/>
                      <a:cs typeface="Times New Roman" panose="02020603050405020304" pitchFamily="18" charset="0"/>
                    </a:rPr>
                    <a:t> typically assume the response variable</a:t>
                  </a:r>
                  <a14:m>
                    <m:oMath xmlns:m="http://schemas.openxmlformats.org/officeDocument/2006/math">
                      <m:sSub>
                        <m:sSubPr>
                          <m:ctrlPr>
                            <a:rPr lang="en-US" sz="1000">
                              <a:latin typeface="Times New Roman" panose="02020603050405020304" pitchFamily="18" charset="0"/>
                              <a:cs typeface="Times New Roman" panose="02020603050405020304" pitchFamily="18" charset="0"/>
                              <a:sym typeface="Noto Sans SC" panose="020B0200000000000000" charset="-122"/>
                            </a:rPr>
                          </m:ctrlPr>
                        </m:sSubPr>
                        <m:e>
                          <m:r>
                            <a:rPr lang="en-US" sz="1000">
                              <a:latin typeface="Times New Roman" panose="02020603050405020304" pitchFamily="18" charset="0"/>
                              <a:cs typeface="Times New Roman" panose="02020603050405020304" pitchFamily="18" charset="0"/>
                              <a:sym typeface="Noto Sans SC" panose="020B0200000000000000" charset="-122"/>
                            </a:rPr>
                            <m:t>𝑦</m:t>
                          </m:r>
                        </m:e>
                        <m:sub>
                          <m:r>
                            <a:rPr lang="en-US" sz="1000">
                              <a:latin typeface="Times New Roman" panose="02020603050405020304" pitchFamily="18" charset="0"/>
                              <a:cs typeface="Times New Roman" panose="02020603050405020304" pitchFamily="18" charset="0"/>
                              <a:sym typeface="Noto Sans SC" panose="020B0200000000000000" charset="-122"/>
                            </a:rPr>
                            <m:t>𝑘𝑖</m:t>
                          </m:r>
                        </m:sub>
                      </m:sSub>
                    </m:oMath>
                  </a14:m>
                  <a:r>
                    <a:rPr lang="en-US" sz="1000" dirty="0">
                      <a:latin typeface="Times New Roman" panose="02020603050405020304" pitchFamily="18" charset="0"/>
                      <a:cs typeface="Times New Roman" panose="02020603050405020304" pitchFamily="18" charset="0"/>
                      <a:sym typeface="Noto Sans SC" panose="020B0200000000000000" charset="-122"/>
                    </a:rPr>
                    <a:t> </a:t>
                  </a:r>
                  <a:r>
                    <a:rPr lang="en-US" altLang="zh-CN" sz="1000" dirty="0" err="1">
                      <a:latin typeface="Times New Roman" panose="02020603050405020304" pitchFamily="18" charset="0"/>
                      <a:cs typeface="Times New Roman" panose="02020603050405020304" pitchFamily="18" charset="0"/>
                    </a:rPr>
                    <a:t>trictly</a:t>
                  </a:r>
                  <a:r>
                    <a:rPr lang="en-US" altLang="zh-CN" sz="1000" dirty="0">
                      <a:latin typeface="Times New Roman" panose="02020603050405020304" pitchFamily="18" charset="0"/>
                      <a:cs typeface="Times New Roman" panose="02020603050405020304" pitchFamily="18" charset="0"/>
                    </a:rPr>
                    <a:t> follows an exponential family distribution, and construct the Generalized Linear Model (GLM) as the basis for statistical inference.</a:t>
                  </a:r>
                  <a:endParaRPr lang="en-US" altLang="zh-CN" sz="1000" dirty="0">
                    <a:latin typeface="Times New Roman" panose="02020603050405020304" pitchFamily="18" charset="0"/>
                    <a:cs typeface="Times New Roman" panose="02020603050405020304" pitchFamily="18" charset="0"/>
                  </a:endParaRPr>
                </a:p>
                <a:p>
                  <a:pPr>
                    <a:lnSpc>
                      <a:spcPct val="125000"/>
                    </a:lnSpc>
                    <a:buClrTx/>
                    <a:buFontTx/>
                    <a:defRPr/>
                  </a:pPr>
                  <a:r>
                    <a:rPr lang="en-US" altLang="zh-CN" sz="1000" b="1" dirty="0" err="1"/>
                    <a:t>Dilemma</a:t>
                  </a:r>
                  <a:r>
                    <a:rPr lang="en-US" sz="975" b="1" dirty="0" err="1">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000" dirty="0" err="1">
                      <a:latin typeface="Times New Roman" panose="02020603050405020304" pitchFamily="18" charset="0"/>
                      <a:cs typeface="Times New Roman" panose="02020603050405020304" pitchFamily="18" charset="0"/>
                    </a:rPr>
                    <a:t>Real-world</a:t>
                  </a:r>
                  <a:r>
                    <a:rPr lang="en-US" altLang="zh-CN" sz="1000" dirty="0">
                      <a:latin typeface="Times New Roman" panose="02020603050405020304" pitchFamily="18" charset="0"/>
                      <a:cs typeface="Times New Roman" panose="02020603050405020304" pitchFamily="18" charset="0"/>
                    </a:rPr>
                    <a:t> data often suffers from distribution shifts, outlier interference, or underlying nonlinear effects, causing systematic deviations between the pre-specified GLM structure and the true data generating mechanism.</a:t>
                  </a:r>
                  <a:endParaRPr lang="en-US" sz="1000" dirty="0">
                    <a:latin typeface="Times New Roman" panose="02020603050405020304" pitchFamily="18" charset="0"/>
                    <a:cs typeface="Times New Roman" panose="02020603050405020304" pitchFamily="18" charset="0"/>
                    <a:sym typeface="Noto Sans SC" panose="020B0200000000000000" charset="-122"/>
                  </a:endParaRPr>
                </a:p>
              </p:txBody>
            </p:sp>
          </mc:Choice>
          <mc:Fallback>
            <p:sp>
              <p:nvSpPr>
                <p:cNvPr id="6" name="AutoShape 6"/>
                <p:cNvSpPr>
                  <a:spLocks noRot="1" noChangeAspect="1" noMove="1" noResize="1" noEditPoints="1" noAdjustHandles="1" noChangeArrowheads="1" noChangeShapeType="1" noTextEdit="1"/>
                </p:cNvSpPr>
                <p:nvPr>
                  <p:custDataLst>
                    <p:tags r:id="rId6"/>
                  </p:custDataLst>
                </p:nvPr>
              </p:nvSpPr>
              <p:spPr>
                <a:xfrm>
                  <a:off x="1062" y="2550"/>
                  <a:ext cx="5737" cy="2415"/>
                </a:xfrm>
                <a:prstGeom prst="rect">
                  <a:avLst/>
                </a:prstGeom>
                <a:blipFill rotWithShape="1">
                  <a:blip r:embed="rId7"/>
                </a:blipFill>
                <a:ln w="12700" cap="flat" cmpd="sng">
                  <a:noFill/>
                  <a:prstDash val="solid"/>
                  <a:round/>
                </a:ln>
              </p:spPr>
              <p:txBody>
                <a:bodyPr/>
                <a:lstStyle/>
                <a:p>
                  <a:r>
                    <a:rPr lang="zh-CN" altLang="en-US">
                      <a:noFill/>
                    </a:rPr>
                    <a:t> </a:t>
                  </a:r>
                </a:p>
              </p:txBody>
            </p:sp>
          </mc:Fallback>
        </mc:AlternateContent>
      </p:grpSp>
      <p:sp>
        <p:nvSpPr>
          <p:cNvPr id="7" name="AutoShape 7"/>
          <p:cNvSpPr/>
          <p:nvPr>
            <p:custDataLst>
              <p:tags r:id="rId8"/>
            </p:custDataLst>
          </p:nvPr>
        </p:nvSpPr>
        <p:spPr>
          <a:xfrm>
            <a:off x="172055" y="2953744"/>
            <a:ext cx="3174505" cy="2099043"/>
          </a:xfrm>
          <a:prstGeom prst="roundRect">
            <a:avLst>
              <a:gd name="adj" fmla="val 4324"/>
            </a:avLst>
          </a:prstGeom>
          <a:solidFill>
            <a:srgbClr val="FFF5F5">
              <a:alpha val="100000"/>
            </a:srgbClr>
          </a:solidFill>
          <a:ln cap="flat" cmpd="sng">
            <a:solidFill>
              <a:srgbClr val="E6C6C6">
                <a:alpha val="100000"/>
              </a:srgbClr>
            </a:solidFill>
            <a:prstDash val="solid"/>
            <a:round/>
          </a:ln>
        </p:spPr>
        <p:txBody>
          <a:bodyPr vert="horz" wrap="square" lIns="47625" tIns="47625" rIns="47625" bIns="47625" rtlCol="0" anchor="ctr"/>
          <a:lstStyle/>
          <a:p>
            <a:pPr algn="ctr">
              <a:defRPr/>
            </a:pPr>
            <a:endParaRPr sz="1350"/>
          </a:p>
        </p:txBody>
      </p:sp>
      <p:grpSp>
        <p:nvGrpSpPr>
          <p:cNvPr id="13" name="组合 12"/>
          <p:cNvGrpSpPr/>
          <p:nvPr>
            <p:custDataLst>
              <p:tags r:id="rId9"/>
            </p:custDataLst>
          </p:nvPr>
        </p:nvGrpSpPr>
        <p:grpSpPr>
          <a:xfrm>
            <a:off x="230648" y="2953744"/>
            <a:ext cx="3075428" cy="2054191"/>
            <a:chOff x="6320" y="2300"/>
            <a:chExt cx="7531" cy="3109"/>
          </a:xfrm>
        </p:grpSpPr>
        <p:sp>
          <p:nvSpPr>
            <p:cNvPr id="8" name="AutoShape 8"/>
            <p:cNvSpPr/>
            <p:nvPr>
              <p:custDataLst>
                <p:tags r:id="rId10"/>
              </p:custDataLst>
            </p:nvPr>
          </p:nvSpPr>
          <p:spPr>
            <a:xfrm>
              <a:off x="6320" y="2300"/>
              <a:ext cx="7531" cy="618"/>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200" b="1" dirty="0">
                  <a:solidFill>
                    <a:srgbClr val="D32F2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1200" b="1" dirty="0">
                  <a:solidFill>
                    <a:srgbClr val="D32F2F"/>
                  </a:solidFill>
                  <a:latin typeface="Noto Sans SC" panose="020B0200000000000000" charset="-122"/>
                  <a:ea typeface="Noto Sans SC" panose="020B0200000000000000" charset="-122"/>
                </a:rPr>
                <a:t>Fatal Flaw of Traditional Methods</a:t>
              </a:r>
              <a:endParaRPr lang="en-US" sz="825" dirty="0"/>
            </a:p>
          </p:txBody>
        </p:sp>
        <p:sp>
          <p:nvSpPr>
            <p:cNvPr id="9" name="AutoShape 9"/>
            <p:cNvSpPr/>
            <p:nvPr>
              <p:custDataLst>
                <p:tags r:id="rId11"/>
              </p:custDataLst>
            </p:nvPr>
          </p:nvSpPr>
          <p:spPr>
            <a:xfrm>
              <a:off x="6374" y="2918"/>
              <a:ext cx="7477" cy="2491"/>
            </a:xfrm>
            <a:prstGeom prst="rect">
              <a:avLst/>
            </a:prstGeom>
            <a:noFill/>
            <a:ln w="12700" cap="flat" cmpd="sng">
              <a:noFill/>
              <a:prstDash val="solid"/>
              <a:round/>
            </a:ln>
          </p:spPr>
          <p:txBody>
            <a:bodyPr vert="horz" wrap="square" lIns="0" tIns="0" rIns="0" bIns="0" rtlCol="0" anchor="ctr" anchorCtr="0"/>
            <a:lstStyle/>
            <a:p>
              <a:pPr indent="0" fontAlgn="auto">
                <a:lnSpc>
                  <a:spcPct val="125000"/>
                </a:lnSpc>
                <a:defRPr/>
              </a:pPr>
              <a:r>
                <a:rPr lang="en-US" altLang="zh-CN" sz="1000" dirty="0">
                  <a:latin typeface="Times New Roman" panose="02020603050405020304" pitchFamily="18" charset="0"/>
                  <a:cs typeface="Times New Roman" panose="02020603050405020304" pitchFamily="18" charset="0"/>
                </a:rPr>
                <a:t>Most classical high-dimensional feature selection methods are extremely sensitive to model misspecification. Even minor distributional deviations or incorrect model assumptions will lead to uncontrolled False Discovery Rate (FDR) and a sharp drop in statistical power. In non-ideal real-world data scenarios, the reliability and stability of these methods are significantly compromised, making them unable to meet the requirements of rigorous statistical inference</a:t>
              </a:r>
              <a:r>
                <a:rPr lang="en-US" altLang="zh-CN" sz="1000" dirty="0"/>
                <a:t>.</a:t>
              </a:r>
              <a:endParaRPr lang="en-US" sz="1000" dirty="0">
                <a:solidFill>
                  <a:schemeClr val="tx1"/>
                </a:solidFill>
                <a:latin typeface="等线" panose="02010600030101010101" charset="-122"/>
                <a:ea typeface="等线" panose="02010600030101010101" charset="-122"/>
                <a:cs typeface="等线" panose="02010600030101010101" charset="-122"/>
                <a:sym typeface="Noto Sans SC" panose="020B0200000000000000" charset="-122"/>
              </a:endParaRPr>
            </a:p>
          </p:txBody>
        </p:sp>
      </p:grpSp>
      <p:grpSp>
        <p:nvGrpSpPr>
          <p:cNvPr id="14" name="组合 13"/>
          <p:cNvGrpSpPr/>
          <p:nvPr/>
        </p:nvGrpSpPr>
        <p:grpSpPr>
          <a:xfrm>
            <a:off x="3724889" y="1027511"/>
            <a:ext cx="5283723" cy="2017811"/>
            <a:chOff x="618760" y="988044"/>
            <a:chExt cx="8001000" cy="1433949"/>
          </a:xfrm>
        </p:grpSpPr>
        <p:sp>
          <p:nvSpPr>
            <p:cNvPr id="15" name="AutoShape 3"/>
            <p:cNvSpPr/>
            <p:nvPr>
              <p:custDataLst>
                <p:tags r:id="rId12"/>
              </p:custDataLst>
            </p:nvPr>
          </p:nvSpPr>
          <p:spPr>
            <a:xfrm>
              <a:off x="618760" y="1047671"/>
              <a:ext cx="8001000" cy="1374322"/>
            </a:xfrm>
            <a:prstGeom prst="roundRect">
              <a:avLst>
                <a:gd name="adj" fmla="val 7407"/>
              </a:avLst>
            </a:prstGeom>
            <a:solidFill>
              <a:srgbClr val="F0F9F8">
                <a:alpha val="100000"/>
              </a:srgbClr>
            </a:solidFill>
            <a:ln cap="flat" cmpd="sng">
              <a:solidFill>
                <a:srgbClr val="C1E0DC">
                  <a:alpha val="100000"/>
                </a:srgbClr>
              </a:solidFill>
              <a:prstDash val="solid"/>
              <a:round/>
            </a:ln>
          </p:spPr>
          <p:txBody>
            <a:bodyPr vert="horz" wrap="square" lIns="47625" tIns="47625" rIns="47625" bIns="47625" rtlCol="0" anchor="ctr"/>
            <a:lstStyle/>
            <a:p>
              <a:pPr algn="ctr">
                <a:defRPr/>
              </a:pPr>
              <a:endParaRPr sz="1350"/>
            </a:p>
          </p:txBody>
        </p:sp>
        <p:sp>
          <p:nvSpPr>
            <p:cNvPr id="16" name="AutoShape 4"/>
            <p:cNvSpPr/>
            <p:nvPr>
              <p:custDataLst>
                <p:tags r:id="rId13"/>
              </p:custDataLst>
            </p:nvPr>
          </p:nvSpPr>
          <p:spPr>
            <a:xfrm>
              <a:off x="762000" y="988044"/>
              <a:ext cx="7429500" cy="288428"/>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200" b="1" dirty="0">
                  <a:solidFill>
                    <a:srgbClr val="007A6B"/>
                  </a:solidFill>
                  <a:latin typeface="Noto Sans SC" panose="020B0200000000000000" charset="-122"/>
                  <a:ea typeface="Noto Sans SC" panose="020B0200000000000000" charset="-122"/>
                  <a:cs typeface="Noto Sans SC" panose="020B0200000000000000" charset="-122"/>
                  <a:sym typeface="Noto Sans SC" panose="020B0200000000000000" charset="-122"/>
                </a:rPr>
                <a:t>01 / </a:t>
              </a:r>
              <a:r>
                <a:rPr lang="en-US" altLang="zh-CN" sz="1200" b="1" dirty="0">
                  <a:solidFill>
                    <a:srgbClr val="007A6B"/>
                  </a:solidFill>
                  <a:latin typeface="Noto Sans SC" panose="020B0200000000000000" charset="-122"/>
                  <a:ea typeface="Noto Sans SC" panose="020B0200000000000000" charset="-122"/>
                </a:rPr>
                <a:t>Parameter Redefinition</a:t>
              </a:r>
              <a:r>
                <a:rPr lang="en-US" sz="1200" b="1" dirty="0">
                  <a:solidFill>
                    <a:srgbClr val="007A6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825" dirty="0"/>
            </a:p>
          </p:txBody>
        </p:sp>
        <p:sp>
          <p:nvSpPr>
            <p:cNvPr id="17" name="AutoShape 5"/>
            <p:cNvSpPr/>
            <p:nvPr>
              <p:custDataLst>
                <p:tags r:id="rId14"/>
              </p:custDataLst>
            </p:nvPr>
          </p:nvSpPr>
          <p:spPr>
            <a:xfrm>
              <a:off x="762003" y="1683233"/>
              <a:ext cx="7714521" cy="738760"/>
            </a:xfrm>
            <a:prstGeom prst="rect">
              <a:avLst/>
            </a:prstGeom>
            <a:noFill/>
            <a:ln w="12700" cap="flat" cmpd="sng">
              <a:noFill/>
              <a:prstDash val="solid"/>
              <a:round/>
            </a:ln>
          </p:spPr>
          <p:txBody>
            <a:bodyPr vert="horz" wrap="square" lIns="0" tIns="0" rIns="0" bIns="0" rtlCol="0" anchor="ctr" anchorCtr="0"/>
            <a:lstStyle/>
            <a:p>
              <a:pPr>
                <a:lnSpc>
                  <a:spcPct val="125000"/>
                </a:lnSpc>
                <a:buClrTx/>
                <a:buFontTx/>
                <a:defRPr/>
              </a:pPr>
              <a:r>
                <a:rPr lang="en-US" altLang="zh-CN" sz="1000" dirty="0">
                  <a:latin typeface="Times New Roman" panose="02020603050405020304" pitchFamily="18" charset="0"/>
                  <a:cs typeface="Times New Roman" panose="02020603050405020304" pitchFamily="18" charset="0"/>
                </a:rPr>
                <a:t>When the model is </a:t>
              </a:r>
              <a:r>
                <a:rPr lang="en-US" altLang="zh-CN" sz="1000" dirty="0" err="1">
                  <a:latin typeface="Times New Roman" panose="02020603050405020304" pitchFamily="18" charset="0"/>
                  <a:cs typeface="Times New Roman" panose="02020603050405020304" pitchFamily="18" charset="0"/>
                </a:rPr>
                <a:t>misspecified</a:t>
              </a:r>
              <a:r>
                <a:rPr lang="en-US" altLang="zh-CN" sz="1000" dirty="0">
                  <a:latin typeface="Times New Roman" panose="02020603050405020304" pitchFamily="18" charset="0"/>
                  <a:cs typeface="Times New Roman" panose="02020603050405020304" pitchFamily="18" charset="0"/>
                </a:rPr>
                <a:t>, we no longer assume the data follows a specific exponential family distribution. Instead, we define the target parameter as the KL divergence minimizer—the parameter solution that minimizes the difference between the assumed model and the true data distribution. This is the core starting point of the Quasi-Maximum Likelihood Estimation (QMLE) framework</a:t>
              </a:r>
              <a:r>
                <a:rPr lang="en-US" altLang="zh-CN" sz="1000" dirty="0"/>
                <a:t>.</a:t>
              </a:r>
              <a:endParaRPr lang="en-US" sz="1000" dirty="0">
                <a:solidFill>
                  <a:srgbClr val="3C3C3C"/>
                </a:solidFill>
                <a:latin typeface="等线" panose="02010600030101010101" charset="-122"/>
                <a:ea typeface="等线" panose="02010600030101010101" charset="-122"/>
                <a:cs typeface="等线" panose="02010600030101010101" charset="-122"/>
              </a:endParaRPr>
            </a:p>
          </p:txBody>
        </p:sp>
        <p:sp>
          <p:nvSpPr>
            <p:cNvPr id="18" name="AutoShape 7"/>
            <p:cNvSpPr/>
            <p:nvPr>
              <p:custDataLst>
                <p:tags r:id="rId15"/>
              </p:custDataLst>
            </p:nvPr>
          </p:nvSpPr>
          <p:spPr>
            <a:xfrm>
              <a:off x="1514241" y="1459178"/>
              <a:ext cx="5925018" cy="258686"/>
            </a:xfrm>
            <a:prstGeom prst="rect">
              <a:avLst/>
            </a:prstGeom>
            <a:noFill/>
            <a:ln w="12700" cap="flat" cmpd="sng">
              <a:noFill/>
              <a:prstDash val="solid"/>
              <a:round/>
            </a:ln>
          </p:spPr>
          <p:txBody>
            <a:bodyPr vert="horz" wrap="square" lIns="0" tIns="0" rIns="0" bIns="0" rtlCol="0" anchor="ctr" anchorCtr="0"/>
            <a:lstStyle/>
            <a:p>
              <a:pPr algn="ctr">
                <a:lnSpc>
                  <a:spcPct val="125000"/>
                </a:lnSpc>
              </a:pPr>
              <a:endParaRPr lang="en-US" sz="825"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gn="ctr">
                <a:lnSpc>
                  <a:spcPct val="125000"/>
                </a:lnSpc>
              </a:pPr>
              <a:r>
                <a:rPr lang="en-US" sz="825" dirty="0" err="1">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注：f</a:t>
              </a:r>
              <a:r>
                <a:rPr lang="en-US" sz="825"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825" dirty="0">
                  <a:solidFill>
                    <a:srgbClr val="666666"/>
                  </a:solidFill>
                  <a:latin typeface="Noto Sans SC" panose="020B0200000000000000" charset="-122"/>
                  <a:ea typeface="Noto Sans SC" panose="020B0200000000000000" charset="-122"/>
                </a:rPr>
                <a:t>True density; </a:t>
              </a:r>
              <a:r>
                <a:rPr lang="en-US" altLang="zh-CN" sz="825" dirty="0">
                  <a:solidFill>
                    <a:srgbClr val="666666"/>
                  </a:solidFill>
                  <a:latin typeface="Noto Sans SC" panose="020B0200000000000000" charset="-122"/>
                  <a:ea typeface="Noto Sans SC" panose="020B0200000000000000" charset="-122"/>
                  <a:sym typeface="Noto Sans SC" panose="020B0200000000000000" charset="-122"/>
                </a:rPr>
                <a:t>f</a:t>
              </a:r>
              <a:r>
                <a:rPr lang="en-US" altLang="zh-CN" sz="825" dirty="0">
                  <a:solidFill>
                    <a:srgbClr val="666666"/>
                  </a:solidFill>
                  <a:latin typeface="Noto Sans SC" panose="020B0200000000000000" charset="-122"/>
                  <a:ea typeface="Noto Sans SC" panose="020B0200000000000000" charset="-122"/>
                </a:rPr>
                <a:t>: Assumed GLM working model density</a:t>
              </a:r>
              <a:endParaRPr lang="en-US" sz="825" dirty="0">
                <a:solidFill>
                  <a:srgbClr val="666666"/>
                </a:solidFill>
                <a:latin typeface="Noto Sans SC" panose="020B0200000000000000" charset="-122"/>
                <a:ea typeface="Noto Sans SC" panose="020B0200000000000000" charset="-122"/>
                <a:sym typeface="Noto Sans SC" panose="020B0200000000000000" charset="-122"/>
              </a:endParaRPr>
            </a:p>
          </p:txBody>
        </p:sp>
      </p:grpSp>
      <p:pic>
        <p:nvPicPr>
          <p:cNvPr id="21" name="图片 20"/>
          <p:cNvPicPr>
            <a:picLocks noChangeAspect="1"/>
          </p:cNvPicPr>
          <p:nvPr/>
        </p:nvPicPr>
        <p:blipFill>
          <a:blip r:embed="rId16">
            <a:clrChange>
              <a:clrFrom>
                <a:srgbClr val="FFFFFF">
                  <a:alpha val="100000"/>
                </a:srgbClr>
              </a:clrFrom>
              <a:clrTo>
                <a:srgbClr val="FFFFFF">
                  <a:alpha val="100000"/>
                  <a:alpha val="0"/>
                </a:srgbClr>
              </a:clrTo>
            </a:clrChange>
          </a:blip>
          <a:stretch>
            <a:fillRect/>
          </a:stretch>
        </p:blipFill>
        <p:spPr>
          <a:xfrm>
            <a:off x="4578752" y="1281206"/>
            <a:ext cx="3965808" cy="559879"/>
          </a:xfrm>
          <a:prstGeom prst="rect">
            <a:avLst/>
          </a:prstGeom>
        </p:spPr>
      </p:pic>
      <p:pic>
        <p:nvPicPr>
          <p:cNvPr id="23" name="Picture 19"/>
          <p:cNvPicPr>
            <a:picLocks noChangeAspect="1"/>
          </p:cNvPicPr>
          <p:nvPr/>
        </p:nvPicPr>
        <p:blipFill>
          <a:blip r:embed="rId17"/>
          <a:srcRect/>
          <a:stretch>
            <a:fillRect/>
          </a:stretch>
        </p:blipFill>
        <p:spPr>
          <a:xfrm>
            <a:off x="3346561" y="1787067"/>
            <a:ext cx="297255" cy="297255"/>
          </a:xfrm>
          <a:prstGeom prst="rect">
            <a:avLst/>
          </a:prstGeom>
          <a:noFill/>
          <a:ln w="25400" cap="flat" cmpd="sng">
            <a:noFill/>
            <a:prstDash val="solid"/>
            <a:round/>
          </a:ln>
        </p:spPr>
      </p:pic>
      <p:grpSp>
        <p:nvGrpSpPr>
          <p:cNvPr id="24" name="组合 23"/>
          <p:cNvGrpSpPr/>
          <p:nvPr/>
        </p:nvGrpSpPr>
        <p:grpSpPr>
          <a:xfrm>
            <a:off x="3693678" y="3058838"/>
            <a:ext cx="5283723" cy="1949097"/>
            <a:chOff x="571500" y="2383695"/>
            <a:chExt cx="8001000" cy="1140555"/>
          </a:xfrm>
        </p:grpSpPr>
        <p:sp>
          <p:nvSpPr>
            <p:cNvPr id="25" name="AutoShape 8"/>
            <p:cNvSpPr/>
            <p:nvPr>
              <p:custDataLst>
                <p:tags r:id="rId18"/>
              </p:custDataLst>
            </p:nvPr>
          </p:nvSpPr>
          <p:spPr>
            <a:xfrm>
              <a:off x="571500" y="2428875"/>
              <a:ext cx="8001000" cy="1095375"/>
            </a:xfrm>
            <a:prstGeom prst="roundRect">
              <a:avLst>
                <a:gd name="adj" fmla="val 8695"/>
              </a:avLst>
            </a:prstGeom>
            <a:solidFill>
              <a:srgbClr val="F3F4F6">
                <a:alpha val="100000"/>
              </a:srgbClr>
            </a:solidFill>
            <a:ln cap="flat" cmpd="sng">
              <a:solidFill>
                <a:srgbClr val="C4CCDD">
                  <a:alpha val="100000"/>
                </a:srgbClr>
              </a:solidFill>
              <a:prstDash val="solid"/>
              <a:round/>
            </a:ln>
          </p:spPr>
          <p:txBody>
            <a:bodyPr vert="horz" wrap="square" lIns="47625" tIns="47625" rIns="47625" bIns="47625" rtlCol="0" anchor="ctr"/>
            <a:lstStyle/>
            <a:p>
              <a:pPr algn="ctr">
                <a:defRPr/>
              </a:pPr>
              <a:endParaRPr sz="1350"/>
            </a:p>
          </p:txBody>
        </p:sp>
        <p:sp>
          <p:nvSpPr>
            <p:cNvPr id="26" name="AutoShape 9"/>
            <p:cNvSpPr/>
            <p:nvPr>
              <p:custDataLst>
                <p:tags r:id="rId19"/>
              </p:custDataLst>
            </p:nvPr>
          </p:nvSpPr>
          <p:spPr>
            <a:xfrm>
              <a:off x="762002" y="2383695"/>
              <a:ext cx="7429500" cy="28575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200" b="1" dirty="0">
                  <a:solidFill>
                    <a:srgbClr val="007A6B"/>
                  </a:solidFill>
                  <a:latin typeface="Noto Sans SC" panose="020B0200000000000000" charset="-122"/>
                  <a:ea typeface="Noto Sans SC" panose="020B0200000000000000" charset="-122"/>
                  <a:cs typeface="Noto Sans SC" panose="020B0200000000000000" charset="-122"/>
                  <a:sym typeface="Noto Sans SC" panose="020B0200000000000000" charset="-122"/>
                </a:rPr>
                <a:t>02 / </a:t>
              </a:r>
              <a:r>
                <a:rPr lang="en-US" altLang="zh-CN" sz="1200" b="1" dirty="0">
                  <a:solidFill>
                    <a:srgbClr val="007A6B"/>
                  </a:solidFill>
                  <a:latin typeface="Noto Sans SC" panose="020B0200000000000000" charset="-122"/>
                  <a:ea typeface="Noto Sans SC" panose="020B0200000000000000" charset="-122"/>
                </a:rPr>
                <a:t>Equivalence Proof</a:t>
              </a:r>
              <a:r>
                <a:rPr lang="en-US" sz="1200" b="1" dirty="0">
                  <a:solidFill>
                    <a:srgbClr val="007A6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825" dirty="0"/>
            </a:p>
          </p:txBody>
        </p:sp>
        <p:sp>
          <p:nvSpPr>
            <p:cNvPr id="27" name="AutoShape 10"/>
            <p:cNvSpPr/>
            <p:nvPr>
              <p:custDataLst>
                <p:tags r:id="rId20"/>
              </p:custDataLst>
            </p:nvPr>
          </p:nvSpPr>
          <p:spPr>
            <a:xfrm>
              <a:off x="695068" y="2661726"/>
              <a:ext cx="4286247" cy="738926"/>
            </a:xfrm>
            <a:prstGeom prst="rect">
              <a:avLst/>
            </a:prstGeom>
            <a:noFill/>
            <a:ln w="12700" cap="flat" cmpd="sng">
              <a:noFill/>
              <a:prstDash val="solid"/>
              <a:round/>
            </a:ln>
          </p:spPr>
          <p:txBody>
            <a:bodyPr vert="horz" wrap="square" lIns="0" tIns="0" rIns="0" bIns="0" rtlCol="0" anchor="ctr" anchorCtr="0"/>
            <a:lstStyle/>
            <a:p>
              <a:pPr indent="0" fontAlgn="auto">
                <a:lnSpc>
                  <a:spcPct val="125000"/>
                </a:lnSpc>
                <a:defRPr/>
              </a:pPr>
              <a:r>
                <a:rPr lang="en-US" altLang="zh-CN" sz="1000" dirty="0">
                  <a:latin typeface="Times New Roman" panose="02020603050405020304" pitchFamily="18" charset="0"/>
                  <a:cs typeface="Times New Roman" panose="02020603050405020304" pitchFamily="18" charset="0"/>
                </a:rPr>
                <a:t>Mathematical derivation shows that the first-order optimality condition for minimizing KL divergence is equivalent to solving the quasi-score equation. This equation is formally identical to the score equation of the standard GLM, meaning we can perform parameter estimation under the QMLE framework without modifying the original computational pipeline.</a:t>
              </a:r>
              <a:endParaRPr lang="en-US" sz="1000" dirty="0">
                <a:latin typeface="Times New Roman" panose="02020603050405020304" pitchFamily="18" charset="0"/>
                <a:cs typeface="Times New Roman" panose="02020603050405020304" pitchFamily="18" charset="0"/>
              </a:endParaRPr>
            </a:p>
          </p:txBody>
        </p:sp>
        <p:sp>
          <p:nvSpPr>
            <p:cNvPr id="28" name="AutoShape 11"/>
            <p:cNvSpPr/>
            <p:nvPr>
              <p:custDataLst>
                <p:tags r:id="rId21"/>
              </p:custDataLst>
            </p:nvPr>
          </p:nvSpPr>
          <p:spPr>
            <a:xfrm>
              <a:off x="4953000" y="2588895"/>
              <a:ext cx="3333750" cy="887730"/>
            </a:xfrm>
            <a:prstGeom prst="roundRect">
              <a:avLst>
                <a:gd name="adj" fmla="val 9090"/>
              </a:avLst>
            </a:prstGeom>
            <a:solidFill>
              <a:srgbClr val="3B82F6">
                <a:alpha val="8000"/>
              </a:srgbClr>
            </a:solidFill>
            <a:ln w="25400" cap="flat" cmpd="sng">
              <a:noFill/>
              <a:prstDash val="solid"/>
              <a:round/>
            </a:ln>
          </p:spPr>
          <p:txBody>
            <a:bodyPr vert="horz" wrap="square" lIns="47625" tIns="47625" rIns="47625" bIns="47625" rtlCol="0" anchor="ctr"/>
            <a:lstStyle/>
            <a:p>
              <a:pPr algn="ctr">
                <a:defRPr/>
              </a:pPr>
              <a:endParaRPr sz="1350"/>
            </a:p>
          </p:txBody>
        </p:sp>
        <p:sp>
          <p:nvSpPr>
            <p:cNvPr id="29" name="AutoShape 12"/>
            <p:cNvSpPr/>
            <p:nvPr>
              <p:custDataLst>
                <p:tags r:id="rId22"/>
              </p:custDataLst>
            </p:nvPr>
          </p:nvSpPr>
          <p:spPr>
            <a:xfrm>
              <a:off x="5322125" y="3061939"/>
              <a:ext cx="2802440" cy="276221"/>
            </a:xfrm>
            <a:prstGeom prst="rect">
              <a:avLst/>
            </a:prstGeom>
            <a:noFill/>
            <a:ln w="12700" cap="flat" cmpd="sng">
              <a:noFill/>
              <a:prstDash val="solid"/>
              <a:round/>
            </a:ln>
          </p:spPr>
          <p:txBody>
            <a:bodyPr vert="horz" wrap="square" lIns="0" tIns="0" rIns="0" bIns="0" rtlCol="0" anchor="ctr" anchorCtr="0"/>
            <a:lstStyle/>
            <a:p>
              <a:r>
                <a:rPr lang="en-US" altLang="zh-CN" sz="825" dirty="0">
                  <a:solidFill>
                    <a:srgbClr val="666666"/>
                  </a:solidFill>
                  <a:latin typeface="Noto Sans SC" panose="020B0200000000000000" charset="-122"/>
                  <a:ea typeface="Noto Sans SC" panose="020B0200000000000000" charset="-122"/>
                </a:rPr>
                <a:t>The quasi-score equation is formally identical to the GLM score equation</a:t>
              </a:r>
              <a:endParaRPr lang="en-US" altLang="zh-CN" sz="825" dirty="0">
                <a:solidFill>
                  <a:srgbClr val="666666"/>
                </a:solidFill>
                <a:latin typeface="Noto Sans SC" panose="020B0200000000000000" charset="-122"/>
                <a:ea typeface="Noto Sans SC" panose="020B0200000000000000" charset="-122"/>
              </a:endParaRPr>
            </a:p>
          </p:txBody>
        </p:sp>
      </p:grpSp>
      <p:pic>
        <p:nvPicPr>
          <p:cNvPr id="32" name="图片 31"/>
          <p:cNvPicPr>
            <a:picLocks noChangeAspect="1"/>
          </p:cNvPicPr>
          <p:nvPr/>
        </p:nvPicPr>
        <p:blipFill>
          <a:blip r:embed="rId23">
            <a:clrChange>
              <a:clrFrom>
                <a:srgbClr val="FFFFFF">
                  <a:alpha val="100000"/>
                </a:srgbClr>
              </a:clrFrom>
              <a:clrTo>
                <a:srgbClr val="FFFFFF">
                  <a:alpha val="100000"/>
                  <a:alpha val="0"/>
                </a:srgbClr>
              </a:clrTo>
            </a:clrChange>
          </a:blip>
          <a:stretch>
            <a:fillRect/>
          </a:stretch>
        </p:blipFill>
        <p:spPr>
          <a:xfrm>
            <a:off x="6783888" y="3760564"/>
            <a:ext cx="1897704" cy="366602"/>
          </a:xfrm>
          <a:prstGeom prst="rect">
            <a:avLst/>
          </a:prstGeom>
        </p:spPr>
      </p:pic>
      <p:pic>
        <p:nvPicPr>
          <p:cNvPr id="33" name="Picture 19"/>
          <p:cNvPicPr>
            <a:picLocks noChangeAspect="1"/>
          </p:cNvPicPr>
          <p:nvPr/>
        </p:nvPicPr>
        <p:blipFill>
          <a:blip r:embed="rId17"/>
          <a:srcRect/>
          <a:stretch>
            <a:fillRect/>
          </a:stretch>
        </p:blipFill>
        <p:spPr>
          <a:xfrm>
            <a:off x="3360182" y="3792012"/>
            <a:ext cx="297255" cy="297255"/>
          </a:xfrm>
          <a:prstGeom prst="rect">
            <a:avLst/>
          </a:prstGeom>
          <a:noFill/>
          <a:ln w="25400" cap="flat" cmpd="sng">
            <a:noFill/>
            <a:prstDash val="solid"/>
            <a:rou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0" descr="preencoded.png"/>
          <p:cNvPicPr>
            <a:picLocks noChangeAspect="1"/>
          </p:cNvPicPr>
          <p:nvPr/>
        </p:nvPicPr>
        <p:blipFill>
          <a:blip r:embed="rId1"/>
          <a:srcRect l="9302" r="9302"/>
          <a:stretch>
            <a:fillRect/>
          </a:stretch>
        </p:blipFill>
        <p:spPr>
          <a:xfrm>
            <a:off x="0" y="0"/>
            <a:ext cx="9144000" cy="1027511"/>
          </a:xfrm>
          <a:prstGeom prst="rect">
            <a:avLst/>
          </a:prstGeom>
        </p:spPr>
      </p:pic>
      <p:sp>
        <p:nvSpPr>
          <p:cNvPr id="2" name="AutoShape 2"/>
          <p:cNvSpPr/>
          <p:nvPr/>
        </p:nvSpPr>
        <p:spPr>
          <a:xfrm>
            <a:off x="571500" y="285852"/>
            <a:ext cx="8001000" cy="47625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2400" b="1" dirty="0"/>
              <a:t>Empirical Validation </a:t>
            </a:r>
            <a:endParaRPr lang="en-US" sz="825" b="1" dirty="0"/>
          </a:p>
        </p:txBody>
      </p:sp>
      <p:sp>
        <p:nvSpPr>
          <p:cNvPr id="3" name="AutoShape 3"/>
          <p:cNvSpPr/>
          <p:nvPr/>
        </p:nvSpPr>
        <p:spPr>
          <a:xfrm>
            <a:off x="571500" y="1143000"/>
            <a:ext cx="8001000" cy="333375"/>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500" b="1" dirty="0">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1500" b="1" dirty="0">
                <a:solidFill>
                  <a:srgbClr val="005A9C"/>
                </a:solidFill>
                <a:latin typeface="Noto Sans SC" panose="020B0200000000000000" charset="-122"/>
                <a:ea typeface="Noto Sans SC" panose="020B0200000000000000" charset="-122"/>
              </a:rPr>
              <a:t>Goals of Empirical Research</a:t>
            </a:r>
            <a:endParaRPr lang="en-US" sz="825" dirty="0"/>
          </a:p>
        </p:txBody>
      </p:sp>
      <p:sp>
        <p:nvSpPr>
          <p:cNvPr id="4" name="AutoShape 4"/>
          <p:cNvSpPr/>
          <p:nvPr/>
        </p:nvSpPr>
        <p:spPr>
          <a:xfrm>
            <a:off x="669851" y="1516560"/>
            <a:ext cx="8102009" cy="666750"/>
          </a:xfrm>
          <a:prstGeom prst="rect">
            <a:avLst/>
          </a:prstGeom>
          <a:noFill/>
          <a:ln w="12700" cap="flat" cmpd="sng">
            <a:noFill/>
            <a:prstDash val="solid"/>
            <a:round/>
          </a:ln>
        </p:spPr>
        <p:txBody>
          <a:bodyPr vert="horz" wrap="square" lIns="0" tIns="0" rIns="0" bIns="0" rtlCol="0" anchor="ctr" anchorCtr="0"/>
          <a:lstStyle/>
          <a:p>
            <a:pPr>
              <a:lnSpc>
                <a:spcPct val="117000"/>
              </a:lnSpc>
              <a:defRPr/>
            </a:pPr>
            <a:r>
              <a:rPr lang="en-US" altLang="zh-CN" sz="1200" dirty="0">
                <a:latin typeface="Times New Roman" panose="02020603050405020304" pitchFamily="18" charset="0"/>
                <a:cs typeface="Times New Roman" panose="02020603050405020304" pitchFamily="18" charset="0"/>
              </a:rPr>
              <a:t>At the algorithm design and theoretical derivation level, we have demonstrated that Fed-FDR has four core theoretical advantages: </a:t>
            </a:r>
            <a:r>
              <a:rPr lang="en-US" altLang="zh-CN" sz="1200" b="1" dirty="0">
                <a:latin typeface="Times New Roman" panose="02020603050405020304" pitchFamily="18" charset="0"/>
                <a:cs typeface="Times New Roman" panose="02020603050405020304" pitchFamily="18" charset="0"/>
              </a:rPr>
              <a:t>strict FDR control, high statistical power, low communication cost, and robustness to heterogeneity. </a:t>
            </a:r>
            <a:r>
              <a:rPr lang="en-US" altLang="zh-CN" sz="1200" dirty="0">
                <a:latin typeface="Times New Roman" panose="02020603050405020304" pitchFamily="18" charset="0"/>
                <a:cs typeface="Times New Roman" panose="02020603050405020304" pitchFamily="18" charset="0"/>
              </a:rPr>
              <a:t>This empirical section focuses on answering two key questions through quantitative analysis:</a:t>
            </a:r>
            <a:endParaRPr lang="en-US" sz="1200" dirty="0">
              <a:latin typeface="Times New Roman" panose="02020603050405020304" pitchFamily="18" charset="0"/>
              <a:cs typeface="Times New Roman" panose="02020603050405020304" pitchFamily="18" charset="0"/>
            </a:endParaRPr>
          </a:p>
        </p:txBody>
      </p:sp>
      <p:grpSp>
        <p:nvGrpSpPr>
          <p:cNvPr id="17" name="组合 16"/>
          <p:cNvGrpSpPr/>
          <p:nvPr/>
        </p:nvGrpSpPr>
        <p:grpSpPr>
          <a:xfrm>
            <a:off x="372140" y="2192532"/>
            <a:ext cx="4295110" cy="1491649"/>
            <a:chOff x="982858" y="2381025"/>
            <a:chExt cx="3493892" cy="1333995"/>
          </a:xfrm>
        </p:grpSpPr>
        <p:sp>
          <p:nvSpPr>
            <p:cNvPr id="5" name="AutoShape 5"/>
            <p:cNvSpPr/>
            <p:nvPr/>
          </p:nvSpPr>
          <p:spPr>
            <a:xfrm>
              <a:off x="982858" y="2381025"/>
              <a:ext cx="3493892" cy="1333995"/>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47625" tIns="47625" rIns="47625" bIns="47625" rtlCol="0" anchor="ctr"/>
            <a:lstStyle/>
            <a:p>
              <a:pPr algn="ctr">
                <a:defRPr/>
              </a:pPr>
              <a:endParaRPr sz="1350"/>
            </a:p>
          </p:txBody>
        </p:sp>
        <p:sp>
          <p:nvSpPr>
            <p:cNvPr id="7" name="AutoShape 7"/>
            <p:cNvSpPr/>
            <p:nvPr/>
          </p:nvSpPr>
          <p:spPr>
            <a:xfrm>
              <a:off x="1095375" y="2400114"/>
              <a:ext cx="3238500" cy="1314906"/>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1200" b="1" dirty="0">
                  <a:latin typeface="Times New Roman" panose="02020603050405020304" pitchFamily="18" charset="0"/>
                  <a:cs typeface="Times New Roman" panose="02020603050405020304" pitchFamily="18" charset="0"/>
                </a:rPr>
                <a:t>Performance Validation: Theoretical Expectation vs. Actual Performance </a:t>
              </a:r>
              <a:endParaRPr lang="en-US" altLang="zh-CN" sz="1200" b="1" dirty="0">
                <a:latin typeface="Times New Roman" panose="02020603050405020304" pitchFamily="18" charset="0"/>
                <a:cs typeface="Times New Roman" panose="02020603050405020304" pitchFamily="18" charset="0"/>
              </a:endParaRPr>
            </a:p>
            <a:p>
              <a:pPr>
                <a:lnSpc>
                  <a:spcPct val="125000"/>
                </a:lnSpc>
                <a:defRPr/>
              </a:pPr>
              <a:r>
                <a:rPr lang="en-US" altLang="zh-CN" sz="1200" dirty="0">
                  <a:latin typeface="Times New Roman" panose="02020603050405020304" pitchFamily="18" charset="0"/>
                  <a:cs typeface="Times New Roman" panose="02020603050405020304" pitchFamily="18" charset="0"/>
                </a:rPr>
                <a:t>Can Fed-FDR truly replicate the performance promises from theoretical analysis in non-asymptotic finite-sample scenarios? Rigorous quantitative comparisons with mainstream baseline methods are required.</a:t>
              </a:r>
              <a:endParaRPr lang="en-US" altLang="zh-CN" sz="1200" dirty="0">
                <a:latin typeface="Times New Roman" panose="02020603050405020304" pitchFamily="18" charset="0"/>
                <a:cs typeface="Times New Roman" panose="02020603050405020304" pitchFamily="18" charset="0"/>
              </a:endParaRPr>
            </a:p>
          </p:txBody>
        </p:sp>
      </p:grpSp>
      <p:grpSp>
        <p:nvGrpSpPr>
          <p:cNvPr id="18" name="组合 17"/>
          <p:cNvGrpSpPr/>
          <p:nvPr/>
        </p:nvGrpSpPr>
        <p:grpSpPr>
          <a:xfrm>
            <a:off x="4735251" y="2183310"/>
            <a:ext cx="3837249" cy="1531440"/>
            <a:chOff x="5078606" y="2476500"/>
            <a:chExt cx="3493893" cy="1047750"/>
          </a:xfrm>
        </p:grpSpPr>
        <p:sp>
          <p:nvSpPr>
            <p:cNvPr id="8" name="AutoShape 8"/>
            <p:cNvSpPr/>
            <p:nvPr/>
          </p:nvSpPr>
          <p:spPr>
            <a:xfrm>
              <a:off x="5078606" y="2476500"/>
              <a:ext cx="3493893" cy="104775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47625" tIns="47625" rIns="47625" bIns="47625" rtlCol="0" anchor="ctr"/>
            <a:lstStyle/>
            <a:p>
              <a:pPr algn="ctr">
                <a:defRPr/>
              </a:pPr>
              <a:endParaRPr sz="1350"/>
            </a:p>
          </p:txBody>
        </p:sp>
        <p:sp>
          <p:nvSpPr>
            <p:cNvPr id="10" name="AutoShape 10"/>
            <p:cNvSpPr/>
            <p:nvPr/>
          </p:nvSpPr>
          <p:spPr>
            <a:xfrm>
              <a:off x="5191125" y="2476500"/>
              <a:ext cx="3238500" cy="104775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1200" b="1" dirty="0">
                  <a:latin typeface="Times New Roman" panose="02020603050405020304" pitchFamily="18" charset="0"/>
                  <a:cs typeface="Times New Roman" panose="02020603050405020304" pitchFamily="18" charset="0"/>
                </a:rPr>
                <a:t>Value Validation: Implementation Feasibility in Clinical Scenarios </a:t>
              </a:r>
              <a:endParaRPr lang="en-US" altLang="zh-CN" sz="1200" b="1" dirty="0">
                <a:latin typeface="Times New Roman" panose="02020603050405020304" pitchFamily="18" charset="0"/>
                <a:cs typeface="Times New Roman" panose="02020603050405020304" pitchFamily="18" charset="0"/>
              </a:endParaRPr>
            </a:p>
            <a:p>
              <a:r>
                <a:rPr lang="en-US" altLang="zh-CN" sz="1200" dirty="0">
                  <a:latin typeface="Times New Roman" panose="02020603050405020304" pitchFamily="18" charset="0"/>
                  <a:cs typeface="Times New Roman" panose="02020603050405020304" pitchFamily="18" charset="0"/>
                </a:rPr>
                <a:t>Can Fed-FDR effectively resolve the contradiction between "data silos" and "privacy compliance" in real multi-party isolated clinical research collaborations, and produce high-value scientific results?</a:t>
              </a:r>
              <a:endParaRPr lang="en-US" altLang="zh-CN" sz="1200" dirty="0">
                <a:latin typeface="Times New Roman" panose="02020603050405020304" pitchFamily="18" charset="0"/>
                <a:cs typeface="Times New Roman" panose="02020603050405020304" pitchFamily="18" charset="0"/>
              </a:endParaRPr>
            </a:p>
          </p:txBody>
        </p:sp>
      </p:grpSp>
      <p:sp>
        <p:nvSpPr>
          <p:cNvPr id="11" name="AutoShape 11"/>
          <p:cNvSpPr/>
          <p:nvPr/>
        </p:nvSpPr>
        <p:spPr>
          <a:xfrm>
            <a:off x="571500" y="3714750"/>
            <a:ext cx="8001000" cy="333375"/>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500" b="1" dirty="0">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 Overall Framework of Empirical Research</a:t>
            </a:r>
            <a:endParaRPr lang="en-US" sz="825" dirty="0"/>
          </a:p>
        </p:txBody>
      </p:sp>
      <p:sp>
        <p:nvSpPr>
          <p:cNvPr id="12" name="AutoShape 12"/>
          <p:cNvSpPr/>
          <p:nvPr/>
        </p:nvSpPr>
        <p:spPr>
          <a:xfrm>
            <a:off x="571500" y="4191000"/>
            <a:ext cx="3905250" cy="762000"/>
          </a:xfrm>
          <a:prstGeom prst="roundRect">
            <a:avLst>
              <a:gd name="adj" fmla="val 0"/>
            </a:avLst>
          </a:prstGeom>
          <a:solidFill>
            <a:srgbClr val="EFF6FF">
              <a:alpha val="100000"/>
            </a:srgbClr>
          </a:solidFill>
          <a:ln w="25400" cap="flat" cmpd="sng">
            <a:noFill/>
            <a:prstDash val="solid"/>
            <a:round/>
          </a:ln>
        </p:spPr>
        <p:txBody>
          <a:bodyPr vert="horz" wrap="square" lIns="47625" tIns="47625" rIns="47625" bIns="47625" rtlCol="0" anchor="ctr"/>
          <a:lstStyle/>
          <a:p>
            <a:pPr algn="ctr">
              <a:defRPr/>
            </a:pPr>
            <a:endParaRPr sz="1350"/>
          </a:p>
        </p:txBody>
      </p:sp>
      <p:sp>
        <p:nvSpPr>
          <p:cNvPr id="13" name="AutoShape 13"/>
          <p:cNvSpPr/>
          <p:nvPr/>
        </p:nvSpPr>
        <p:spPr>
          <a:xfrm>
            <a:off x="714375" y="4305300"/>
            <a:ext cx="3619500" cy="5715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350" b="1" dirty="0">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01.Simulation Experiments：</a:t>
            </a:r>
            <a:endParaRPr lang="en-US" sz="1350" b="1" dirty="0">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nSpc>
                <a:spcPct val="125000"/>
              </a:lnSpc>
              <a:defRPr/>
            </a:pPr>
            <a:r>
              <a:rPr lang="en-US" sz="1200" dirty="0">
                <a:latin typeface="Times New Roman" panose="02020603050405020304" pitchFamily="18" charset="0"/>
                <a:cs typeface="Times New Roman" panose="02020603050405020304" pitchFamily="18" charset="0"/>
                <a:sym typeface="Noto Sans SC" panose="020B0200000000000000" charset="-122"/>
              </a:rPr>
              <a:t>Verify the algorithm's robustness and optimal parameter settings under different configurations</a:t>
            </a:r>
            <a:endParaRPr lang="en-US" sz="1200" dirty="0">
              <a:latin typeface="Times New Roman" panose="02020603050405020304" pitchFamily="18" charset="0"/>
              <a:cs typeface="Times New Roman" panose="02020603050405020304" pitchFamily="18" charset="0"/>
            </a:endParaRPr>
          </a:p>
        </p:txBody>
      </p:sp>
      <p:sp>
        <p:nvSpPr>
          <p:cNvPr id="14" name="AutoShape 14"/>
          <p:cNvSpPr/>
          <p:nvPr/>
        </p:nvSpPr>
        <p:spPr>
          <a:xfrm>
            <a:off x="4667250" y="4191000"/>
            <a:ext cx="3905250" cy="762000"/>
          </a:xfrm>
          <a:prstGeom prst="roundRect">
            <a:avLst>
              <a:gd name="adj" fmla="val 0"/>
            </a:avLst>
          </a:prstGeom>
          <a:solidFill>
            <a:srgbClr val="EFF6FF">
              <a:alpha val="100000"/>
            </a:srgbClr>
          </a:solidFill>
          <a:ln w="25400" cap="flat" cmpd="sng">
            <a:noFill/>
            <a:prstDash val="solid"/>
            <a:round/>
          </a:ln>
        </p:spPr>
        <p:txBody>
          <a:bodyPr vert="horz" wrap="square" lIns="47625" tIns="47625" rIns="47625" bIns="47625" rtlCol="0" anchor="ctr"/>
          <a:lstStyle/>
          <a:p>
            <a:pPr algn="ctr">
              <a:defRPr/>
            </a:pPr>
            <a:endParaRPr sz="1350"/>
          </a:p>
        </p:txBody>
      </p:sp>
      <p:sp>
        <p:nvSpPr>
          <p:cNvPr id="15" name="AutoShape 15"/>
          <p:cNvSpPr/>
          <p:nvPr/>
        </p:nvSpPr>
        <p:spPr>
          <a:xfrm>
            <a:off x="4810125" y="4305300"/>
            <a:ext cx="3619500" cy="5715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350" b="1" dirty="0">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02. Real Clinical Data Application：</a:t>
            </a:r>
            <a:endParaRPr lang="en-US" sz="1350" b="1" dirty="0">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nSpc>
                <a:spcPct val="125000"/>
              </a:lnSpc>
              <a:defRPr/>
            </a:pPr>
            <a:r>
              <a:rPr lang="en-US" sz="1200" dirty="0">
                <a:latin typeface="Times New Roman" panose="02020603050405020304" pitchFamily="18" charset="0"/>
                <a:cs typeface="Times New Roman" panose="02020603050405020304" pitchFamily="18" charset="0"/>
                <a:sym typeface="Noto Sans SC" panose="020B0200000000000000" charset="-122"/>
              </a:rPr>
              <a:t>Validate the method's implementation value using long COVID data from 34 real medical sites</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9276" r="9276"/>
          <a:stretch>
            <a:fillRect/>
          </a:stretch>
        </p:blipFill>
        <p:spPr>
          <a:xfrm>
            <a:off x="0" y="0"/>
            <a:ext cx="9144000" cy="1028700"/>
          </a:xfrm>
          <a:prstGeom prst="rect">
            <a:avLst/>
          </a:prstGeom>
          <a:noFill/>
          <a:ln w="25400" cap="flat" cmpd="sng">
            <a:noFill/>
            <a:prstDash val="solid"/>
            <a:round/>
          </a:ln>
        </p:spPr>
      </p:pic>
      <p:sp>
        <p:nvSpPr>
          <p:cNvPr id="3" name="AutoShape 3"/>
          <p:cNvSpPr/>
          <p:nvPr/>
        </p:nvSpPr>
        <p:spPr>
          <a:xfrm>
            <a:off x="571500" y="266700"/>
            <a:ext cx="8001000" cy="4826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Experimental Setup: Baseline Methods &amp; Metrics</a:t>
            </a:r>
            <a:endParaRPr lang="en-US" sz="1100"/>
          </a:p>
        </p:txBody>
      </p:sp>
      <p:sp>
        <p:nvSpPr>
          <p:cNvPr id="4" name="AutoShape 4"/>
          <p:cNvSpPr/>
          <p:nvPr/>
        </p:nvSpPr>
        <p:spPr>
          <a:xfrm>
            <a:off x="571500" y="1028700"/>
            <a:ext cx="2476500" cy="41148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619937" y="1009796"/>
            <a:ext cx="2428063" cy="292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dirty="0">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Comparative Baselines</a:t>
            </a:r>
            <a:endParaRPr lang="en-US" sz="1100" dirty="0"/>
          </a:p>
        </p:txBody>
      </p:sp>
      <p:sp>
        <p:nvSpPr>
          <p:cNvPr id="7" name="AutoShape 7"/>
          <p:cNvSpPr/>
          <p:nvPr/>
        </p:nvSpPr>
        <p:spPr>
          <a:xfrm>
            <a:off x="711200" y="1803400"/>
            <a:ext cx="2197100" cy="28067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spcBef>
                <a:spcPts val="600"/>
              </a:spcBef>
              <a:defRPr/>
            </a:pPr>
            <a:r>
              <a:rPr lang="en-US" sz="1000" b="1" i="0" u="none" strike="noStrike" dirty="0">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1. </a:t>
            </a:r>
            <a:r>
              <a:rPr lang="en-US" sz="1000" b="1" i="0" u="none" strike="noStrike" dirty="0" err="1">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BHq</a:t>
            </a:r>
            <a:r>
              <a:rPr lang="en-US" sz="1000" b="1" i="0" u="none" strike="noStrike" dirty="0">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 (Gold Standard):</a:t>
            </a:r>
            <a:r>
              <a:rPr lang="en-US" sz="1100" dirty="0">
                <a:latin typeface="Times New Roman" panose="02020603050405020304" pitchFamily="18" charset="0"/>
                <a:cs typeface="Times New Roman" panose="02020603050405020304" pitchFamily="18" charset="0"/>
                <a:sym typeface="Noto Sans SC" panose="020B0200000000000000" charset="-122"/>
              </a:rPr>
              <a:t>The upper bound in centralized setting. It computes p-values via </a:t>
            </a:r>
            <a:r>
              <a:rPr lang="en-US" sz="1100" dirty="0" err="1">
                <a:latin typeface="Times New Roman" panose="02020603050405020304" pitchFamily="18" charset="0"/>
                <a:cs typeface="Times New Roman" panose="02020603050405020304" pitchFamily="18" charset="0"/>
                <a:sym typeface="Noto Sans SC" panose="020B0200000000000000" charset="-122"/>
              </a:rPr>
              <a:t>desparsified</a:t>
            </a:r>
            <a:r>
              <a:rPr lang="en-US" sz="1100" dirty="0">
                <a:latin typeface="Times New Roman" panose="02020603050405020304" pitchFamily="18" charset="0"/>
                <a:cs typeface="Times New Roman" panose="02020603050405020304" pitchFamily="18" charset="0"/>
                <a:sym typeface="Noto Sans SC" panose="020B0200000000000000" charset="-122"/>
              </a:rPr>
              <a:t> Lasso and strictly controls FDR using the </a:t>
            </a:r>
            <a:r>
              <a:rPr lang="en-US" sz="1100" dirty="0" err="1">
                <a:latin typeface="Times New Roman" panose="02020603050405020304" pitchFamily="18" charset="0"/>
                <a:cs typeface="Times New Roman" panose="02020603050405020304" pitchFamily="18" charset="0"/>
                <a:sym typeface="Noto Sans SC" panose="020B0200000000000000" charset="-122"/>
              </a:rPr>
              <a:t>BHq</a:t>
            </a:r>
            <a:r>
              <a:rPr lang="en-US" sz="1100" dirty="0">
                <a:latin typeface="Times New Roman" panose="02020603050405020304" pitchFamily="18" charset="0"/>
                <a:cs typeface="Times New Roman" panose="02020603050405020304" pitchFamily="18" charset="0"/>
                <a:sym typeface="Noto Sans SC" panose="020B0200000000000000" charset="-122"/>
              </a:rPr>
              <a:t> procedure.</a:t>
            </a:r>
            <a:endParaRPr lang="en-US" sz="1100" dirty="0">
              <a:latin typeface="Times New Roman" panose="02020603050405020304" pitchFamily="18" charset="0"/>
              <a:cs typeface="Times New Roman" panose="02020603050405020304" pitchFamily="18" charset="0"/>
            </a:endParaRPr>
          </a:p>
          <a:p>
            <a:pPr indent="0" algn="l">
              <a:spcBef>
                <a:spcPts val="800"/>
              </a:spcBef>
            </a:pPr>
            <a:r>
              <a:rPr lang="en-US" sz="1000" b="1" i="0" u="none" strike="noStrike" dirty="0">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2. </a:t>
            </a:r>
            <a:r>
              <a:rPr lang="en-US" sz="1000" b="1" i="0" u="none" strike="noStrike" dirty="0" err="1">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Meta-BHq:</a:t>
            </a:r>
            <a:r>
              <a:rPr lang="en-US" sz="1100" dirty="0" err="1">
                <a:latin typeface="Times New Roman" panose="02020603050405020304" pitchFamily="18" charset="0"/>
                <a:cs typeface="Times New Roman" panose="02020603050405020304" pitchFamily="18" charset="0"/>
                <a:sym typeface="Noto Sans SC" panose="020B0200000000000000" charset="-122"/>
              </a:rPr>
              <a:t>Each</a:t>
            </a:r>
            <a:r>
              <a:rPr lang="en-US" sz="1100" dirty="0">
                <a:latin typeface="Times New Roman" panose="02020603050405020304" pitchFamily="18" charset="0"/>
                <a:cs typeface="Times New Roman" panose="02020603050405020304" pitchFamily="18" charset="0"/>
                <a:sym typeface="Noto Sans SC" panose="020B0200000000000000" charset="-122"/>
              </a:rPr>
              <a:t> site calculates local p-values without sharing raw data. These p-values are aggregated and corrected with </a:t>
            </a:r>
            <a:r>
              <a:rPr lang="en-US" sz="1100" dirty="0" err="1">
                <a:latin typeface="Times New Roman" panose="02020603050405020304" pitchFamily="18" charset="0"/>
                <a:cs typeface="Times New Roman" panose="02020603050405020304" pitchFamily="18" charset="0"/>
                <a:sym typeface="Noto Sans SC" panose="020B0200000000000000" charset="-122"/>
              </a:rPr>
              <a:t>BHq</a:t>
            </a:r>
            <a:r>
              <a:rPr lang="en-US" sz="1100" dirty="0">
                <a:latin typeface="Times New Roman" panose="02020603050405020304" pitchFamily="18" charset="0"/>
                <a:cs typeface="Times New Roman" panose="02020603050405020304" pitchFamily="18" charset="0"/>
                <a:sym typeface="Noto Sans SC" panose="020B0200000000000000" charset="-122"/>
              </a:rPr>
              <a:t>.</a:t>
            </a:r>
            <a:endParaRPr lang="en-US" sz="1100" dirty="0">
              <a:latin typeface="Times New Roman" panose="02020603050405020304" pitchFamily="18" charset="0"/>
              <a:cs typeface="Times New Roman" panose="02020603050405020304" pitchFamily="18" charset="0"/>
              <a:sym typeface="Noto Sans SC" panose="020B0200000000000000" charset="-122"/>
            </a:endParaRPr>
          </a:p>
          <a:p>
            <a:pPr indent="0" algn="l">
              <a:spcBef>
                <a:spcPts val="800"/>
              </a:spcBef>
            </a:pPr>
            <a:r>
              <a:rPr lang="en-US" sz="1000" b="1" i="0" u="none" strike="noStrike" dirty="0">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3. Fed-FDR-N:</a:t>
            </a:r>
            <a:r>
              <a:rPr lang="en-US" sz="1100" dirty="0">
                <a:latin typeface="Times New Roman" panose="02020603050405020304" pitchFamily="18" charset="0"/>
                <a:cs typeface="Times New Roman" panose="02020603050405020304" pitchFamily="18" charset="0"/>
                <a:sym typeface="Noto Sans SC" panose="020B0200000000000000" charset="-122"/>
              </a:rPr>
              <a:t>Local sites use per-feature Lasso to build </a:t>
            </a:r>
            <a:r>
              <a:rPr lang="en-US" sz="1100" dirty="0" err="1">
                <a:latin typeface="Times New Roman" panose="02020603050405020304" pitchFamily="18" charset="0"/>
                <a:cs typeface="Times New Roman" panose="02020603050405020304" pitchFamily="18" charset="0"/>
                <a:sym typeface="Noto Sans SC" panose="020B0200000000000000" charset="-122"/>
              </a:rPr>
              <a:t>desparsified</a:t>
            </a:r>
            <a:r>
              <a:rPr lang="en-US" sz="1100" dirty="0">
                <a:latin typeface="Times New Roman" panose="02020603050405020304" pitchFamily="18" charset="0"/>
                <a:cs typeface="Times New Roman" panose="02020603050405020304" pitchFamily="18" charset="0"/>
                <a:sym typeface="Noto Sans SC" panose="020B0200000000000000" charset="-122"/>
              </a:rPr>
              <a:t> estimates, sent to the center for selection. The main federated baseline.</a:t>
            </a:r>
            <a:endParaRPr lang="en-US" sz="1100" dirty="0">
              <a:latin typeface="Times New Roman" panose="02020603050405020304" pitchFamily="18" charset="0"/>
              <a:cs typeface="Times New Roman" panose="02020603050405020304" pitchFamily="18" charset="0"/>
              <a:sym typeface="Noto Sans SC" panose="020B0200000000000000" charset="-122"/>
            </a:endParaRPr>
          </a:p>
          <a:p>
            <a:pPr indent="0" algn="l">
              <a:spcBef>
                <a:spcPts val="800"/>
              </a:spcBef>
            </a:pPr>
            <a:r>
              <a:rPr lang="en-US" sz="1000" b="1" i="0" u="none" strike="noStrike" dirty="0">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4. Fed-FDR-SCAD</a:t>
            </a:r>
            <a:r>
              <a:rPr lang="en-US" sz="900" b="1" i="0" u="none" strike="noStrike" dirty="0">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dirty="0">
                <a:latin typeface="Times New Roman" panose="02020603050405020304" pitchFamily="18" charset="0"/>
                <a:cs typeface="Times New Roman" panose="02020603050405020304" pitchFamily="18" charset="0"/>
                <a:sym typeface="Noto Sans SC" panose="020B0200000000000000" charset="-122"/>
              </a:rPr>
              <a:t>A variant of our method that replaces the initial Lasso screening with SCAD penalty to test the impact of initial screening.</a:t>
            </a:r>
            <a:endParaRPr lang="en-US" sz="1200" dirty="0">
              <a:latin typeface="Times New Roman" panose="02020603050405020304" pitchFamily="18" charset="0"/>
              <a:cs typeface="Times New Roman" panose="02020603050405020304" pitchFamily="18" charset="0"/>
              <a:sym typeface="Noto Sans SC" panose="020B0200000000000000" charset="-122"/>
            </a:endParaRPr>
          </a:p>
        </p:txBody>
      </p:sp>
      <p:sp>
        <p:nvSpPr>
          <p:cNvPr id="8" name="AutoShape 8"/>
          <p:cNvSpPr/>
          <p:nvPr/>
        </p:nvSpPr>
        <p:spPr>
          <a:xfrm>
            <a:off x="3356343" y="1028700"/>
            <a:ext cx="2476500" cy="4114799"/>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3517900" y="996508"/>
            <a:ext cx="2108200" cy="292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dirty="0">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Metrics</a:t>
            </a:r>
            <a:endParaRPr lang="en-US" sz="1100" dirty="0"/>
          </a:p>
        </p:txBody>
      </p:sp>
      <p:sp>
        <p:nvSpPr>
          <p:cNvPr id="11" name="AutoShape 11"/>
          <p:cNvSpPr/>
          <p:nvPr/>
        </p:nvSpPr>
        <p:spPr>
          <a:xfrm>
            <a:off x="3479800" y="1575390"/>
            <a:ext cx="2197100" cy="1599610"/>
          </a:xfrm>
          <a:prstGeom prst="roundRect">
            <a:avLst>
              <a:gd name="adj" fmla="val 0"/>
            </a:avLst>
          </a:prstGeom>
          <a:solidFill>
            <a:srgbClr val="EBF4F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3556000" y="1575390"/>
            <a:ext cx="2032000" cy="153611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100" b="1" i="0" u="none" strike="noStrike"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Empirical FDR (False Discovery Rate)</a:t>
            </a:r>
            <a:endParaRPr lang="en-US" sz="1100" dirty="0"/>
          </a:p>
          <a:p>
            <a:pPr indent="0" algn="l">
              <a:lnSpc>
                <a:spcPct val="100000"/>
              </a:lnSpc>
              <a:spcBef>
                <a:spcPts val="400"/>
              </a:spcBef>
            </a:pPr>
            <a:r>
              <a:rPr lang="en-US" sz="1200" dirty="0" err="1">
                <a:latin typeface="Times New Roman" panose="02020603050405020304" pitchFamily="18" charset="0"/>
                <a:cs typeface="Times New Roman" panose="02020603050405020304" pitchFamily="18" charset="0"/>
                <a:sym typeface="Noto Sans SC" panose="020B0200000000000000" charset="-122"/>
              </a:rPr>
              <a:t>Def:Proportion</a:t>
            </a:r>
            <a:r>
              <a:rPr lang="en-US" sz="1200" dirty="0">
                <a:latin typeface="Times New Roman" panose="02020603050405020304" pitchFamily="18" charset="0"/>
                <a:cs typeface="Times New Roman" panose="02020603050405020304" pitchFamily="18" charset="0"/>
                <a:sym typeface="Noto Sans SC" panose="020B0200000000000000" charset="-122"/>
              </a:rPr>
              <a:t> of irrelevant features selected.</a:t>
            </a:r>
            <a:br>
              <a:rPr lang="en-US" sz="1200" dirty="0">
                <a:latin typeface="Times New Roman" panose="02020603050405020304" pitchFamily="18" charset="0"/>
                <a:cs typeface="Times New Roman" panose="02020603050405020304" pitchFamily="18" charset="0"/>
                <a:sym typeface="Noto Sans SC" panose="020B0200000000000000" charset="-122"/>
              </a:rPr>
            </a:br>
            <a:r>
              <a:rPr lang="en-US" sz="1200" dirty="0" err="1">
                <a:latin typeface="Times New Roman" panose="02020603050405020304" pitchFamily="18" charset="0"/>
                <a:cs typeface="Times New Roman" panose="02020603050405020304" pitchFamily="18" charset="0"/>
                <a:sym typeface="Noto Sans SC" panose="020B0200000000000000" charset="-122"/>
              </a:rPr>
              <a:t>Goal:Stably</a:t>
            </a:r>
            <a:r>
              <a:rPr lang="en-US" sz="1200" dirty="0">
                <a:latin typeface="Times New Roman" panose="02020603050405020304" pitchFamily="18" charset="0"/>
                <a:cs typeface="Times New Roman" panose="02020603050405020304" pitchFamily="18" charset="0"/>
                <a:sym typeface="Noto Sans SC" panose="020B0200000000000000" charset="-122"/>
              </a:rPr>
              <a:t> controlled belowα=0.1.</a:t>
            </a:r>
            <a:br>
              <a:rPr lang="en-US" sz="1200" dirty="0">
                <a:latin typeface="Times New Roman" panose="02020603050405020304" pitchFamily="18" charset="0"/>
                <a:cs typeface="Times New Roman" panose="02020603050405020304" pitchFamily="18" charset="0"/>
                <a:sym typeface="Noto Sans SC" panose="020B0200000000000000" charset="-122"/>
              </a:rPr>
            </a:br>
            <a:r>
              <a:rPr lang="en-US" sz="1200" dirty="0" err="1">
                <a:latin typeface="Times New Roman" panose="02020603050405020304" pitchFamily="18" charset="0"/>
                <a:cs typeface="Times New Roman" panose="02020603050405020304" pitchFamily="18" charset="0"/>
                <a:sym typeface="Noto Sans SC" panose="020B0200000000000000" charset="-122"/>
              </a:rPr>
              <a:t>Role:Measures</a:t>
            </a:r>
            <a:r>
              <a:rPr lang="en-US" sz="1200" dirty="0">
                <a:latin typeface="Times New Roman" panose="02020603050405020304" pitchFamily="18" charset="0"/>
                <a:cs typeface="Times New Roman" panose="02020603050405020304" pitchFamily="18" charset="0"/>
                <a:sym typeface="Noto Sans SC" panose="020B0200000000000000" charset="-122"/>
              </a:rPr>
              <a:t> false positive control.</a:t>
            </a:r>
            <a:endParaRPr lang="en-US" sz="1200" dirty="0">
              <a:latin typeface="Times New Roman" panose="02020603050405020304" pitchFamily="18" charset="0"/>
              <a:cs typeface="Times New Roman" panose="02020603050405020304" pitchFamily="18" charset="0"/>
              <a:sym typeface="Noto Sans SC" panose="020B0200000000000000" charset="-122"/>
            </a:endParaRPr>
          </a:p>
        </p:txBody>
      </p:sp>
      <p:sp>
        <p:nvSpPr>
          <p:cNvPr id="13" name="AutoShape 13"/>
          <p:cNvSpPr/>
          <p:nvPr/>
        </p:nvSpPr>
        <p:spPr>
          <a:xfrm>
            <a:off x="3479800" y="3365500"/>
            <a:ext cx="2197100" cy="1333500"/>
          </a:xfrm>
          <a:prstGeom prst="roundRect">
            <a:avLst>
              <a:gd name="adj" fmla="val 0"/>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3556000" y="3429000"/>
            <a:ext cx="2032000" cy="12065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100" b="1" i="0" u="none" strike="noStrike"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Statistical Power</a:t>
            </a:r>
            <a:endParaRPr lang="en-US" sz="1100" dirty="0"/>
          </a:p>
          <a:p>
            <a:pPr indent="0" algn="l">
              <a:lnSpc>
                <a:spcPct val="100000"/>
              </a:lnSpc>
              <a:spcBef>
                <a:spcPts val="400"/>
              </a:spcBef>
            </a:pPr>
            <a:r>
              <a:rPr lang="en-US" sz="1200" dirty="0" err="1">
                <a:latin typeface="Times New Roman" panose="02020603050405020304" pitchFamily="18" charset="0"/>
                <a:cs typeface="Times New Roman" panose="02020603050405020304" pitchFamily="18" charset="0"/>
                <a:sym typeface="Noto Sans SC" panose="020B0200000000000000" charset="-122"/>
              </a:rPr>
              <a:t>Def:Proportion</a:t>
            </a:r>
            <a:r>
              <a:rPr lang="en-US" sz="1200" dirty="0">
                <a:latin typeface="Times New Roman" panose="02020603050405020304" pitchFamily="18" charset="0"/>
                <a:cs typeface="Times New Roman" panose="02020603050405020304" pitchFamily="18" charset="0"/>
                <a:sym typeface="Noto Sans SC" panose="020B0200000000000000" charset="-122"/>
              </a:rPr>
              <a:t> of true signals identified.</a:t>
            </a:r>
            <a:br>
              <a:rPr lang="en-US" sz="1200" dirty="0">
                <a:latin typeface="Times New Roman" panose="02020603050405020304" pitchFamily="18" charset="0"/>
                <a:cs typeface="Times New Roman" panose="02020603050405020304" pitchFamily="18" charset="0"/>
                <a:sym typeface="Noto Sans SC" panose="020B0200000000000000" charset="-122"/>
              </a:rPr>
            </a:br>
            <a:r>
              <a:rPr lang="en-US" sz="1200" dirty="0" err="1">
                <a:latin typeface="Times New Roman" panose="02020603050405020304" pitchFamily="18" charset="0"/>
                <a:cs typeface="Times New Roman" panose="02020603050405020304" pitchFamily="18" charset="0"/>
                <a:sym typeface="Noto Sans SC" panose="020B0200000000000000" charset="-122"/>
              </a:rPr>
              <a:t>Goal:Closer</a:t>
            </a:r>
            <a:r>
              <a:rPr lang="en-US" sz="1200" dirty="0">
                <a:latin typeface="Times New Roman" panose="02020603050405020304" pitchFamily="18" charset="0"/>
                <a:cs typeface="Times New Roman" panose="02020603050405020304" pitchFamily="18" charset="0"/>
                <a:sym typeface="Noto Sans SC" panose="020B0200000000000000" charset="-122"/>
              </a:rPr>
              <a:t> to 1 is better (stronger detection).</a:t>
            </a:r>
            <a:br>
              <a:rPr lang="en-US" sz="1200" dirty="0">
                <a:latin typeface="Times New Roman" panose="02020603050405020304" pitchFamily="18" charset="0"/>
                <a:cs typeface="Times New Roman" panose="02020603050405020304" pitchFamily="18" charset="0"/>
                <a:sym typeface="Noto Sans SC" panose="020B0200000000000000" charset="-122"/>
              </a:rPr>
            </a:br>
            <a:r>
              <a:rPr lang="en-US" sz="1200" dirty="0" err="1">
                <a:latin typeface="Times New Roman" panose="02020603050405020304" pitchFamily="18" charset="0"/>
                <a:cs typeface="Times New Roman" panose="02020603050405020304" pitchFamily="18" charset="0"/>
                <a:sym typeface="Noto Sans SC" panose="020B0200000000000000" charset="-122"/>
              </a:rPr>
              <a:t>Role:Measures</a:t>
            </a:r>
            <a:r>
              <a:rPr lang="en-US" sz="1200" dirty="0">
                <a:latin typeface="Times New Roman" panose="02020603050405020304" pitchFamily="18" charset="0"/>
                <a:cs typeface="Times New Roman" panose="02020603050405020304" pitchFamily="18" charset="0"/>
                <a:sym typeface="Noto Sans SC" panose="020B0200000000000000" charset="-122"/>
              </a:rPr>
              <a:t> true signal discovery.</a:t>
            </a:r>
            <a:endParaRPr lang="en-US" sz="1200" dirty="0">
              <a:latin typeface="Times New Roman" panose="02020603050405020304" pitchFamily="18" charset="0"/>
              <a:cs typeface="Times New Roman" panose="02020603050405020304" pitchFamily="18" charset="0"/>
              <a:sym typeface="Noto Sans SC" panose="020B0200000000000000" charset="-122"/>
            </a:endParaRPr>
          </a:p>
        </p:txBody>
      </p:sp>
      <p:sp>
        <p:nvSpPr>
          <p:cNvPr id="15" name="AutoShape 15"/>
          <p:cNvSpPr/>
          <p:nvPr/>
        </p:nvSpPr>
        <p:spPr>
          <a:xfrm>
            <a:off x="6034863" y="1028700"/>
            <a:ext cx="2476500" cy="3937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6292406" y="1043763"/>
            <a:ext cx="1816100" cy="292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dirty="0">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Generation</a:t>
            </a:r>
            <a:endParaRPr lang="en-US" sz="1100" dirty="0"/>
          </a:p>
        </p:txBody>
      </p:sp>
      <p:sp>
        <p:nvSpPr>
          <p:cNvPr id="18" name="AutoShape 18"/>
          <p:cNvSpPr/>
          <p:nvPr/>
        </p:nvSpPr>
        <p:spPr>
          <a:xfrm>
            <a:off x="6235700" y="1905000"/>
            <a:ext cx="2197100" cy="2794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17000"/>
              </a:lnSpc>
              <a:spcBef>
                <a:spcPts val="600"/>
              </a:spcBef>
              <a:defRPr/>
            </a:pPr>
            <a:r>
              <a:rPr lang="en-US" sz="1000" b="1" i="0" u="none" strike="noStrike"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Basic Model:</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dirty="0">
                <a:latin typeface="Times New Roman" panose="02020603050405020304" pitchFamily="18" charset="0"/>
                <a:cs typeface="Times New Roman" panose="02020603050405020304" pitchFamily="18" charset="0"/>
                <a:sym typeface="Noto Sans SC" panose="020B0200000000000000" charset="-122"/>
              </a:rPr>
              <a:t>High-dimensional logistic regression (GLM) to simulate real biomedical binary outcomes.</a:t>
            </a:r>
            <a:endParaRPr lang="en-US" sz="1200" dirty="0">
              <a:latin typeface="Times New Roman" panose="02020603050405020304" pitchFamily="18" charset="0"/>
              <a:cs typeface="Times New Roman" panose="02020603050405020304" pitchFamily="18" charset="0"/>
            </a:endParaRPr>
          </a:p>
          <a:p>
            <a:pPr indent="0" algn="l">
              <a:lnSpc>
                <a:spcPct val="117000"/>
              </a:lnSpc>
              <a:spcBef>
                <a:spcPts val="1200"/>
              </a:spcBef>
            </a:pPr>
            <a:r>
              <a:rPr lang="en-US" sz="1000" b="1" i="0" u="none" strike="noStrike"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Key Parameters:</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dirty="0">
                <a:latin typeface="Times New Roman" panose="02020603050405020304" pitchFamily="18" charset="0"/>
                <a:cs typeface="Times New Roman" panose="02020603050405020304" pitchFamily="18" charset="0"/>
                <a:sym typeface="Noto Sans SC" panose="020B0200000000000000" charset="-122"/>
              </a:rPr>
              <a:t>Target FDR level α=0.1. We analyze effects of signal strength, correlation, site count and sparsity.</a:t>
            </a:r>
            <a:endParaRPr lang="en-US" sz="1200" dirty="0">
              <a:latin typeface="Times New Roman" panose="02020603050405020304" pitchFamily="18" charset="0"/>
              <a:cs typeface="Times New Roman" panose="02020603050405020304" pitchFamily="18" charset="0"/>
              <a:sym typeface="Noto Sans SC" panose="020B0200000000000000" charset="-122"/>
            </a:endParaRPr>
          </a:p>
          <a:p>
            <a:pPr indent="0" algn="l">
              <a:lnSpc>
                <a:spcPct val="117000"/>
              </a:lnSpc>
              <a:spcBef>
                <a:spcPts val="1200"/>
              </a:spcBef>
            </a:pPr>
            <a:r>
              <a:rPr lang="en-US" sz="1000" b="1" i="0" u="none" strike="noStrike"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Robustness:</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dirty="0">
                <a:latin typeface="Times New Roman" panose="02020603050405020304" pitchFamily="18" charset="0"/>
                <a:cs typeface="Times New Roman" panose="02020603050405020304" pitchFamily="18" charset="0"/>
                <a:sym typeface="Noto Sans SC" panose="020B0200000000000000" charset="-122"/>
              </a:rPr>
              <a:t>All results are averaged over 50 independent repetitions to ensure statistical reliability.</a:t>
            </a:r>
            <a:endParaRPr lang="en-US" sz="1200" dirty="0">
              <a:latin typeface="Times New Roman" panose="02020603050405020304" pitchFamily="18" charset="0"/>
              <a:cs typeface="Times New Roman" panose="02020603050405020304" pitchFamily="18" charset="0"/>
              <a:sym typeface="Noto Sans SC" panose="020B0200000000000000"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572000" y="1104900"/>
            <a:ext cx="2349500" cy="16256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4622800" y="1212850"/>
            <a:ext cx="2171700" cy="136525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dirty="0">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01. Robust FDR Control</a:t>
            </a:r>
            <a:endParaRPr lang="en-US" sz="1100" dirty="0"/>
          </a:p>
          <a:p>
            <a:pPr indent="0" algn="l">
              <a:lnSpc>
                <a:spcPct val="117000"/>
              </a:lnSpc>
            </a:pPr>
            <a:r>
              <a:rPr lang="en-US" sz="1000" dirty="0">
                <a:latin typeface="Times New Roman" panose="02020603050405020304" pitchFamily="18" charset="0"/>
                <a:cs typeface="Times New Roman" panose="02020603050405020304" pitchFamily="18" charset="0"/>
                <a:sym typeface="Calibri" panose="020F0502020204030204"/>
              </a:rPr>
              <a:t>Across different signal strengths, the empirical FDR of all methods is stably controlled below the preset level of 0.1, showing good control performance. Among them, the FDR of Fed-FDR is extremely close to the gold standard </a:t>
            </a:r>
            <a:r>
              <a:rPr lang="en-US" sz="1000" dirty="0" err="1">
                <a:latin typeface="Times New Roman" panose="02020603050405020304" pitchFamily="18" charset="0"/>
                <a:cs typeface="Times New Roman" panose="02020603050405020304" pitchFamily="18" charset="0"/>
                <a:sym typeface="Calibri" panose="020F0502020204030204"/>
              </a:rPr>
              <a:t>BHq</a:t>
            </a:r>
            <a:r>
              <a:rPr lang="en-US" sz="1000" dirty="0">
                <a:latin typeface="Times New Roman" panose="02020603050405020304" pitchFamily="18" charset="0"/>
                <a:cs typeface="Times New Roman" panose="02020603050405020304" pitchFamily="18" charset="0"/>
                <a:sym typeface="Calibri" panose="020F0502020204030204"/>
              </a:rPr>
              <a:t>, almost identical, demonstrating strong robustness.</a:t>
            </a:r>
            <a:endParaRPr lang="en-US" sz="1000" dirty="0">
              <a:latin typeface="Times New Roman" panose="02020603050405020304" pitchFamily="18" charset="0"/>
              <a:cs typeface="Times New Roman" panose="02020603050405020304" pitchFamily="18" charset="0"/>
              <a:sym typeface="Calibri" panose="020F0502020204030204"/>
            </a:endParaRPr>
          </a:p>
        </p:txBody>
      </p:sp>
      <p:pic>
        <p:nvPicPr>
          <p:cNvPr id="4" name="Picture 4"/>
          <p:cNvPicPr>
            <a:picLocks noChangeAspect="1"/>
          </p:cNvPicPr>
          <p:nvPr/>
        </p:nvPicPr>
        <p:blipFill>
          <a:blip r:embed="rId1"/>
          <a:srcRect l="1494" r="1494"/>
          <a:stretch>
            <a:fillRect/>
          </a:stretch>
        </p:blipFill>
        <p:spPr>
          <a:xfrm>
            <a:off x="63500" y="1016000"/>
            <a:ext cx="4508500" cy="4064000"/>
          </a:xfrm>
          <a:prstGeom prst="rect">
            <a:avLst/>
          </a:prstGeom>
          <a:noFill/>
          <a:ln w="25400" cap="flat" cmpd="sng">
            <a:noFill/>
            <a:prstDash val="solid"/>
            <a:round/>
          </a:ln>
        </p:spPr>
      </p:pic>
      <p:pic>
        <p:nvPicPr>
          <p:cNvPr id="5" name="Picture 5"/>
          <p:cNvPicPr>
            <a:picLocks noChangeAspect="1"/>
          </p:cNvPicPr>
          <p:nvPr/>
        </p:nvPicPr>
        <p:blipFill>
          <a:blip r:embed="rId2"/>
          <a:srcRect t="11428" b="11428"/>
          <a:stretch>
            <a:fillRect/>
          </a:stretch>
        </p:blipFill>
        <p:spPr>
          <a:xfrm>
            <a:off x="-12700" y="6350"/>
            <a:ext cx="9144000" cy="1028700"/>
          </a:xfrm>
          <a:prstGeom prst="rect">
            <a:avLst/>
          </a:prstGeom>
          <a:noFill/>
          <a:ln w="25400" cap="flat" cmpd="sng">
            <a:noFill/>
            <a:prstDash val="solid"/>
            <a:round/>
          </a:ln>
        </p:spPr>
      </p:pic>
      <p:sp>
        <p:nvSpPr>
          <p:cNvPr id="6" name="AutoShape 6"/>
          <p:cNvSpPr/>
          <p:nvPr/>
        </p:nvSpPr>
        <p:spPr>
          <a:xfrm>
            <a:off x="217967" y="177800"/>
            <a:ext cx="8595833" cy="62865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Simulation Results 1 | Performance under Varying Signal Strength</a:t>
            </a:r>
            <a:endParaRPr lang="en-US" sz="1100" dirty="0"/>
          </a:p>
        </p:txBody>
      </p:sp>
      <p:sp>
        <p:nvSpPr>
          <p:cNvPr id="7" name="AutoShape 7"/>
          <p:cNvSpPr/>
          <p:nvPr/>
        </p:nvSpPr>
        <p:spPr>
          <a:xfrm>
            <a:off x="6845300" y="1104900"/>
            <a:ext cx="2235200" cy="16256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908800" y="1625600"/>
            <a:ext cx="2235200" cy="548758"/>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dirty="0">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02. Significantly Leading Statistical Power</a:t>
            </a:r>
            <a:endParaRPr lang="en-US" sz="1100" dirty="0"/>
          </a:p>
          <a:p>
            <a:pPr indent="0" algn="l">
              <a:lnSpc>
                <a:spcPct val="117000"/>
              </a:lnSpc>
            </a:pPr>
            <a:r>
              <a:rPr lang="en-US" sz="1000" dirty="0">
                <a:latin typeface="Times New Roman" panose="02020603050405020304" pitchFamily="18" charset="0"/>
                <a:cs typeface="Times New Roman" panose="02020603050405020304" pitchFamily="18" charset="0"/>
                <a:sym typeface="Calibri" panose="020F0502020204030204"/>
              </a:rPr>
              <a:t>As signal strength increases, the Power of all methods continues to rise. Fed-FDR's Power consistently ranks first among all federated baseline methods and infinitely approaches the centralized gold standard </a:t>
            </a:r>
            <a:r>
              <a:rPr lang="en-US" sz="1000" dirty="0" err="1">
                <a:latin typeface="Times New Roman" panose="02020603050405020304" pitchFamily="18" charset="0"/>
                <a:cs typeface="Times New Roman" panose="02020603050405020304" pitchFamily="18" charset="0"/>
                <a:sym typeface="Calibri" panose="020F0502020204030204"/>
              </a:rPr>
              <a:t>BHq</a:t>
            </a:r>
            <a:r>
              <a:rPr lang="en-US" sz="1000" dirty="0">
                <a:latin typeface="Times New Roman" panose="02020603050405020304" pitchFamily="18" charset="0"/>
                <a:cs typeface="Times New Roman" panose="02020603050405020304" pitchFamily="18" charset="0"/>
                <a:sym typeface="Calibri" panose="020F0502020204030204"/>
              </a:rPr>
              <a:t>, significantly outperforming other comparison methods.</a:t>
            </a:r>
            <a:endParaRPr lang="en-US" sz="1000" dirty="0">
              <a:latin typeface="Times New Roman" panose="02020603050405020304" pitchFamily="18" charset="0"/>
              <a:cs typeface="Times New Roman" panose="02020603050405020304" pitchFamily="18" charset="0"/>
              <a:sym typeface="Calibri" panose="020F0502020204030204"/>
            </a:endParaRPr>
          </a:p>
        </p:txBody>
      </p:sp>
      <p:sp>
        <p:nvSpPr>
          <p:cNvPr id="9" name="AutoShape 9"/>
          <p:cNvSpPr/>
          <p:nvPr/>
        </p:nvSpPr>
        <p:spPr>
          <a:xfrm>
            <a:off x="4559300" y="2940050"/>
            <a:ext cx="4508500" cy="20828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4572000" y="2857500"/>
            <a:ext cx="4495800" cy="216535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dirty="0">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03. Core Value Perfectly Verified</a:t>
            </a:r>
            <a:endParaRPr lang="en-US" sz="1100" dirty="0"/>
          </a:p>
          <a:p>
            <a:pPr indent="0" algn="l">
              <a:lnSpc>
                <a:spcPct val="108000"/>
              </a:lnSpc>
            </a:pPr>
            <a:r>
              <a:rPr lang="en-US" sz="1000" dirty="0">
                <a:latin typeface="Times New Roman" panose="02020603050405020304" pitchFamily="18" charset="0"/>
                <a:cs typeface="Times New Roman" panose="02020603050405020304" pitchFamily="18" charset="0"/>
                <a:sym typeface="Calibri" panose="020F0502020204030204"/>
              </a:rPr>
              <a:t>Even in scenarios with relatively weak signal strength, Fed-FDR still achieves strict FDR control and the highest recognition ability, successfully fulfilling the core design goal of FDR controllability and high recognition.</a:t>
            </a:r>
            <a:endParaRPr lang="en-US" sz="1000" dirty="0">
              <a:latin typeface="Times New Roman" panose="02020603050405020304" pitchFamily="18" charset="0"/>
              <a:cs typeface="Times New Roman" panose="02020603050405020304" pitchFamily="18" charset="0"/>
              <a:sym typeface="Calibri" panose="020F0502020204030204"/>
            </a:endParaRPr>
          </a:p>
          <a:p>
            <a:pPr indent="0" algn="l">
              <a:lnSpc>
                <a:spcPct val="108000"/>
              </a:lnSpc>
            </a:pPr>
            <a:r>
              <a:rPr lang="en-US" sz="1000" b="1" dirty="0" err="1">
                <a:latin typeface="Times New Roman" panose="02020603050405020304" pitchFamily="18" charset="0"/>
                <a:cs typeface="Times New Roman" panose="02020603050405020304" pitchFamily="18" charset="0"/>
                <a:sym typeface="Calibri" panose="020F0502020204030204"/>
              </a:rPr>
              <a:t>Fed-FDR-N:</a:t>
            </a:r>
            <a:r>
              <a:rPr lang="en-US" sz="1000" dirty="0" err="1">
                <a:latin typeface="Times New Roman" panose="02020603050405020304" pitchFamily="18" charset="0"/>
                <a:cs typeface="Times New Roman" panose="02020603050405020304" pitchFamily="18" charset="0"/>
                <a:sym typeface="Calibri" panose="020F0502020204030204"/>
              </a:rPr>
              <a:t>Although</a:t>
            </a:r>
            <a:r>
              <a:rPr lang="en-US" sz="1000" dirty="0">
                <a:latin typeface="Times New Roman" panose="02020603050405020304" pitchFamily="18" charset="0"/>
                <a:cs typeface="Times New Roman" panose="02020603050405020304" pitchFamily="18" charset="0"/>
                <a:sym typeface="Calibri" panose="020F0502020204030204"/>
              </a:rPr>
              <a:t> Power is second, it requires running computationally explosive per-feature Lasso regression, transmits full-dimensional coefficients, has high cost, and the gap with Fed-FDR is large under weak signals.</a:t>
            </a:r>
            <a:endParaRPr lang="en-US" sz="1000" dirty="0">
              <a:latin typeface="Times New Roman" panose="02020603050405020304" pitchFamily="18" charset="0"/>
              <a:cs typeface="Times New Roman" panose="02020603050405020304" pitchFamily="18" charset="0"/>
              <a:sym typeface="Calibri" panose="020F0502020204030204"/>
            </a:endParaRPr>
          </a:p>
          <a:p>
            <a:pPr indent="0" algn="l">
              <a:lnSpc>
                <a:spcPct val="108000"/>
              </a:lnSpc>
            </a:pPr>
            <a:r>
              <a:rPr lang="en-US" sz="1000" b="1" dirty="0" err="1">
                <a:latin typeface="Times New Roman" panose="02020603050405020304" pitchFamily="18" charset="0"/>
                <a:cs typeface="Times New Roman" panose="02020603050405020304" pitchFamily="18" charset="0"/>
                <a:sym typeface="Calibri" panose="020F0502020204030204"/>
              </a:rPr>
              <a:t>Meta-BHq</a:t>
            </a:r>
            <a:r>
              <a:rPr lang="en-US" sz="1000" dirty="0" err="1">
                <a:latin typeface="Times New Roman" panose="02020603050405020304" pitchFamily="18" charset="0"/>
                <a:cs typeface="Times New Roman" panose="02020603050405020304" pitchFamily="18" charset="0"/>
                <a:sym typeface="Calibri" panose="020F0502020204030204"/>
              </a:rPr>
              <a:t>:Overly</a:t>
            </a:r>
            <a:r>
              <a:rPr lang="en-US" sz="1000" dirty="0">
                <a:latin typeface="Times New Roman" panose="02020603050405020304" pitchFamily="18" charset="0"/>
                <a:cs typeface="Times New Roman" panose="02020603050405020304" pitchFamily="18" charset="0"/>
                <a:sym typeface="Calibri" panose="020F0502020204030204"/>
              </a:rPr>
              <a:t> conservative, with very low Power throughout, sacrificing the vast majority of true positive identification capabilities for FDR control.</a:t>
            </a:r>
            <a:endParaRPr lang="en-US" sz="1000" dirty="0">
              <a:latin typeface="Times New Roman" panose="02020603050405020304" pitchFamily="18" charset="0"/>
              <a:cs typeface="Times New Roman" panose="02020603050405020304" pitchFamily="18" charset="0"/>
              <a:sym typeface="Calibri" panose="020F0502020204030204"/>
            </a:endParaRPr>
          </a:p>
          <a:p>
            <a:pPr indent="0" algn="l">
              <a:lnSpc>
                <a:spcPct val="108000"/>
              </a:lnSpc>
            </a:pPr>
            <a:r>
              <a:rPr lang="en-US" sz="1000" b="1" dirty="0" err="1">
                <a:latin typeface="Times New Roman" panose="02020603050405020304" pitchFamily="18" charset="0"/>
                <a:cs typeface="Times New Roman" panose="02020603050405020304" pitchFamily="18" charset="0"/>
                <a:sym typeface="Calibri" panose="020F0502020204030204"/>
              </a:rPr>
              <a:t>Fed-FDR-SCAD</a:t>
            </a:r>
            <a:r>
              <a:rPr lang="en-US" sz="1000" dirty="0" err="1">
                <a:latin typeface="Times New Roman" panose="02020603050405020304" pitchFamily="18" charset="0"/>
                <a:cs typeface="Times New Roman" panose="02020603050405020304" pitchFamily="18" charset="0"/>
                <a:sym typeface="Calibri" panose="020F0502020204030204"/>
              </a:rPr>
              <a:t>:Performs</a:t>
            </a:r>
            <a:r>
              <a:rPr lang="en-US" sz="1000" dirty="0">
                <a:latin typeface="Times New Roman" panose="02020603050405020304" pitchFamily="18" charset="0"/>
                <a:cs typeface="Times New Roman" panose="02020603050405020304" pitchFamily="18" charset="0"/>
                <a:sym typeface="Calibri" panose="020F0502020204030204"/>
              </a:rPr>
              <a:t> poorly under weak signals, prone to filtering out effective features, with Power lower than Fed-FDR.</a:t>
            </a:r>
            <a:endParaRPr lang="en-US" sz="1000" dirty="0">
              <a:latin typeface="Times New Roman" panose="02020603050405020304" pitchFamily="18" charset="0"/>
              <a:cs typeface="Times New Roman" panose="02020603050405020304" pitchFamily="18" charset="0"/>
              <a:sym typeface="Calibri" panose="020F0502020204030204"/>
            </a:endParaRPr>
          </a:p>
        </p:txBody>
      </p:sp>
      <p:sp>
        <p:nvSpPr>
          <p:cNvPr id="11" name="AutoShape 11"/>
          <p:cNvSpPr/>
          <p:nvPr/>
        </p:nvSpPr>
        <p:spPr>
          <a:xfrm>
            <a:off x="2654005" y="806450"/>
            <a:ext cx="4622800" cy="279400"/>
          </a:xfrm>
          <a:prstGeom prst="rect">
            <a:avLst/>
          </a:prstGeom>
          <a:noFill/>
          <a:ln w="9525" cap="flat" cmpd="sng">
            <a:noFill/>
            <a:prstDash val="solid"/>
            <a:round/>
          </a:ln>
        </p:spPr>
        <p:txBody>
          <a:bodyPr vert="horz" wrap="square" lIns="0" tIns="0" rIns="0" bIns="0" rtlCol="0" anchor="t" anchorCtr="0"/>
          <a:lstStyle/>
          <a:p>
            <a:pPr indent="0" algn="l">
              <a:lnSpc>
                <a:spcPct val="125000"/>
              </a:lnSpc>
              <a:defRPr/>
            </a:pPr>
            <a:r>
              <a:rPr lang="en-US" sz="1200" b="0" i="0" u="none" strike="noStrike" dirty="0">
                <a:solidFill>
                  <a:srgbClr val="000000"/>
                </a:solidFill>
                <a:latin typeface="Calibri" panose="020F0502020204030204"/>
                <a:ea typeface="Calibri" panose="020F0502020204030204"/>
                <a:cs typeface="Calibri" panose="020F0502020204030204"/>
                <a:sym typeface="Calibri" panose="020F0502020204030204"/>
              </a:rPr>
              <a:t>Fixed feature correlation (ρ=0.5), varying signal strength</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9276" r="9276"/>
          <a:stretch>
            <a:fillRect/>
          </a:stretch>
        </p:blipFill>
        <p:spPr>
          <a:xfrm>
            <a:off x="0" y="0"/>
            <a:ext cx="9144000" cy="1028700"/>
          </a:xfrm>
          <a:prstGeom prst="rect">
            <a:avLst/>
          </a:prstGeom>
          <a:noFill/>
          <a:ln w="25400" cap="flat" cmpd="sng">
            <a:noFill/>
            <a:prstDash val="solid"/>
            <a:round/>
          </a:ln>
        </p:spPr>
      </p:pic>
      <p:sp>
        <p:nvSpPr>
          <p:cNvPr id="3" name="AutoShape 3"/>
          <p:cNvSpPr/>
          <p:nvPr/>
        </p:nvSpPr>
        <p:spPr>
          <a:xfrm>
            <a:off x="279400" y="152400"/>
            <a:ext cx="8636000" cy="4445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Simulation Results 2 | Performance under Varying Covariate Correlation</a:t>
            </a:r>
            <a:endParaRPr lang="en-US" sz="1100"/>
          </a:p>
        </p:txBody>
      </p:sp>
      <p:sp>
        <p:nvSpPr>
          <p:cNvPr id="4" name="AutoShape 4"/>
          <p:cNvSpPr/>
          <p:nvPr/>
        </p:nvSpPr>
        <p:spPr>
          <a:xfrm>
            <a:off x="279400" y="660400"/>
            <a:ext cx="7620000" cy="279400"/>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125000"/>
              </a:lnSpc>
              <a:defRPr/>
            </a:pPr>
            <a:r>
              <a:rPr lang="en-US" sz="1200" b="1" i="0" u="none" strike="noStrike" dirty="0">
                <a:solidFill>
                  <a:srgbClr val="505050"/>
                </a:solidFill>
                <a:latin typeface="Calibri" panose="020F0502020204030204"/>
                <a:ea typeface="Calibri" panose="020F0502020204030204"/>
                <a:cs typeface="Calibri" panose="020F0502020204030204"/>
                <a:sym typeface="Calibri" panose="020F0502020204030204"/>
              </a:rPr>
              <a:t>Fixed signal strength, varying feature correlation ρ</a:t>
            </a:r>
            <a:r>
              <a:rPr lang="en-US" altLang="zh-CN" sz="1100" dirty="0">
                <a:latin typeface="Calibri" panose="020F0502020204030204"/>
                <a:ea typeface="Calibri" panose="020F0502020204030204"/>
                <a:cs typeface="Calibri" panose="020F0502020204030204"/>
                <a:sym typeface="Calibri" panose="020F0502020204030204"/>
              </a:rPr>
              <a:t> (ρ=0.5)</a:t>
            </a:r>
            <a:endParaRPr lang="en-US" sz="1100" dirty="0"/>
          </a:p>
        </p:txBody>
      </p:sp>
      <p:sp>
        <p:nvSpPr>
          <p:cNvPr id="5" name="AutoShape 5"/>
          <p:cNvSpPr/>
          <p:nvPr/>
        </p:nvSpPr>
        <p:spPr>
          <a:xfrm>
            <a:off x="5054600" y="1092200"/>
            <a:ext cx="3860800" cy="1244600"/>
          </a:xfrm>
          <a:prstGeom prst="roundRect">
            <a:avLst>
              <a:gd name="adj" fmla="val 5102"/>
            </a:avLst>
          </a:prstGeom>
          <a:solidFill>
            <a:srgbClr val="3B82F6">
              <a:alpha val="6000"/>
            </a:srgbClr>
          </a:solidFill>
          <a:ln w="12700" cap="flat" cmpd="sng">
            <a:solidFill>
              <a:srgbClr val="3B82F6">
                <a:alpha val="3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5194300" y="1143000"/>
            <a:ext cx="3556000" cy="304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Baseline: FDR Control is Compliant &amp; Robust</a:t>
            </a:r>
            <a:endParaRPr lang="en-US" sz="1100"/>
          </a:p>
        </p:txBody>
      </p:sp>
      <p:sp>
        <p:nvSpPr>
          <p:cNvPr id="7" name="AutoShape 7"/>
          <p:cNvSpPr/>
          <p:nvPr/>
        </p:nvSpPr>
        <p:spPr>
          <a:xfrm>
            <a:off x="5194300" y="1524000"/>
            <a:ext cx="3619500" cy="7874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50" dirty="0">
                <a:latin typeface="Times New Roman" panose="02020603050405020304" pitchFamily="18" charset="0"/>
                <a:cs typeface="Times New Roman" panose="02020603050405020304" pitchFamily="18" charset="0"/>
                <a:sym typeface="Calibri" panose="020F0502020204030204"/>
              </a:rPr>
              <a:t>All methods meet FDR≤0.1, but Fed-FDR-N's FDR approaches the red line (0.1) as collinearity strengthens. In </a:t>
            </a:r>
            <a:r>
              <a:rPr lang="en-US" sz="1050" dirty="0" err="1">
                <a:latin typeface="Times New Roman" panose="02020603050405020304" pitchFamily="18" charset="0"/>
                <a:cs typeface="Times New Roman" panose="02020603050405020304" pitchFamily="18" charset="0"/>
                <a:sym typeface="Calibri" panose="020F0502020204030204"/>
              </a:rPr>
              <a:t>contrast,Fed</a:t>
            </a:r>
            <a:r>
              <a:rPr lang="en-US" sz="1050" dirty="0">
                <a:latin typeface="Times New Roman" panose="02020603050405020304" pitchFamily="18" charset="0"/>
                <a:cs typeface="Times New Roman" panose="02020603050405020304" pitchFamily="18" charset="0"/>
                <a:sym typeface="Calibri" panose="020F0502020204030204"/>
              </a:rPr>
              <a:t>-FDR </a:t>
            </a:r>
            <a:r>
              <a:rPr lang="en-US" altLang="zh-CN" sz="1050" dirty="0">
                <a:latin typeface="Times New Roman" panose="02020603050405020304" pitchFamily="18" charset="0"/>
                <a:cs typeface="Times New Roman" panose="02020603050405020304" pitchFamily="18" charset="0"/>
                <a:sym typeface="Calibri" panose="020F0502020204030204"/>
              </a:rPr>
              <a:t>is </a:t>
            </a:r>
            <a:r>
              <a:rPr lang="en-US" sz="1050" dirty="0">
                <a:latin typeface="Times New Roman" panose="02020603050405020304" pitchFamily="18" charset="0"/>
                <a:cs typeface="Times New Roman" panose="02020603050405020304" pitchFamily="18" charset="0"/>
                <a:sym typeface="Calibri" panose="020F0502020204030204"/>
              </a:rPr>
              <a:t>far below the threshold, showing strong resistance to collinearity.</a:t>
            </a:r>
            <a:endParaRPr lang="en-US" sz="1050" dirty="0">
              <a:latin typeface="Times New Roman" panose="02020603050405020304" pitchFamily="18" charset="0"/>
              <a:cs typeface="Times New Roman" panose="02020603050405020304" pitchFamily="18" charset="0"/>
            </a:endParaRPr>
          </a:p>
        </p:txBody>
      </p:sp>
      <p:sp>
        <p:nvSpPr>
          <p:cNvPr id="8" name="AutoShape 8"/>
          <p:cNvSpPr/>
          <p:nvPr/>
        </p:nvSpPr>
        <p:spPr>
          <a:xfrm>
            <a:off x="5054600" y="2413000"/>
            <a:ext cx="3860800" cy="1397000"/>
          </a:xfrm>
          <a:prstGeom prst="roundRect">
            <a:avLst>
              <a:gd name="adj" fmla="val 5454"/>
            </a:avLst>
          </a:prstGeom>
          <a:solidFill>
            <a:srgbClr val="10B981">
              <a:alpha val="6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5194300" y="2514600"/>
            <a:ext cx="3556000" cy="304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Performance: Screening Power Leads Competitors</a:t>
            </a:r>
            <a:endParaRPr lang="en-US" sz="1100"/>
          </a:p>
        </p:txBody>
      </p:sp>
      <p:sp>
        <p:nvSpPr>
          <p:cNvPr id="10" name="AutoShape 10"/>
          <p:cNvSpPr/>
          <p:nvPr/>
        </p:nvSpPr>
        <p:spPr>
          <a:xfrm>
            <a:off x="5194300" y="2743200"/>
            <a:ext cx="3619500" cy="1066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50" dirty="0">
                <a:latin typeface="Times New Roman" panose="02020603050405020304" pitchFamily="18" charset="0"/>
                <a:cs typeface="Times New Roman" panose="02020603050405020304" pitchFamily="18" charset="0"/>
                <a:sym typeface="Calibri" panose="020F0502020204030204"/>
              </a:rPr>
              <a:t>All methods' Power declines with collinearity, but Fed-FDR consistently ranks 1st among federated methods, closest to the centralized gold standard </a:t>
            </a:r>
            <a:r>
              <a:rPr lang="en-US" sz="1050" dirty="0" err="1">
                <a:latin typeface="Times New Roman" panose="02020603050405020304" pitchFamily="18" charset="0"/>
                <a:cs typeface="Times New Roman" panose="02020603050405020304" pitchFamily="18" charset="0"/>
                <a:sym typeface="Calibri" panose="020F0502020204030204"/>
              </a:rPr>
              <a:t>BHq</a:t>
            </a:r>
            <a:r>
              <a:rPr lang="en-US" sz="1050" dirty="0">
                <a:latin typeface="Times New Roman" panose="02020603050405020304" pitchFamily="18" charset="0"/>
                <a:cs typeface="Times New Roman" panose="02020603050405020304" pitchFamily="18" charset="0"/>
                <a:sym typeface="Calibri" panose="020F0502020204030204"/>
              </a:rPr>
              <a:t>. </a:t>
            </a:r>
            <a:endParaRPr lang="en-US" sz="1050" dirty="0">
              <a:latin typeface="Times New Roman" panose="02020603050405020304" pitchFamily="18" charset="0"/>
              <a:cs typeface="Times New Roman" panose="02020603050405020304" pitchFamily="18" charset="0"/>
            </a:endParaRPr>
          </a:p>
        </p:txBody>
      </p:sp>
      <p:sp>
        <p:nvSpPr>
          <p:cNvPr id="11" name="AutoShape 11"/>
          <p:cNvSpPr/>
          <p:nvPr/>
        </p:nvSpPr>
        <p:spPr>
          <a:xfrm>
            <a:off x="5054600" y="3873500"/>
            <a:ext cx="3860800" cy="1270000"/>
          </a:xfrm>
          <a:prstGeom prst="roundRect">
            <a:avLst>
              <a:gd name="adj" fmla="val 6000"/>
            </a:avLst>
          </a:prstGeom>
          <a:solidFill>
            <a:srgbClr val="F59E0B">
              <a:alpha val="6000"/>
            </a:srgbClr>
          </a:solidFill>
          <a:ln w="12700" cap="flat" cmpd="sng">
            <a:solidFill>
              <a:srgbClr val="F59E0B">
                <a:alpha val="4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5194300" y="3962400"/>
            <a:ext cx="3556000" cy="304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Conclusion: Ideal for Real Clinical Data</a:t>
            </a:r>
            <a:endParaRPr lang="en-US" sz="1100"/>
          </a:p>
        </p:txBody>
      </p:sp>
      <p:sp>
        <p:nvSpPr>
          <p:cNvPr id="13" name="AutoShape 13"/>
          <p:cNvSpPr/>
          <p:nvPr/>
        </p:nvSpPr>
        <p:spPr>
          <a:xfrm>
            <a:off x="5194300" y="4318000"/>
            <a:ext cx="3619500" cy="8255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050" dirty="0">
                <a:latin typeface="Times New Roman" panose="02020603050405020304" pitchFamily="18" charset="0"/>
                <a:cs typeface="Times New Roman" panose="02020603050405020304" pitchFamily="18" charset="0"/>
                <a:sym typeface="Calibri" panose="020F0502020204030204"/>
              </a:rPr>
              <a:t>With differentiated p design to avoid extreme scenario bias, Fed-FDR maintains FDR control while achieving high screening power and robustness against collinear features, making it ideal for multi-center clinical data.</a:t>
            </a:r>
            <a:endParaRPr lang="en-US" sz="1050" dirty="0">
              <a:latin typeface="Times New Roman" panose="02020603050405020304" pitchFamily="18" charset="0"/>
              <a:cs typeface="Times New Roman" panose="02020603050405020304" pitchFamily="18" charset="0"/>
            </a:endParaRPr>
          </a:p>
        </p:txBody>
      </p:sp>
      <p:sp>
        <p:nvSpPr>
          <p:cNvPr id="14" name="AutoShape 14"/>
          <p:cNvSpPr/>
          <p:nvPr/>
        </p:nvSpPr>
        <p:spPr>
          <a:xfrm>
            <a:off x="203200" y="1092200"/>
            <a:ext cx="4673600" cy="4000500"/>
          </a:xfrm>
          <a:prstGeom prst="roundRect">
            <a:avLst>
              <a:gd name="adj" fmla="val 2222"/>
            </a:avLst>
          </a:prstGeom>
          <a:solidFill>
            <a:srgbClr val="F8FAFC">
              <a:alpha val="100000"/>
            </a:srgbClr>
          </a:solidFill>
          <a:ln w="12700" cap="flat" cmpd="sng">
            <a:solidFill>
              <a:srgbClr val="E2E8F0">
                <a:alpha val="100000"/>
              </a:srgbClr>
            </a:solid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p>
        </p:txBody>
      </p:sp>
      <p:grpSp>
        <p:nvGrpSpPr>
          <p:cNvPr id="17" name="组合 16"/>
          <p:cNvGrpSpPr/>
          <p:nvPr/>
        </p:nvGrpSpPr>
        <p:grpSpPr>
          <a:xfrm>
            <a:off x="208786" y="917908"/>
            <a:ext cx="4667250" cy="4082052"/>
            <a:chOff x="238125" y="775698"/>
            <a:chExt cx="4667250" cy="4082052"/>
          </a:xfrm>
        </p:grpSpPr>
        <p:sp>
          <p:nvSpPr>
            <p:cNvPr id="18" name="AutoShape 4"/>
            <p:cNvSpPr/>
            <p:nvPr/>
          </p:nvSpPr>
          <p:spPr>
            <a:xfrm>
              <a:off x="238125" y="952500"/>
              <a:ext cx="4667250" cy="3905250"/>
            </a:xfrm>
            <a:prstGeom prst="roundRect">
              <a:avLst>
                <a:gd name="adj" fmla="val 2439"/>
              </a:avLst>
            </a:prstGeom>
            <a:solidFill>
              <a:srgbClr val="FFFFFF">
                <a:alpha val="100000"/>
              </a:srgbClr>
            </a:solidFill>
            <a:ln w="25400" cap="flat" cmpd="sng">
              <a:noFill/>
              <a:prstDash val="solid"/>
              <a:round/>
            </a:ln>
            <a:effectLst>
              <a:outerShdw blurRad="101600" dist="38100" dir="2700000" algn="tl" rotWithShape="0">
                <a:srgbClr val="000000">
                  <a:alpha val="8000"/>
                </a:srgbClr>
              </a:outerShdw>
            </a:effectLst>
          </p:spPr>
          <p:txBody>
            <a:bodyPr vert="horz" wrap="square" lIns="47625" tIns="47625" rIns="47625" bIns="47625" rtlCol="0" anchor="ctr"/>
            <a:lstStyle/>
            <a:p>
              <a:pPr algn="ctr">
                <a:defRPr/>
              </a:pPr>
              <a:endParaRPr sz="1350"/>
            </a:p>
          </p:txBody>
        </p:sp>
        <p:sp>
          <p:nvSpPr>
            <p:cNvPr id="19" name="AutoShape 7"/>
            <p:cNvSpPr/>
            <p:nvPr/>
          </p:nvSpPr>
          <p:spPr>
            <a:xfrm>
              <a:off x="267464" y="3557921"/>
              <a:ext cx="4602816" cy="1252204"/>
            </a:xfrm>
            <a:prstGeom prst="rect">
              <a:avLst/>
            </a:prstGeom>
            <a:noFill/>
            <a:ln w="12700" cap="flat" cmpd="sng">
              <a:noFill/>
              <a:prstDash val="solid"/>
              <a:round/>
            </a:ln>
          </p:spPr>
          <p:txBody>
            <a:bodyPr vert="horz" wrap="square" lIns="0" tIns="0" rIns="0" bIns="0" rtlCol="0" anchor="ctr" anchorCtr="0"/>
            <a:lstStyle/>
            <a:p>
              <a:pPr marL="171450" indent="-171450">
                <a:lnSpc>
                  <a:spcPct val="125000"/>
                </a:lnSpc>
                <a:buFont typeface="Arial" panose="020B0604020202020204" pitchFamily="34" charset="0"/>
                <a:buChar char="•"/>
                <a:defRPr/>
              </a:pPr>
              <a:r>
                <a:rPr lang="en-US" sz="825"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The left panel (n=1000/p=500/σ=4) shows the standard scenario; the middle panel (n=500/p=1000/σ=9) shows the high-dimensional, small-sample hard scenario; the right panel (n=500/p=500/σ=7) shows the medium-scale scenario. Different σ values are set to calibrate effective signal strength, avoid method failure, and ensure fair comparison across groups.</a:t>
              </a:r>
              <a:endParaRPr lang="en-US" sz="825"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71450" indent="-171450">
                <a:lnSpc>
                  <a:spcPct val="125000"/>
                </a:lnSpc>
                <a:buFont typeface="Arial" panose="020B0604020202020204" pitchFamily="34" charset="0"/>
                <a:buChar char="•"/>
              </a:pPr>
              <a:r>
                <a:rPr lang="en-US" sz="825"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The upper panels show FDR (False Discovery Rate), which should be stably controlled below the red line of 0.1. The lower panels show Power (Statistical Power), where values closer to 1 indicate stronger ability to identify true features.</a:t>
              </a:r>
              <a:endParaRPr lang="en-US" sz="825"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0" name="图片 19"/>
            <p:cNvPicPr>
              <a:picLocks noChangeAspect="1"/>
            </p:cNvPicPr>
            <p:nvPr/>
          </p:nvPicPr>
          <p:blipFill>
            <a:blip r:embed="rId2"/>
            <a:srcRect r="861" b="16334"/>
            <a:stretch>
              <a:fillRect/>
            </a:stretch>
          </p:blipFill>
          <p:spPr>
            <a:xfrm>
              <a:off x="596878" y="775698"/>
              <a:ext cx="3943988" cy="2837783"/>
            </a:xfrm>
            <a:prstGeom prst="rect">
              <a:avLst/>
            </a:prstGeom>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18" b="18"/>
          <a:stretch>
            <a:fillRect/>
          </a:stretch>
        </p:blipFill>
        <p:spPr>
          <a:xfrm>
            <a:off x="279400" y="1028700"/>
            <a:ext cx="5092700" cy="3721100"/>
          </a:xfrm>
          <a:prstGeom prst="rect">
            <a:avLst/>
          </a:prstGeom>
          <a:noFill/>
          <a:ln w="25400" cap="flat" cmpd="sng">
            <a:noFill/>
            <a:prstDash val="solid"/>
            <a:round/>
          </a:ln>
        </p:spPr>
      </p:pic>
      <p:pic>
        <p:nvPicPr>
          <p:cNvPr id="3" name="Picture 3"/>
          <p:cNvPicPr>
            <a:picLocks noChangeAspect="1"/>
          </p:cNvPicPr>
          <p:nvPr/>
        </p:nvPicPr>
        <p:blipFill>
          <a:blip r:embed="rId2"/>
          <a:srcRect l="9276" r="9276"/>
          <a:stretch>
            <a:fillRect/>
          </a:stretch>
        </p:blipFill>
        <p:spPr>
          <a:xfrm>
            <a:off x="0" y="0"/>
            <a:ext cx="9144000" cy="1028700"/>
          </a:xfrm>
          <a:prstGeom prst="rect">
            <a:avLst/>
          </a:prstGeom>
          <a:noFill/>
          <a:ln w="25400" cap="flat" cmpd="sng">
            <a:noFill/>
            <a:prstDash val="solid"/>
            <a:round/>
          </a:ln>
        </p:spPr>
      </p:pic>
      <p:sp>
        <p:nvSpPr>
          <p:cNvPr id="4" name="AutoShape 4"/>
          <p:cNvSpPr/>
          <p:nvPr/>
        </p:nvSpPr>
        <p:spPr>
          <a:xfrm>
            <a:off x="571500" y="190500"/>
            <a:ext cx="8001000" cy="4826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Simulation Results 3 | Impact of Sample Size, Number of Sites, and Sparsity</a:t>
            </a:r>
            <a:endParaRPr lang="en-US" sz="1100" dirty="0"/>
          </a:p>
        </p:txBody>
      </p:sp>
      <p:sp>
        <p:nvSpPr>
          <p:cNvPr id="5" name="AutoShape 5"/>
          <p:cNvSpPr/>
          <p:nvPr/>
        </p:nvSpPr>
        <p:spPr>
          <a:xfrm>
            <a:off x="584200" y="4737100"/>
            <a:ext cx="1727200" cy="4064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9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X-axis: Local Sample Size (n)</a:t>
            </a:r>
            <a:br>
              <a:rPr lang="en-US" sz="9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9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Y-axis: Metric Value</a:t>
            </a:r>
            <a:endParaRPr lang="en-US" sz="1100"/>
          </a:p>
        </p:txBody>
      </p:sp>
      <p:sp>
        <p:nvSpPr>
          <p:cNvPr id="6" name="AutoShape 6"/>
          <p:cNvSpPr/>
          <p:nvPr/>
        </p:nvSpPr>
        <p:spPr>
          <a:xfrm>
            <a:off x="2044700" y="4749800"/>
            <a:ext cx="1625600" cy="3683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9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X-axis: Number of Sites (K)</a:t>
            </a:r>
            <a:br>
              <a:rPr lang="en-US" sz="9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9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Y-axis: Metric Value</a:t>
            </a:r>
            <a:endParaRPr lang="en-US" sz="1100"/>
          </a:p>
        </p:txBody>
      </p:sp>
      <p:sp>
        <p:nvSpPr>
          <p:cNvPr id="7" name="AutoShape 7"/>
          <p:cNvSpPr/>
          <p:nvPr/>
        </p:nvSpPr>
        <p:spPr>
          <a:xfrm>
            <a:off x="3683000" y="4737100"/>
            <a:ext cx="17653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9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X-axis: Sparsity Level (S)</a:t>
            </a:r>
            <a:br>
              <a:rPr lang="en-US" sz="9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9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Y-axis: Metric Value</a:t>
            </a:r>
            <a:endParaRPr lang="en-US" sz="1100"/>
          </a:p>
        </p:txBody>
      </p:sp>
      <p:sp>
        <p:nvSpPr>
          <p:cNvPr id="8" name="AutoShape 8"/>
          <p:cNvSpPr/>
          <p:nvPr/>
        </p:nvSpPr>
        <p:spPr>
          <a:xfrm>
            <a:off x="5664200" y="1028700"/>
            <a:ext cx="3124200" cy="1193800"/>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9" name="AutoShape 9"/>
          <p:cNvSpPr/>
          <p:nvPr/>
        </p:nvSpPr>
        <p:spPr>
          <a:xfrm>
            <a:off x="5664200" y="1028700"/>
            <a:ext cx="3124200" cy="38100"/>
          </a:xfrm>
          <a:prstGeom prst="roundRect">
            <a:avLst>
              <a:gd name="adj" fmla="val 0"/>
            </a:avLst>
          </a:prstGeom>
          <a:solidFill>
            <a:srgbClr val="005A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5842000" y="1193800"/>
            <a:ext cx="2768600" cy="939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Robust FDR Control Performance</a:t>
            </a:r>
            <a:endParaRPr lang="en-US" sz="1100" dirty="0"/>
          </a:p>
          <a:p>
            <a:pPr indent="0" algn="l">
              <a:lnSpc>
                <a:spcPct val="108000"/>
              </a:lnSpc>
              <a:spcBef>
                <a:spcPts val="500"/>
              </a:spcBef>
            </a:pPr>
            <a:r>
              <a:rPr lang="en-US" sz="9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Under all settings of sample size, number of sites, and sparsity, the FDR of </a:t>
            </a:r>
            <a:r>
              <a:rPr lang="en-US" sz="900" b="1" i="0" u="none" strike="noStrike" dirty="0">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Fed-FDR is stably controlled within 0.1</a:t>
            </a:r>
            <a:r>
              <a:rPr lang="en-US" sz="9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 without any out-of-control scenarios, demonstrating extremely strong robustness.</a:t>
            </a:r>
            <a:endParaRPr lang="en-US" sz="9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5664200" y="2336800"/>
            <a:ext cx="3124200" cy="1320800"/>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2" name="AutoShape 12"/>
          <p:cNvSpPr/>
          <p:nvPr/>
        </p:nvSpPr>
        <p:spPr>
          <a:xfrm>
            <a:off x="5664200" y="2336800"/>
            <a:ext cx="3124200" cy="38100"/>
          </a:xfrm>
          <a:prstGeom prst="roundRect">
            <a:avLst>
              <a:gd name="adj" fmla="val 0"/>
            </a:avLst>
          </a:prstGeom>
          <a:solidFill>
            <a:srgbClr val="005A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5842000" y="2501900"/>
            <a:ext cx="2768600" cy="935074"/>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Excellent Statistical Power Performance</a:t>
            </a:r>
            <a:endParaRPr lang="en-US" sz="1100" dirty="0"/>
          </a:p>
          <a:p>
            <a:pPr indent="0" algn="l">
              <a:lnSpc>
                <a:spcPct val="108000"/>
              </a:lnSpc>
              <a:spcBef>
                <a:spcPts val="500"/>
              </a:spcBef>
            </a:pPr>
            <a:r>
              <a:rPr lang="en-US" sz="9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As local sample size and number of sites increase, Power rises rapidly and approaches 1, perfectly matching theoretical expectations. Even if the true feature sparsity decreases, it still maintains the best performance among federated methods.</a:t>
            </a:r>
            <a:endParaRPr lang="en-US" sz="9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5664200" y="3784600"/>
            <a:ext cx="3124200" cy="1320800"/>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5" name="AutoShape 15"/>
          <p:cNvSpPr/>
          <p:nvPr/>
        </p:nvSpPr>
        <p:spPr>
          <a:xfrm>
            <a:off x="5664200" y="3784600"/>
            <a:ext cx="3124200" cy="38100"/>
          </a:xfrm>
          <a:prstGeom prst="roundRect">
            <a:avLst>
              <a:gd name="adj" fmla="val 0"/>
            </a:avLst>
          </a:prstGeom>
          <a:solidFill>
            <a:srgbClr val="005A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5842000" y="3949700"/>
            <a:ext cx="2768600" cy="10414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Method Value Verification</a:t>
            </a:r>
            <a:endParaRPr lang="en-US" sz="1100" dirty="0"/>
          </a:p>
          <a:p>
            <a:pPr indent="0" algn="l">
              <a:lnSpc>
                <a:spcPct val="108000"/>
              </a:lnSpc>
              <a:spcBef>
                <a:spcPts val="500"/>
              </a:spcBef>
            </a:pPr>
            <a:r>
              <a:rPr lang="en-US" sz="9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The experiment verifies that Fed-FDR can maintain excellent and stable performance under all parameter combinations that may appear in real multi-center scenarios, fully demonstrating the dual reliability of the method in both theory and practice.</a:t>
            </a:r>
            <a:endParaRPr lang="en-US" sz="9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279400" y="1181100"/>
            <a:ext cx="2032000" cy="254000"/>
          </a:xfrm>
          <a:prstGeom prst="rect">
            <a:avLst/>
          </a:prstGeom>
          <a:noFill/>
          <a:ln w="9525" cap="flat" cmpd="sng">
            <a:noFill/>
            <a:prstDash val="solid"/>
            <a:round/>
          </a:ln>
        </p:spPr>
        <p:txBody>
          <a:bodyPr vert="horz" wrap="square" lIns="88900" tIns="50800" rIns="88900" bIns="50800" rtlCol="0" anchor="t" anchorCtr="0"/>
          <a:lstStyle/>
          <a:p>
            <a:pPr indent="0" algn="l">
              <a:lnSpc>
                <a:spcPct val="125000"/>
              </a:lnSpc>
              <a:defRPr/>
            </a:pPr>
            <a:r>
              <a:rPr lang="en-US" sz="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Impact of Local Sample Size</a:t>
            </a:r>
            <a:endParaRPr lang="en-US" sz="1100"/>
          </a:p>
        </p:txBody>
      </p:sp>
      <p:sp>
        <p:nvSpPr>
          <p:cNvPr id="18" name="AutoShape 18"/>
          <p:cNvSpPr/>
          <p:nvPr/>
        </p:nvSpPr>
        <p:spPr>
          <a:xfrm>
            <a:off x="1854200" y="1143000"/>
            <a:ext cx="2032000" cy="279400"/>
          </a:xfrm>
          <a:prstGeom prst="rect">
            <a:avLst/>
          </a:prstGeom>
          <a:noFill/>
          <a:ln w="9525" cap="flat" cmpd="sng">
            <a:noFill/>
            <a:prstDash val="solid"/>
            <a:round/>
          </a:ln>
        </p:spPr>
        <p:txBody>
          <a:bodyPr vert="horz" wrap="square" lIns="88900" tIns="50800" rIns="88900" bIns="50800" rtlCol="0" anchor="t" anchorCtr="0"/>
          <a:lstStyle/>
          <a:p>
            <a:pPr indent="0" algn="l">
              <a:lnSpc>
                <a:spcPct val="125000"/>
              </a:lnSpc>
              <a:defRPr/>
            </a:pPr>
            <a:r>
              <a:rPr lang="en-US" sz="9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Impact of Number of Sites</a:t>
            </a:r>
            <a:endParaRPr lang="en-US" sz="1100"/>
          </a:p>
        </p:txBody>
      </p:sp>
      <p:sp>
        <p:nvSpPr>
          <p:cNvPr id="19" name="AutoShape 19"/>
          <p:cNvSpPr/>
          <p:nvPr/>
        </p:nvSpPr>
        <p:spPr>
          <a:xfrm>
            <a:off x="3619500" y="1143000"/>
            <a:ext cx="1828800" cy="266700"/>
          </a:xfrm>
          <a:prstGeom prst="rect">
            <a:avLst/>
          </a:prstGeom>
          <a:noFill/>
          <a:ln w="9525" cap="flat" cmpd="sng">
            <a:noFill/>
            <a:prstDash val="solid"/>
            <a:round/>
          </a:ln>
        </p:spPr>
        <p:txBody>
          <a:bodyPr vert="horz" wrap="square" lIns="88900" tIns="50800" rIns="88900" bIns="50800" rtlCol="0" anchor="t" anchorCtr="0"/>
          <a:lstStyle/>
          <a:p>
            <a:pPr indent="0" algn="l">
              <a:lnSpc>
                <a:spcPct val="125000"/>
              </a:lnSpc>
              <a:defRPr/>
            </a:pPr>
            <a:r>
              <a:rPr lang="en-US" sz="9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Impact of Feature Sparsity</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9276" r="9276"/>
          <a:stretch>
            <a:fillRect/>
          </a:stretch>
        </p:blipFill>
        <p:spPr>
          <a:xfrm>
            <a:off x="0" y="0"/>
            <a:ext cx="9144000" cy="1028700"/>
          </a:xfrm>
          <a:prstGeom prst="rect">
            <a:avLst/>
          </a:prstGeom>
          <a:noFill/>
          <a:ln w="25400" cap="flat" cmpd="sng">
            <a:noFill/>
            <a:prstDash val="solid"/>
            <a:round/>
          </a:ln>
        </p:spPr>
      </p:pic>
      <p:sp>
        <p:nvSpPr>
          <p:cNvPr id="3" name="AutoShape 3"/>
          <p:cNvSpPr/>
          <p:nvPr/>
        </p:nvSpPr>
        <p:spPr>
          <a:xfrm>
            <a:off x="254000" y="152400"/>
            <a:ext cx="8636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Supplementary Simulation Results | Tuning Robustness &amp; Communication Cost</a:t>
            </a:r>
            <a:endParaRPr lang="en-US" sz="1100"/>
          </a:p>
        </p:txBody>
      </p:sp>
      <p:sp>
        <p:nvSpPr>
          <p:cNvPr id="4" name="AutoShape 4"/>
          <p:cNvSpPr/>
          <p:nvPr/>
        </p:nvSpPr>
        <p:spPr>
          <a:xfrm>
            <a:off x="127000" y="812800"/>
            <a:ext cx="4356100" cy="4330700"/>
          </a:xfrm>
          <a:prstGeom prst="roundRect">
            <a:avLst>
              <a:gd name="adj" fmla="val 0"/>
            </a:avLst>
          </a:prstGeom>
          <a:solidFill>
            <a:srgbClr val="F8F9FA">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317500" y="812800"/>
            <a:ext cx="4064000" cy="3683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01 / Tuning Robustness Verification</a:t>
            </a:r>
            <a:endParaRPr lang="en-US" sz="1100" dirty="0"/>
          </a:p>
        </p:txBody>
      </p:sp>
      <p:sp>
        <p:nvSpPr>
          <p:cNvPr id="6" name="AutoShape 6"/>
          <p:cNvSpPr/>
          <p:nvPr/>
        </p:nvSpPr>
        <p:spPr>
          <a:xfrm>
            <a:off x="317500" y="1905000"/>
            <a:ext cx="3937000" cy="3048000"/>
          </a:xfrm>
          <a:prstGeom prst="roundRect">
            <a:avLst>
              <a:gd name="adj" fmla="val 0"/>
            </a:avLst>
          </a:prstGeom>
          <a:noFill/>
          <a:ln w="25400" cap="flat" cmpd="sng">
            <a:noFill/>
            <a:prstDash val="solid"/>
            <a:round/>
          </a:ln>
        </p:spPr>
        <p:txBody>
          <a:bodyPr vert="horz" wrap="square" lIns="63500" tIns="63500" rIns="63500" bIns="63500" rtlCol="0" anchor="ctr" anchorCtr="0"/>
          <a:lstStyle/>
          <a:p>
            <a:pPr indent="0" algn="l">
              <a:lnSpc>
                <a:spcPct val="108000"/>
              </a:lnSpc>
              <a:defRPr/>
            </a:pPr>
            <a:endParaRPr lang="en-US" sz="11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4572000" y="1143000"/>
            <a:ext cx="4445000" cy="4000500"/>
          </a:xfrm>
          <a:prstGeom prst="roundRect">
            <a:avLst>
              <a:gd name="adj" fmla="val 0"/>
            </a:avLst>
          </a:prstGeom>
          <a:solidFill>
            <a:srgbClr val="F8F9FA">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4762500" y="1333500"/>
            <a:ext cx="4064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02 / Communication Cost Quantification Comparison</a:t>
            </a:r>
            <a:endParaRPr lang="en-US" sz="1100"/>
          </a:p>
        </p:txBody>
      </p:sp>
      <p:sp>
        <p:nvSpPr>
          <p:cNvPr id="9" name="AutoShape 9"/>
          <p:cNvSpPr/>
          <p:nvPr/>
        </p:nvSpPr>
        <p:spPr>
          <a:xfrm>
            <a:off x="4762500" y="1905000"/>
            <a:ext cx="4064000" cy="889000"/>
          </a:xfrm>
          <a:prstGeom prst="roundRect">
            <a:avLst>
              <a:gd name="adj" fmla="val 0"/>
            </a:avLst>
          </a:prstGeom>
          <a:solidFill>
            <a:srgbClr val="FFFFFF">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4826000" y="1968500"/>
            <a:ext cx="3937000" cy="762000"/>
          </a:xfrm>
          <a:prstGeom prst="roundRect">
            <a:avLst>
              <a:gd name="adj" fmla="val 0"/>
            </a:avLst>
          </a:prstGeom>
          <a:noFill/>
          <a:ln w="25400" cap="flat" cmpd="sng">
            <a:noFill/>
            <a:prstDash val="solid"/>
            <a:round/>
          </a:ln>
        </p:spPr>
        <p:txBody>
          <a:bodyPr vert="horz" wrap="square" lIns="63500" tIns="63500" rIns="63500" bIns="63500" rtlCol="0" anchor="ctr" anchorCtr="0"/>
          <a:lstStyle/>
          <a:p>
            <a:pPr indent="0" algn="l">
              <a:lnSpc>
                <a:spcPct val="100000"/>
              </a:lnSpc>
              <a:defRPr/>
            </a:pPr>
            <a:r>
              <a:rPr lang="en-US" sz="10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Traditional Methods (Meta-</a:t>
            </a:r>
            <a:r>
              <a:rPr lang="en-US" sz="10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BHq</a:t>
            </a:r>
            <a:r>
              <a:rPr lang="en-US" sz="10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Fed-FDR-N):</a:t>
            </a:r>
            <a:r>
              <a:rPr lang="en-US" sz="1200" dirty="0">
                <a:latin typeface="Times New Roman" panose="02020603050405020304" pitchFamily="18" charset="0"/>
                <a:cs typeface="Times New Roman" panose="02020603050405020304" pitchFamily="18" charset="0"/>
                <a:sym typeface="Noto Sans SC" panose="020B0200000000000000" charset="-122"/>
              </a:rPr>
              <a:t>Communication cost is proportional to the total feature dimension p, which is extremely high in high-dimensional biomedical data scenarios, making transmission costly.</a:t>
            </a:r>
            <a:endParaRPr lang="en-US" sz="1200" dirty="0">
              <a:latin typeface="Times New Roman" panose="02020603050405020304" pitchFamily="18" charset="0"/>
              <a:cs typeface="Times New Roman" panose="02020603050405020304" pitchFamily="18" charset="0"/>
            </a:endParaRPr>
          </a:p>
        </p:txBody>
      </p:sp>
      <p:sp>
        <p:nvSpPr>
          <p:cNvPr id="11" name="AutoShape 11"/>
          <p:cNvSpPr/>
          <p:nvPr/>
        </p:nvSpPr>
        <p:spPr>
          <a:xfrm>
            <a:off x="4762500" y="2921000"/>
            <a:ext cx="4064000" cy="8890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826000" y="2984500"/>
            <a:ext cx="3937000" cy="762000"/>
          </a:xfrm>
          <a:prstGeom prst="roundRect">
            <a:avLst>
              <a:gd name="adj" fmla="val 0"/>
            </a:avLst>
          </a:prstGeom>
          <a:noFill/>
          <a:ln w="25400" cap="flat" cmpd="sng">
            <a:noFill/>
            <a:prstDash val="solid"/>
            <a:round/>
          </a:ln>
        </p:spPr>
        <p:txBody>
          <a:bodyPr vert="horz" wrap="square" lIns="63500" tIns="63500" rIns="63500" bIns="63500" rtlCol="0" anchor="ctr" anchorCtr="0"/>
          <a:lstStyle/>
          <a:p>
            <a:pPr indent="0" algn="l">
              <a:lnSpc>
                <a:spcPct val="100000"/>
              </a:lnSpc>
              <a:defRPr/>
            </a:pPr>
            <a:r>
              <a:rPr lang="en-US" sz="1000" b="1" i="0" u="none" strike="noStrike" dirty="0">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Fed-FDR (This Study's Method):</a:t>
            </a:r>
            <a:r>
              <a:rPr lang="en-US" sz="1200" dirty="0">
                <a:latin typeface="Times New Roman" panose="02020603050405020304" pitchFamily="18" charset="0"/>
                <a:cs typeface="Times New Roman" panose="02020603050405020304" pitchFamily="18" charset="0"/>
                <a:sym typeface="Noto Sans SC" panose="020B0200000000000000" charset="-122"/>
              </a:rPr>
              <a:t>Communication cost is optimized to be proportional to the true relevant feature number p₁, drastically reducing data transmission.</a:t>
            </a:r>
            <a:endParaRPr lang="en-US" sz="1200" dirty="0">
              <a:latin typeface="Times New Roman" panose="02020603050405020304" pitchFamily="18" charset="0"/>
              <a:cs typeface="Times New Roman" panose="02020603050405020304" pitchFamily="18" charset="0"/>
            </a:endParaRPr>
          </a:p>
        </p:txBody>
      </p:sp>
      <p:sp>
        <p:nvSpPr>
          <p:cNvPr id="13" name="AutoShape 13"/>
          <p:cNvSpPr/>
          <p:nvPr/>
        </p:nvSpPr>
        <p:spPr>
          <a:xfrm>
            <a:off x="4762500" y="3937000"/>
            <a:ext cx="4064000" cy="1143000"/>
          </a:xfrm>
          <a:prstGeom prst="roundRect">
            <a:avLst>
              <a:gd name="adj" fmla="val 0"/>
            </a:avLst>
          </a:prstGeom>
          <a:noFill/>
          <a:ln w="25400" cap="flat" cmpd="sng">
            <a:noFill/>
            <a:prstDash val="solid"/>
            <a:round/>
          </a:ln>
        </p:spPr>
        <p:txBody>
          <a:bodyPr vert="horz" wrap="square" lIns="63500" tIns="63500" rIns="63500" bIns="63500" rtlCol="0" anchor="ctr" anchorCtr="0"/>
          <a:lstStyle/>
          <a:p>
            <a:pPr indent="0" algn="l">
              <a:lnSpc>
                <a:spcPct val="100000"/>
              </a:lnSpc>
              <a:defRPr/>
            </a:pPr>
            <a:r>
              <a:rPr lang="en-US" sz="10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Cost Reduction Effect: </a:t>
            </a:r>
            <a:r>
              <a:rPr lang="en-US" sz="1200" dirty="0">
                <a:latin typeface="Times New Roman" panose="02020603050405020304" pitchFamily="18" charset="0"/>
                <a:cs typeface="Times New Roman" panose="02020603050405020304" pitchFamily="18" charset="0"/>
                <a:sym typeface="Noto Sans SC" panose="020B0200000000000000" charset="-122"/>
              </a:rPr>
              <a:t>Assuming a high-dimensional scenario with p=10,000 and p₁=50, the communication overhead of Fed-FDR greatly reducing network and privacy computing costs for cross-center collaboration.</a:t>
            </a:r>
            <a:endParaRPr lang="en-US" sz="1050" dirty="0">
              <a:latin typeface="Times New Roman" panose="02020603050405020304" pitchFamily="18" charset="0"/>
              <a:cs typeface="Times New Roman" panose="02020603050405020304" pitchFamily="18" charset="0"/>
            </a:endParaRPr>
          </a:p>
        </p:txBody>
      </p:sp>
      <p:pic>
        <p:nvPicPr>
          <p:cNvPr id="14" name="图片 13"/>
          <p:cNvPicPr>
            <a:picLocks noChangeAspect="1"/>
          </p:cNvPicPr>
          <p:nvPr/>
        </p:nvPicPr>
        <p:blipFill>
          <a:blip r:embed="rId2"/>
          <a:srcRect t="2424"/>
          <a:stretch>
            <a:fillRect/>
          </a:stretch>
        </p:blipFill>
        <p:spPr>
          <a:xfrm>
            <a:off x="875966" y="1245915"/>
            <a:ext cx="2661808" cy="383408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9276" r="9276"/>
          <a:stretch>
            <a:fillRect/>
          </a:stretch>
        </p:blipFill>
        <p:spPr>
          <a:xfrm>
            <a:off x="0" y="0"/>
            <a:ext cx="9144000" cy="1028700"/>
          </a:xfrm>
          <a:prstGeom prst="rect">
            <a:avLst/>
          </a:prstGeom>
          <a:noFill/>
          <a:ln w="25400" cap="flat" cmpd="sng">
            <a:noFill/>
            <a:prstDash val="solid"/>
            <a:round/>
          </a:ln>
        </p:spPr>
      </p:pic>
      <p:sp>
        <p:nvSpPr>
          <p:cNvPr id="3" name="AutoShape 3"/>
          <p:cNvSpPr/>
          <p:nvPr/>
        </p:nvSpPr>
        <p:spPr>
          <a:xfrm>
            <a:off x="254000" y="330200"/>
            <a:ext cx="8636000" cy="4826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33333"/>
                </a:solidFill>
                <a:latin typeface="Arial" panose="020B0604020202020204"/>
                <a:ea typeface="Arial" panose="020B0604020202020204"/>
                <a:cs typeface="Arial" panose="020B0604020202020204"/>
                <a:sym typeface="Arial" panose="020B0604020202020204"/>
              </a:rPr>
              <a:t>Real Data Application | Risk Factor Identification for Pediatric Post-Acute Sequelae of COVID-19 (PASC)</a:t>
            </a:r>
            <a:endParaRPr lang="en-US" sz="1100"/>
          </a:p>
        </p:txBody>
      </p:sp>
      <p:sp>
        <p:nvSpPr>
          <p:cNvPr id="4" name="AutoShape 4"/>
          <p:cNvSpPr/>
          <p:nvPr/>
        </p:nvSpPr>
        <p:spPr>
          <a:xfrm>
            <a:off x="571500" y="1244600"/>
            <a:ext cx="3911600" cy="33401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435100"/>
            <a:ext cx="35306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005A9C"/>
                </a:solidFill>
                <a:latin typeface="Arial" panose="020B0604020202020204"/>
                <a:ea typeface="Arial" panose="020B0604020202020204"/>
                <a:cs typeface="Arial" panose="020B0604020202020204"/>
                <a:sym typeface="Arial" panose="020B0604020202020204"/>
              </a:rPr>
              <a:t>01 Research Background</a:t>
            </a:r>
            <a:endParaRPr lang="en-US" sz="1100"/>
          </a:p>
        </p:txBody>
      </p:sp>
      <p:sp>
        <p:nvSpPr>
          <p:cNvPr id="6" name="AutoShape 6"/>
          <p:cNvSpPr/>
          <p:nvPr/>
        </p:nvSpPr>
        <p:spPr>
          <a:xfrm>
            <a:off x="762000" y="2032000"/>
            <a:ext cx="3530600" cy="1143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spcBef>
                <a:spcPts val="500"/>
              </a:spcBef>
              <a:defRPr/>
            </a:pPr>
            <a:r>
              <a:rPr lang="en-US" sz="1200" b="1" i="0" u="none" strike="noStrike">
                <a:solidFill>
                  <a:srgbClr val="333333"/>
                </a:solidFill>
                <a:latin typeface="Arial" panose="020B0604020202020204"/>
                <a:ea typeface="Arial" panose="020B0604020202020204"/>
                <a:cs typeface="Arial" panose="020B0604020202020204"/>
                <a:sym typeface="Arial" panose="020B0604020202020204"/>
              </a:rPr>
              <a:t>Core Problem: Data Silos and Privacy Barriers</a:t>
            </a:r>
            <a:endParaRPr lang="en-US" sz="1100"/>
          </a:p>
          <a:p>
            <a:pPr indent="0" algn="l">
              <a:lnSpc>
                <a:spcPct val="125000"/>
              </a:lnSpc>
              <a:spcBef>
                <a:spcPts val="300"/>
              </a:spcBef>
            </a:pPr>
            <a:r>
              <a:rPr lang="en-US" sz="1000" b="0" i="0" u="none" strike="noStrike">
                <a:solidFill>
                  <a:srgbClr val="555555"/>
                </a:solidFill>
                <a:latin typeface="Arial" panose="020B0604020202020204"/>
                <a:ea typeface="Arial" panose="020B0604020202020204"/>
                <a:cs typeface="Arial" panose="020B0604020202020204"/>
                <a:sym typeface="Arial" panose="020B0604020202020204"/>
              </a:rPr>
              <a:t>Pediatric electronic health records (EHR) are scattered across clinical sites and restricted by privacy laws, making traditional multi-center joint analysis impossible.</a:t>
            </a:r>
            <a:endParaRPr lang="en-US" sz="1000" b="0" i="0" u="none" strike="noStrike">
              <a:solidFill>
                <a:srgbClr val="555555"/>
              </a:solidFill>
              <a:latin typeface="Arial" panose="020B0604020202020204"/>
              <a:ea typeface="Arial" panose="020B0604020202020204"/>
              <a:cs typeface="Arial" panose="020B0604020202020204"/>
              <a:sym typeface="Arial" panose="020B0604020202020204"/>
            </a:endParaRPr>
          </a:p>
        </p:txBody>
      </p:sp>
      <p:sp>
        <p:nvSpPr>
          <p:cNvPr id="7" name="AutoShape 7"/>
          <p:cNvSpPr/>
          <p:nvPr/>
        </p:nvSpPr>
        <p:spPr>
          <a:xfrm>
            <a:off x="762000" y="3302000"/>
            <a:ext cx="3530600" cy="12065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spcBef>
                <a:spcPts val="500"/>
              </a:spcBef>
              <a:defRPr/>
            </a:pPr>
            <a:r>
              <a:rPr lang="en-US" sz="1200" b="1" i="0" u="none" strike="noStrike">
                <a:solidFill>
                  <a:srgbClr val="333333"/>
                </a:solidFill>
                <a:latin typeface="Arial" panose="020B0604020202020204"/>
                <a:ea typeface="Arial" panose="020B0604020202020204"/>
                <a:cs typeface="Arial" panose="020B0604020202020204"/>
                <a:sym typeface="Arial" panose="020B0604020202020204"/>
              </a:rPr>
              <a:t>Research Goal: Feature Identification in a Federated Scenario</a:t>
            </a:r>
            <a:endParaRPr lang="en-US" sz="1100"/>
          </a:p>
          <a:p>
            <a:pPr indent="0" algn="l">
              <a:lnSpc>
                <a:spcPct val="125000"/>
              </a:lnSpc>
              <a:spcBef>
                <a:spcPts val="300"/>
              </a:spcBef>
            </a:pPr>
            <a:r>
              <a:rPr lang="en-US" sz="1000" b="0" i="0" u="none" strike="noStrike">
                <a:solidFill>
                  <a:srgbClr val="555555"/>
                </a:solidFill>
                <a:latin typeface="Arial" panose="020B0604020202020204"/>
                <a:ea typeface="Arial" panose="020B0604020202020204"/>
                <a:cs typeface="Arial" panose="020B0604020202020204"/>
                <a:sym typeface="Arial" panose="020B0604020202020204"/>
              </a:rPr>
              <a:t>Without sharing raw data, use federated learning technology to identify common risk characteristics of PASC after Omicron infection in children across 34 clinical sites.</a:t>
            </a:r>
            <a:endParaRPr lang="en-US" sz="1000" b="0" i="0" u="none" strike="noStrike">
              <a:solidFill>
                <a:srgbClr val="555555"/>
              </a:solidFill>
              <a:latin typeface="Arial" panose="020B0604020202020204"/>
              <a:ea typeface="Arial" panose="020B0604020202020204"/>
              <a:cs typeface="Arial" panose="020B0604020202020204"/>
              <a:sym typeface="Arial" panose="020B0604020202020204"/>
            </a:endParaRPr>
          </a:p>
        </p:txBody>
      </p:sp>
      <p:sp>
        <p:nvSpPr>
          <p:cNvPr id="8" name="AutoShape 8"/>
          <p:cNvSpPr/>
          <p:nvPr/>
        </p:nvSpPr>
        <p:spPr>
          <a:xfrm>
            <a:off x="4673600" y="1244600"/>
            <a:ext cx="2006600" cy="1574800"/>
          </a:xfrm>
          <a:prstGeom prst="roundRect">
            <a:avLst>
              <a:gd name="adj" fmla="val 0"/>
            </a:avLst>
          </a:prstGeom>
          <a:solidFill>
            <a:srgbClr val="F0F5FA">
              <a:alpha val="10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13300" y="1435100"/>
            <a:ext cx="266700" cy="266700"/>
          </a:xfrm>
          <a:prstGeom prst="rect">
            <a:avLst/>
          </a:prstGeom>
        </p:spPr>
      </p:pic>
      <p:sp>
        <p:nvSpPr>
          <p:cNvPr id="10" name="AutoShape 10"/>
          <p:cNvSpPr/>
          <p:nvPr/>
        </p:nvSpPr>
        <p:spPr>
          <a:xfrm>
            <a:off x="5107940" y="1303020"/>
            <a:ext cx="1384300" cy="3302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33333"/>
                </a:solidFill>
                <a:latin typeface="Arial" panose="020B0604020202020204"/>
                <a:ea typeface="Arial" panose="020B0604020202020204"/>
                <a:cs typeface="Arial" panose="020B0604020202020204"/>
                <a:sym typeface="Arial" panose="020B0604020202020204"/>
              </a:rPr>
              <a:t>Data Source</a:t>
            </a:r>
            <a:endParaRPr lang="en-US" sz="1100"/>
          </a:p>
        </p:txBody>
      </p:sp>
      <p:sp>
        <p:nvSpPr>
          <p:cNvPr id="11" name="AutoShape 11"/>
          <p:cNvSpPr/>
          <p:nvPr/>
        </p:nvSpPr>
        <p:spPr>
          <a:xfrm>
            <a:off x="4785360" y="1593850"/>
            <a:ext cx="1793240" cy="113665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spcBef>
                <a:spcPts val="400"/>
              </a:spcBef>
              <a:defRPr/>
            </a:pPr>
            <a:r>
              <a:rPr lang="en-US" sz="1100" b="0" i="0" u="none" strike="noStrike">
                <a:solidFill>
                  <a:srgbClr val="555555"/>
                </a:solidFill>
                <a:latin typeface="Times New Roman" panose="02020603050405020304" pitchFamily="18" charset="0"/>
                <a:ea typeface="Arial" panose="020B0604020202020204"/>
                <a:cs typeface="Times New Roman" panose="02020603050405020304" pitchFamily="18" charset="0"/>
                <a:sym typeface="Arial" panose="020B0604020202020204"/>
              </a:rPr>
              <a:t>Based on aggregated statistics from EHRs of 34 real clinical sites, a highly realistic dataset was generated, incorporating 3990 children aged 5-11, with an average of 130 per site.</a:t>
            </a:r>
            <a:endParaRPr lang="en-US" sz="1100" b="0" i="0" u="none" strike="noStrike">
              <a:solidFill>
                <a:srgbClr val="555555"/>
              </a:solidFill>
              <a:latin typeface="Times New Roman" panose="02020603050405020304" pitchFamily="18" charset="0"/>
              <a:ea typeface="Arial" panose="020B0604020202020204"/>
              <a:cs typeface="Times New Roman" panose="02020603050405020304" pitchFamily="18" charset="0"/>
              <a:sym typeface="Arial" panose="020B0604020202020204"/>
            </a:endParaRPr>
          </a:p>
        </p:txBody>
      </p:sp>
      <p:sp>
        <p:nvSpPr>
          <p:cNvPr id="12" name="AutoShape 12"/>
          <p:cNvSpPr/>
          <p:nvPr/>
        </p:nvSpPr>
        <p:spPr>
          <a:xfrm>
            <a:off x="6769100" y="1244600"/>
            <a:ext cx="2006600" cy="1574800"/>
          </a:xfrm>
          <a:prstGeom prst="roundRect">
            <a:avLst>
              <a:gd name="adj" fmla="val 0"/>
            </a:avLst>
          </a:prstGeom>
          <a:solidFill>
            <a:srgbClr val="F0F5FA">
              <a:alpha val="10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08800" y="1435100"/>
            <a:ext cx="266700" cy="266700"/>
          </a:xfrm>
          <a:prstGeom prst="rect">
            <a:avLst/>
          </a:prstGeom>
        </p:spPr>
      </p:pic>
      <p:sp>
        <p:nvSpPr>
          <p:cNvPr id="14" name="AutoShape 14"/>
          <p:cNvSpPr/>
          <p:nvPr/>
        </p:nvSpPr>
        <p:spPr>
          <a:xfrm>
            <a:off x="6949440" y="1323340"/>
            <a:ext cx="1714500" cy="3302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33333"/>
                </a:solidFill>
                <a:latin typeface="Arial" panose="020B0604020202020204"/>
                <a:ea typeface="Arial" panose="020B0604020202020204"/>
                <a:cs typeface="Arial" panose="020B0604020202020204"/>
                <a:sym typeface="Arial" panose="020B0604020202020204"/>
              </a:rPr>
              <a:t>Candidate Features</a:t>
            </a:r>
            <a:endParaRPr lang="en-US" sz="1100"/>
          </a:p>
        </p:txBody>
      </p:sp>
      <p:sp>
        <p:nvSpPr>
          <p:cNvPr id="15" name="AutoShape 15"/>
          <p:cNvSpPr/>
          <p:nvPr/>
        </p:nvSpPr>
        <p:spPr>
          <a:xfrm>
            <a:off x="6853555" y="1816100"/>
            <a:ext cx="1891030" cy="889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spcBef>
                <a:spcPts val="400"/>
              </a:spcBef>
              <a:defRPr/>
            </a:pPr>
            <a:r>
              <a:rPr lang="en-US" sz="1100" b="0" i="0" u="none" strike="noStrike">
                <a:solidFill>
                  <a:srgbClr val="555555"/>
                </a:solidFill>
                <a:latin typeface="Times New Roman" panose="02020603050405020304" pitchFamily="18" charset="0"/>
                <a:ea typeface="Arial" panose="020B0604020202020204"/>
                <a:cs typeface="Times New Roman" panose="02020603050405020304" pitchFamily="18" charset="0"/>
                <a:sym typeface="Arial" panose="020B0604020202020204"/>
              </a:rPr>
              <a:t>A total of 243 multi-dimensional features were selected, covering: demographic characteristics, basic medical history, COVID-19 visit records, and related medication history.</a:t>
            </a:r>
            <a:endParaRPr lang="en-US" sz="1100">
              <a:latin typeface="Times New Roman" panose="02020603050405020304" pitchFamily="18" charset="0"/>
              <a:cs typeface="Times New Roman" panose="02020603050405020304" pitchFamily="18" charset="0"/>
            </a:endParaRPr>
          </a:p>
        </p:txBody>
      </p:sp>
      <p:sp>
        <p:nvSpPr>
          <p:cNvPr id="16" name="AutoShape 16"/>
          <p:cNvSpPr/>
          <p:nvPr/>
        </p:nvSpPr>
        <p:spPr>
          <a:xfrm>
            <a:off x="4673600" y="2997200"/>
            <a:ext cx="2006600" cy="1574800"/>
          </a:xfrm>
          <a:prstGeom prst="roundRect">
            <a:avLst>
              <a:gd name="adj" fmla="val 0"/>
            </a:avLst>
          </a:prstGeom>
          <a:solidFill>
            <a:srgbClr val="F0F5FA">
              <a:alpha val="10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13300" y="3187700"/>
            <a:ext cx="266700" cy="266700"/>
          </a:xfrm>
          <a:prstGeom prst="rect">
            <a:avLst/>
          </a:prstGeom>
        </p:spPr>
      </p:pic>
      <p:sp>
        <p:nvSpPr>
          <p:cNvPr id="18" name="AutoShape 18"/>
          <p:cNvSpPr/>
          <p:nvPr/>
        </p:nvSpPr>
        <p:spPr>
          <a:xfrm>
            <a:off x="5133340" y="3002280"/>
            <a:ext cx="1384300" cy="3302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33333"/>
                </a:solidFill>
                <a:latin typeface="Arial" panose="020B0604020202020204"/>
                <a:ea typeface="Arial" panose="020B0604020202020204"/>
                <a:cs typeface="Arial" panose="020B0604020202020204"/>
                <a:sym typeface="Arial" panose="020B0604020202020204"/>
              </a:rPr>
              <a:t>Study Outcome</a:t>
            </a:r>
            <a:endParaRPr lang="en-US" sz="1100"/>
          </a:p>
        </p:txBody>
      </p:sp>
      <p:sp>
        <p:nvSpPr>
          <p:cNvPr id="19" name="AutoShape 19"/>
          <p:cNvSpPr/>
          <p:nvPr/>
        </p:nvSpPr>
        <p:spPr>
          <a:xfrm>
            <a:off x="4725670" y="3454400"/>
            <a:ext cx="1938020" cy="889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spcBef>
                <a:spcPts val="400"/>
              </a:spcBef>
              <a:defRPr/>
            </a:pPr>
            <a:r>
              <a:rPr lang="en-US" sz="1100" b="0" i="0" u="none" strike="noStrike">
                <a:solidFill>
                  <a:srgbClr val="555555"/>
                </a:solidFill>
                <a:latin typeface="Times New Roman" panose="02020603050405020304" pitchFamily="18" charset="0"/>
                <a:ea typeface="Arial" panose="020B0604020202020204"/>
                <a:cs typeface="Times New Roman" panose="02020603050405020304" pitchFamily="18" charset="0"/>
                <a:sym typeface="Arial" panose="020B0604020202020204"/>
              </a:rPr>
              <a:t>Focus on whether children develop allergic-related long-term COVID sequelae within 28-179 days after Omicron infection.</a:t>
            </a:r>
            <a:endParaRPr lang="en-US" sz="1100">
              <a:latin typeface="Times New Roman" panose="02020603050405020304" pitchFamily="18" charset="0"/>
              <a:cs typeface="Times New Roman" panose="02020603050405020304" pitchFamily="18" charset="0"/>
            </a:endParaRPr>
          </a:p>
        </p:txBody>
      </p:sp>
      <p:sp>
        <p:nvSpPr>
          <p:cNvPr id="20" name="AutoShape 20"/>
          <p:cNvSpPr/>
          <p:nvPr/>
        </p:nvSpPr>
        <p:spPr>
          <a:xfrm>
            <a:off x="6769100" y="2997200"/>
            <a:ext cx="2006600" cy="1574800"/>
          </a:xfrm>
          <a:prstGeom prst="roundRect">
            <a:avLst>
              <a:gd name="adj" fmla="val 0"/>
            </a:avLst>
          </a:prstGeom>
          <a:solidFill>
            <a:srgbClr val="F0F5FA">
              <a:alpha val="10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08800" y="3187700"/>
            <a:ext cx="266700" cy="266700"/>
          </a:xfrm>
          <a:prstGeom prst="rect">
            <a:avLst/>
          </a:prstGeom>
        </p:spPr>
      </p:pic>
      <p:sp>
        <p:nvSpPr>
          <p:cNvPr id="22" name="AutoShape 22"/>
          <p:cNvSpPr/>
          <p:nvPr/>
        </p:nvSpPr>
        <p:spPr>
          <a:xfrm>
            <a:off x="7152640" y="3002280"/>
            <a:ext cx="1460500" cy="3302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33333"/>
                </a:solidFill>
                <a:latin typeface="Arial" panose="020B0604020202020204"/>
                <a:ea typeface="Arial" panose="020B0604020202020204"/>
                <a:cs typeface="Arial" panose="020B0604020202020204"/>
                <a:sym typeface="Arial" panose="020B0604020202020204"/>
              </a:rPr>
              <a:t>Statistical Control</a:t>
            </a:r>
            <a:endParaRPr lang="en-US" sz="1100"/>
          </a:p>
        </p:txBody>
      </p:sp>
      <p:sp>
        <p:nvSpPr>
          <p:cNvPr id="23" name="AutoShape 23"/>
          <p:cNvSpPr/>
          <p:nvPr/>
        </p:nvSpPr>
        <p:spPr>
          <a:xfrm>
            <a:off x="6892290" y="3413760"/>
            <a:ext cx="1714500" cy="972185"/>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spcBef>
                <a:spcPts val="400"/>
              </a:spcBef>
              <a:defRPr/>
            </a:pPr>
            <a:r>
              <a:rPr lang="en-US" sz="1100" b="0" i="0" u="none" strike="noStrike">
                <a:solidFill>
                  <a:srgbClr val="555555"/>
                </a:solidFill>
                <a:latin typeface="Times New Roman" panose="02020603050405020304" pitchFamily="18" charset="0"/>
                <a:ea typeface="Arial" panose="020B0604020202020204"/>
                <a:cs typeface="Times New Roman" panose="02020603050405020304" pitchFamily="18" charset="0"/>
                <a:sym typeface="Arial" panose="020B0604020202020204"/>
              </a:rPr>
              <a:t>To balance false positives and false negatives, the preset FDR control level for multiple testing correction is α=0.1.</a:t>
            </a:r>
            <a:endParaRPr lang="en-US" sz="110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9276" r="9276"/>
          <a:stretch>
            <a:fillRect/>
          </a:stretch>
        </p:blipFill>
        <p:spPr>
          <a:xfrm>
            <a:off x="0" y="0"/>
            <a:ext cx="9144000" cy="1028700"/>
          </a:xfrm>
          <a:prstGeom prst="rect">
            <a:avLst/>
          </a:prstGeom>
          <a:noFill/>
          <a:ln w="25400" cap="flat" cmpd="sng">
            <a:noFill/>
            <a:prstDash val="solid"/>
            <a:round/>
          </a:ln>
        </p:spPr>
      </p:pic>
      <p:sp>
        <p:nvSpPr>
          <p:cNvPr id="3" name="AutoShape 3"/>
          <p:cNvSpPr/>
          <p:nvPr/>
        </p:nvSpPr>
        <p:spPr>
          <a:xfrm>
            <a:off x="495300" y="165100"/>
            <a:ext cx="8001000" cy="4826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Real Data Application | Core Results and Clinical Value</a:t>
            </a:r>
            <a:endParaRPr lang="en-US" sz="1100"/>
          </a:p>
        </p:txBody>
      </p:sp>
      <p:sp>
        <p:nvSpPr>
          <p:cNvPr id="4" name="AutoShape 4"/>
          <p:cNvSpPr/>
          <p:nvPr/>
        </p:nvSpPr>
        <p:spPr>
          <a:xfrm>
            <a:off x="5725160" y="1117600"/>
            <a:ext cx="2979420" cy="3429000"/>
          </a:xfrm>
          <a:prstGeom prst="roundRect">
            <a:avLst>
              <a:gd name="adj" fmla="val 0"/>
            </a:avLst>
          </a:prstGeom>
          <a:solidFill>
            <a:srgbClr val="F7FAFC">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5905500" y="1122680"/>
            <a:ext cx="2885440" cy="292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5A9C"/>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Feature Selection Result Comparison</a:t>
            </a:r>
            <a:endParaRPr lang="en-US" sz="1300">
              <a:latin typeface="Times New Roman" panose="02020603050405020304" pitchFamily="18" charset="0"/>
              <a:cs typeface="Times New Roman" panose="02020603050405020304" pitchFamily="18" charset="0"/>
            </a:endParaRPr>
          </a:p>
        </p:txBody>
      </p:sp>
      <p:sp>
        <p:nvSpPr>
          <p:cNvPr id="7" name="AutoShape 7"/>
          <p:cNvSpPr/>
          <p:nvPr/>
        </p:nvSpPr>
        <p:spPr>
          <a:xfrm>
            <a:off x="5847715" y="1472565"/>
            <a:ext cx="2787015" cy="1588135"/>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sz="11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Gold Standard BHq:</a:t>
            </a:r>
            <a:r>
              <a:rPr lang="en-US" altLang="zh-CN" sz="1100" i="0" u="none" strike="noStrike">
                <a:solidFill>
                  <a:srgbClr val="33333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Identified 8 statistically significant risk features.</a:t>
            </a:r>
            <a:endParaRPr lang="en-US" altLang="zh-CN" sz="1100" i="0" u="none" strike="noStrike">
              <a:solidFill>
                <a:srgbClr val="33333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a:p>
            <a:pPr indent="0" algn="l">
              <a:lnSpc>
                <a:spcPct val="108000"/>
              </a:lnSpc>
              <a:defRPr/>
            </a:pPr>
            <a:r>
              <a:rPr lang="en-US" sz="11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Fed-FDR:</a:t>
            </a:r>
            <a:r>
              <a:rPr lang="en-US" altLang="zh-CN" sz="1100" b="0" i="0" u="none" strike="noStrike">
                <a:solidFill>
                  <a:srgbClr val="555555"/>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Successfully identified 4 of the 8 features, delivering the most reliable selection.</a:t>
            </a:r>
            <a:endParaRPr lang="en-US" altLang="zh-CN" sz="1100" b="0" i="0" u="none" strike="noStrike">
              <a:solidFill>
                <a:srgbClr val="555555"/>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a:p>
            <a:pPr indent="0" algn="l">
              <a:lnSpc>
                <a:spcPct val="108000"/>
              </a:lnSpc>
            </a:pPr>
            <a:r>
              <a:rPr lang="en-US" sz="11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Other Federated Methods:</a:t>
            </a:r>
            <a:r>
              <a:rPr lang="en-US" altLang="zh-CN" sz="1100" b="0" i="0" u="none" strike="noStrike">
                <a:solidFill>
                  <a:srgbClr val="555555"/>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Only identified 4 gold-standard features and generated multiple false positives.</a:t>
            </a:r>
            <a:endParaRPr lang="en-US" altLang="zh-CN" sz="1100" b="0" i="0" u="none" strike="noStrike">
              <a:solidFill>
                <a:srgbClr val="555555"/>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p:txBody>
      </p:sp>
      <p:sp>
        <p:nvSpPr>
          <p:cNvPr id="8" name="AutoShape 8"/>
          <p:cNvSpPr/>
          <p:nvPr/>
        </p:nvSpPr>
        <p:spPr>
          <a:xfrm>
            <a:off x="5725160" y="3111500"/>
            <a:ext cx="2979420" cy="1460500"/>
          </a:xfrm>
          <a:prstGeom prst="roundRect">
            <a:avLst>
              <a:gd name="adj" fmla="val 0"/>
            </a:avLst>
          </a:prstGeom>
          <a:solidFill>
            <a:srgbClr val="FFFFFF">
              <a:alpha val="100000"/>
            </a:srgbClr>
          </a:solidFill>
          <a:ln w="12700" cap="flat" cmpd="sng">
            <a:solidFill>
              <a:srgbClr val="005A9C">
                <a:alpha val="30000"/>
              </a:srgbClr>
            </a:solidFill>
            <a:prstDash val="dash"/>
            <a:round/>
          </a:ln>
        </p:spPr>
        <p:txBody>
          <a:bodyPr vert="horz" wrap="square" lIns="63500" tIns="63500" rIns="63500" bIns="63500" rtlCol="0" anchor="ctr"/>
          <a:lstStyle/>
          <a:p>
            <a:pPr algn="ctr">
              <a:defRPr/>
            </a:pPr>
          </a:p>
        </p:txBody>
      </p:sp>
      <p:sp>
        <p:nvSpPr>
          <p:cNvPr id="9" name="AutoShape 9"/>
          <p:cNvSpPr/>
          <p:nvPr/>
        </p:nvSpPr>
        <p:spPr>
          <a:xfrm>
            <a:off x="5819140" y="3155950"/>
            <a:ext cx="2816225" cy="132715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sz="1000" b="1" i="0" u="none" strike="noStrike">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Risk Features Identified by Fed-FDR:</a:t>
            </a:r>
            <a:endParaRPr lang="en-US" sz="1100"/>
          </a:p>
          <a:p>
            <a:pPr indent="0" algn="l">
              <a:lnSpc>
                <a:spcPct val="100000"/>
              </a:lnSpc>
            </a:pPr>
            <a:r>
              <a:rPr 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1. History of obesity | 2. History of allergies</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3. History of asthma | 4. Cohort Entry Month</a:t>
            </a:r>
            <a:endParaRPr 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pPr>
            <a:r>
              <a:rPr lang="en-US" sz="800" b="0" i="1" u="none" strike="noStrike">
                <a:solidFill>
                  <a:srgbClr val="757575"/>
                </a:solidFill>
                <a:latin typeface="Noto Sans SC" panose="020B0200000000000000" charset="-122"/>
                <a:ea typeface="Noto Sans SC" panose="020B0200000000000000" charset="-122"/>
                <a:cs typeface="Noto Sans SC" panose="020B0200000000000000" charset="-122"/>
                <a:sym typeface="Noto Sans SC" panose="020B0200000000000000" charset="-122"/>
              </a:rPr>
              <a:t>All four groups have been confirmed by adult PASC studies and have clear clinical basis.</a:t>
            </a:r>
            <a:endParaRPr lang="en-US" sz="800" b="0" i="1" u="none" strike="noStrike">
              <a:solidFill>
                <a:srgbClr val="75757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292100" y="812800"/>
            <a:ext cx="5130800" cy="4229100"/>
          </a:xfrm>
          <a:prstGeom prst="roundRect">
            <a:avLst>
              <a:gd name="adj" fmla="val 0"/>
            </a:avLst>
          </a:prstGeom>
          <a:solidFill>
            <a:srgbClr val="F7FAFC">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2"/>
          <a:srcRect l="34" r="34"/>
          <a:stretch>
            <a:fillRect/>
          </a:stretch>
        </p:blipFill>
        <p:spPr>
          <a:xfrm>
            <a:off x="457200" y="850900"/>
            <a:ext cx="4800600" cy="4127500"/>
          </a:xfrm>
          <a:prstGeom prst="rect">
            <a:avLst/>
          </a:prstGeom>
          <a:noFill/>
          <a:ln w="25400" cap="flat" cmpd="sng">
            <a:noFill/>
            <a:prstDash val="solid"/>
            <a:round/>
          </a:ln>
        </p:spPr>
      </p:pic>
      <p:sp>
        <p:nvSpPr>
          <p:cNvPr id="12" name="AutoShape 12"/>
          <p:cNvSpPr/>
          <p:nvPr/>
        </p:nvSpPr>
        <p:spPr>
          <a:xfrm>
            <a:off x="4851400" y="1295400"/>
            <a:ext cx="266700" cy="1155700"/>
          </a:xfrm>
          <a:prstGeom prst="roundRect">
            <a:avLst>
              <a:gd name="adj" fmla="val 19047"/>
            </a:avLst>
          </a:prstGeom>
          <a:noFill/>
          <a:ln w="12700" cap="flat" cmpd="sng">
            <a:solidFill>
              <a:srgbClr val="C00000">
                <a:alpha val="100000"/>
              </a:srgbClr>
            </a:solidFill>
            <a:prstDash val="solid"/>
            <a:miter lim="10000000"/>
          </a:ln>
        </p:spPr>
        <p:txBody>
          <a:bodyPr vert="horz" wrap="square" lIns="63500" tIns="63500" rIns="63500" bIns="63500" rtlCol="0" anchor="ctr"/>
          <a:lstStyle/>
          <a:p>
            <a:pPr algn="ctr">
              <a:defRPr/>
            </a:p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9276" r="9276"/>
          <a:stretch>
            <a:fillRect/>
          </a:stretch>
        </p:blipFill>
        <p:spPr>
          <a:xfrm>
            <a:off x="0" y="0"/>
            <a:ext cx="9144000" cy="1028700"/>
          </a:xfrm>
          <a:prstGeom prst="rect">
            <a:avLst/>
          </a:prstGeom>
          <a:noFill/>
          <a:ln w="25400" cap="flat" cmpd="sng">
            <a:noFill/>
            <a:prstDash val="solid"/>
            <a:round/>
          </a:ln>
        </p:spPr>
      </p:pic>
      <p:sp>
        <p:nvSpPr>
          <p:cNvPr id="3" name="AutoShape 3"/>
          <p:cNvSpPr/>
          <p:nvPr/>
        </p:nvSpPr>
        <p:spPr>
          <a:xfrm>
            <a:off x="571500" y="215900"/>
            <a:ext cx="8001000" cy="4826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Real Data Application | Core Results and Clinical Value</a:t>
            </a:r>
            <a:endParaRPr lang="en-US" sz="1100"/>
          </a:p>
        </p:txBody>
      </p:sp>
      <p:sp>
        <p:nvSpPr>
          <p:cNvPr id="4" name="AutoShape 4"/>
          <p:cNvSpPr/>
          <p:nvPr/>
        </p:nvSpPr>
        <p:spPr>
          <a:xfrm>
            <a:off x="292100" y="1003300"/>
            <a:ext cx="5372100" cy="3822700"/>
          </a:xfrm>
          <a:prstGeom prst="roundRect">
            <a:avLst>
              <a:gd name="adj" fmla="val 0"/>
            </a:avLst>
          </a:prstGeom>
          <a:solidFill>
            <a:srgbClr val="F7FAFC">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6146800" y="1143000"/>
            <a:ext cx="2578100" cy="1574800"/>
          </a:xfrm>
          <a:prstGeom prst="roundRect">
            <a:avLst>
              <a:gd name="adj" fmla="val 0"/>
            </a:avLst>
          </a:prstGeom>
          <a:solidFill>
            <a:srgbClr val="F7FAFC">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srcRect/>
          <a:stretch>
            <a:fillRect/>
          </a:stretch>
        </p:blipFill>
        <p:spPr>
          <a:xfrm>
            <a:off x="6337300" y="1333500"/>
            <a:ext cx="228600" cy="228600"/>
          </a:xfrm>
          <a:prstGeom prst="rect">
            <a:avLst/>
          </a:prstGeom>
          <a:noFill/>
          <a:ln w="25400" cap="flat" cmpd="sng">
            <a:noFill/>
            <a:prstDash val="solid"/>
            <a:round/>
          </a:ln>
        </p:spPr>
      </p:pic>
      <p:sp>
        <p:nvSpPr>
          <p:cNvPr id="7" name="AutoShape 7"/>
          <p:cNvSpPr/>
          <p:nvPr/>
        </p:nvSpPr>
        <p:spPr>
          <a:xfrm>
            <a:off x="6654800" y="1320800"/>
            <a:ext cx="2032000" cy="292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Predictive Performance (AUC)</a:t>
            </a:r>
            <a:endParaRPr lang="en-US" sz="1100"/>
          </a:p>
        </p:txBody>
      </p:sp>
      <p:sp>
        <p:nvSpPr>
          <p:cNvPr id="8" name="AutoShape 8"/>
          <p:cNvSpPr/>
          <p:nvPr/>
        </p:nvSpPr>
        <p:spPr>
          <a:xfrm>
            <a:off x="6337300" y="1676400"/>
            <a:ext cx="2197100" cy="1054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Gold Standard BHq:</a:t>
            </a:r>
            <a:r>
              <a:rPr lang="en-US" sz="1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AUC = 0.779</a:t>
            </a:r>
            <a:endParaRPr lang="en-US" sz="1100"/>
          </a:p>
          <a:p>
            <a:pPr indent="0" algn="l">
              <a:lnSpc>
                <a:spcPct val="125000"/>
              </a:lnSpc>
            </a:pPr>
            <a:r>
              <a:rPr lang="en-US" sz="1000" b="1" i="0" u="none" strike="noStrike">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 Fed-FDR:</a:t>
            </a:r>
            <a:r>
              <a:rPr lang="en-US" sz="1200" b="1" i="0" u="none" strike="noStrike">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AUC = 0.763</a:t>
            </a:r>
            <a:r>
              <a:rPr lang="en-US" sz="9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(Infinitely close to GS)</a:t>
            </a:r>
            <a:endParaRPr lang="en-US" sz="9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0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 Other Federated Methods: AUC = 0.726 - 0.749</a:t>
            </a:r>
            <a:endParaRPr lang="en-US" sz="10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5994400" y="2908300"/>
            <a:ext cx="2971800" cy="1917700"/>
          </a:xfrm>
          <a:prstGeom prst="roundRect">
            <a:avLst>
              <a:gd name="adj" fmla="val 0"/>
            </a:avLst>
          </a:prstGeom>
          <a:solidFill>
            <a:srgbClr val="005A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5994400" y="2997200"/>
            <a:ext cx="2971800" cy="2413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Clinical Value</a:t>
            </a:r>
            <a:endParaRPr lang="en-US" sz="1100"/>
          </a:p>
        </p:txBody>
      </p:sp>
      <p:sp>
        <p:nvSpPr>
          <p:cNvPr id="11" name="AutoShape 11"/>
          <p:cNvSpPr/>
          <p:nvPr/>
        </p:nvSpPr>
        <p:spPr>
          <a:xfrm>
            <a:off x="6223000" y="3203575"/>
            <a:ext cx="2514600" cy="1562735"/>
          </a:xfrm>
          <a:prstGeom prst="roundRect">
            <a:avLst>
              <a:gd name="adj" fmla="val 0"/>
            </a:avLst>
          </a:prstGeom>
          <a:noFill/>
          <a:ln w="25400" cap="flat" cmpd="sng">
            <a:noFill/>
            <a:prstDash val="solid"/>
            <a:round/>
          </a:ln>
        </p:spPr>
        <p:txBody>
          <a:bodyPr vert="horz" wrap="square" lIns="0" tIns="0" rIns="0" bIns="0" rtlCol="0" anchor="ctr" anchorCtr="0"/>
          <a:lstStyle/>
          <a:p>
            <a:pPr marL="139700" indent="-139700" algn="l">
              <a:lnSpc>
                <a:spcPct val="108000"/>
              </a:lnSpc>
              <a:buClr>
                <a:srgbClr val="FFFFFF"/>
              </a:buClr>
              <a:buChar char="•"/>
              <a:defRPr/>
            </a:pPr>
            <a:r>
              <a:rPr lang="en-US" sz="1100" b="1" i="0" u="none" strike="noStrike">
                <a:solidFill>
                  <a:srgbClr val="FFFFFF"/>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Breakthrough in Privacy Computing</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altLang="zh-CN" sz="1000" i="0" u="none" strike="noStrike">
                <a:solidFill>
                  <a:srgbClr val="FFFFFF"/>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Successfully extracted cross-institutional risk features without sharing any individual-level sensitive medical data.</a:t>
            </a:r>
            <a:endParaRPr lang="en-US" altLang="zh-CN" sz="1000" i="0" u="none" strike="noStrike">
              <a:solidFill>
                <a:srgbClr val="FFFFFF"/>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a:p>
            <a:pPr marL="139700" indent="-139700" algn="l">
              <a:lnSpc>
                <a:spcPct val="108000"/>
              </a:lnSpc>
              <a:buClr>
                <a:srgbClr val="FFFFFF"/>
              </a:buClr>
              <a:buChar char="•"/>
              <a:defRPr/>
            </a:pPr>
            <a:r>
              <a:rPr lang="en-US" sz="1100" b="1" i="0" u="none" strike="noStrike">
                <a:solidFill>
                  <a:srgbClr val="FFFFFF"/>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Reliable &amp; Clinically Meaningful</a:t>
            </a:r>
            <a:br>
              <a:rPr lang="en-US" sz="1000" i="0" u="none" strike="noStrike">
                <a:solidFill>
                  <a:srgbClr val="1F2329"/>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br>
            <a:r>
              <a:rPr lang="en-US" altLang="zh-CN" sz="1000" i="0" u="none" strike="noStrike">
                <a:solidFill>
                  <a:srgbClr val="FFFFFF"/>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T</a:t>
            </a:r>
            <a:r>
              <a:rPr lang="en-US" altLang="zh-CN" sz="1000" b="0" i="0" u="none" strike="noStrike">
                <a:solidFill>
                  <a:srgbClr val="FFFFFF"/>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he selected features align consistently with adult PASC study findings, and the predictive accuracy (AUC) closely approaches the centralized gold standard.</a:t>
            </a:r>
            <a:endParaRPr lang="en-US" altLang="zh-CN" sz="1000" b="0" i="0" u="none" strike="noStrike">
              <a:solidFill>
                <a:srgbClr val="FFFFFF"/>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p:txBody>
      </p:sp>
      <p:pic>
        <p:nvPicPr>
          <p:cNvPr id="12" name="Picture 12"/>
          <p:cNvPicPr>
            <a:picLocks noChangeAspect="1"/>
          </p:cNvPicPr>
          <p:nvPr/>
        </p:nvPicPr>
        <p:blipFill>
          <a:blip r:embed="rId3"/>
          <a:srcRect t="47" b="47"/>
          <a:stretch>
            <a:fillRect/>
          </a:stretch>
        </p:blipFill>
        <p:spPr>
          <a:xfrm>
            <a:off x="431800" y="1333500"/>
            <a:ext cx="5092700" cy="3187700"/>
          </a:xfrm>
          <a:prstGeom prst="rect">
            <a:avLst/>
          </a:prstGeom>
          <a:noFill/>
          <a:ln w="25400" cap="flat" cmpd="sng">
            <a:noFill/>
            <a:prstDash val="solid"/>
            <a:rou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9276" r="9276"/>
          <a:stretch>
            <a:fillRect/>
          </a:stretch>
        </p:blipFill>
        <p:spPr>
          <a:xfrm>
            <a:off x="0" y="0"/>
            <a:ext cx="9144000" cy="1028700"/>
          </a:xfrm>
          <a:prstGeom prst="rect">
            <a:avLst/>
          </a:prstGeom>
          <a:noFill/>
          <a:ln w="25400" cap="flat" cmpd="sng">
            <a:noFill/>
            <a:prstDash val="solid"/>
            <a:round/>
          </a:ln>
        </p:spPr>
      </p:pic>
      <p:sp>
        <p:nvSpPr>
          <p:cNvPr id="3" name="AutoShape 3"/>
          <p:cNvSpPr/>
          <p:nvPr/>
        </p:nvSpPr>
        <p:spPr>
          <a:xfrm>
            <a:off x="571500" y="381000"/>
            <a:ext cx="8001000" cy="4826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Empirical Part | Overall Summary</a:t>
            </a:r>
            <a:endParaRPr lang="en-US" sz="1100"/>
          </a:p>
        </p:txBody>
      </p:sp>
      <p:sp>
        <p:nvSpPr>
          <p:cNvPr id="4" name="AutoShape 4"/>
          <p:cNvSpPr/>
          <p:nvPr/>
        </p:nvSpPr>
        <p:spPr>
          <a:xfrm>
            <a:off x="571500" y="1054100"/>
            <a:ext cx="8001000" cy="4826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Through simulation experiments and real clinical data applications, we have fully verified the actual performance of the Fed-FDR method. The core conclusions are as follows:</a:t>
            </a:r>
            <a:endParaRPr lang="en-US" sz="1100"/>
          </a:p>
        </p:txBody>
      </p:sp>
      <p:sp>
        <p:nvSpPr>
          <p:cNvPr id="5" name="AutoShape 5"/>
          <p:cNvSpPr/>
          <p:nvPr/>
        </p:nvSpPr>
        <p:spPr>
          <a:xfrm>
            <a:off x="571500" y="1714500"/>
            <a:ext cx="3911600" cy="1435100"/>
          </a:xfrm>
          <a:prstGeom prst="roundRect">
            <a:avLst>
              <a:gd name="adj" fmla="val 0"/>
            </a:avLst>
          </a:prstGeom>
          <a:solidFill>
            <a:srgbClr val="F7F8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2006600"/>
            <a:ext cx="673100" cy="8636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p:nvPr/>
        </p:nvSpPr>
        <p:spPr>
          <a:xfrm>
            <a:off x="1625600" y="1905000"/>
            <a:ext cx="2667000" cy="1054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Stable FDR Control</a:t>
            </a:r>
            <a:endParaRPr lang="en-US" sz="1100"/>
          </a:p>
          <a:p>
            <a:pPr indent="0" algn="l">
              <a:lnSpc>
                <a:spcPct val="125000"/>
              </a:lnSpc>
              <a:spcBef>
                <a:spcPts val="750"/>
              </a:spcBef>
            </a:pPr>
            <a:r>
              <a:rPr lang="en-US" sz="1000" b="0" i="0" u="none" strike="noStrike">
                <a:solidFill>
                  <a:srgbClr val="555555"/>
                </a:solidFill>
                <a:latin typeface="等线" panose="02010600030101010101" charset="-122"/>
                <a:ea typeface="等线" panose="02010600030101010101" charset="-122"/>
                <a:cs typeface="等线" panose="02010600030101010101" charset="-122"/>
                <a:sym typeface="等线" panose="02010600030101010101" charset="-122"/>
              </a:rPr>
              <a:t>In all scenarios, Fed-FDR can stably control FDR within the preset level, fully achieving the core design goal of the method.</a:t>
            </a:r>
            <a:endParaRPr lang="en-US" sz="1000" b="0" i="0" u="none" strike="noStrike">
              <a:solidFill>
                <a:srgbClr val="555555"/>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8" name="AutoShape 8"/>
          <p:cNvSpPr/>
          <p:nvPr/>
        </p:nvSpPr>
        <p:spPr>
          <a:xfrm>
            <a:off x="4673600" y="1714500"/>
            <a:ext cx="3911600" cy="1435100"/>
          </a:xfrm>
          <a:prstGeom prst="roundRect">
            <a:avLst>
              <a:gd name="adj" fmla="val 0"/>
            </a:avLst>
          </a:prstGeom>
          <a:solidFill>
            <a:srgbClr val="F7F8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4864100" y="2006600"/>
            <a:ext cx="673100" cy="8636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0" name="AutoShape 10"/>
          <p:cNvSpPr/>
          <p:nvPr/>
        </p:nvSpPr>
        <p:spPr>
          <a:xfrm>
            <a:off x="5715000" y="1905000"/>
            <a:ext cx="2667000" cy="1054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Optimal Statistical Power</a:t>
            </a:r>
            <a:endParaRPr lang="en-US" sz="1100"/>
          </a:p>
          <a:p>
            <a:pPr indent="0" algn="l">
              <a:lnSpc>
                <a:spcPct val="125000"/>
              </a:lnSpc>
              <a:spcBef>
                <a:spcPts val="750"/>
              </a:spcBef>
            </a:pPr>
            <a:r>
              <a:rPr lang="en-US" sz="1000" b="0" i="0" u="none" strike="noStrike">
                <a:solidFill>
                  <a:srgbClr val="555555"/>
                </a:solidFill>
                <a:latin typeface="等线" panose="02010600030101010101" charset="-122"/>
                <a:ea typeface="等线" panose="02010600030101010101" charset="-122"/>
                <a:cs typeface="等线" panose="02010600030101010101" charset="-122"/>
                <a:sym typeface="等线" panose="02010600030101010101" charset="-122"/>
              </a:rPr>
              <a:t>Among all federated baseline methods, the statistical power of Fed-FDR always ranks first, infinitely approaching the gold standard of centralized data.</a:t>
            </a:r>
            <a:endParaRPr lang="en-US" sz="1000" b="0" i="0" u="none" strike="noStrike">
              <a:solidFill>
                <a:srgbClr val="555555"/>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11" name="AutoShape 11"/>
          <p:cNvSpPr/>
          <p:nvPr/>
        </p:nvSpPr>
        <p:spPr>
          <a:xfrm>
            <a:off x="571500" y="3340100"/>
            <a:ext cx="3911600" cy="1435100"/>
          </a:xfrm>
          <a:prstGeom prst="roundRect">
            <a:avLst>
              <a:gd name="adj" fmla="val 0"/>
            </a:avLst>
          </a:prstGeom>
          <a:solidFill>
            <a:srgbClr val="F7F8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762000" y="3619500"/>
            <a:ext cx="673100" cy="8636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3" name="AutoShape 13"/>
          <p:cNvSpPr/>
          <p:nvPr/>
        </p:nvSpPr>
        <p:spPr>
          <a:xfrm>
            <a:off x="1625600" y="3454400"/>
            <a:ext cx="2667000" cy="12065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Extremely Strong Landability</a:t>
            </a:r>
            <a:endParaRPr lang="en-US" sz="1100"/>
          </a:p>
          <a:p>
            <a:pPr indent="0" algn="l">
              <a:lnSpc>
                <a:spcPct val="125000"/>
              </a:lnSpc>
              <a:spcBef>
                <a:spcPts val="750"/>
              </a:spcBef>
            </a:pPr>
            <a:r>
              <a:rPr lang="en-US" sz="1000" b="0" i="0" u="none" strike="noStrike">
                <a:solidFill>
                  <a:srgbClr val="555555"/>
                </a:solidFill>
                <a:latin typeface="等线" panose="02010600030101010101" charset="-122"/>
                <a:ea typeface="等线" panose="02010600030101010101" charset="-122"/>
                <a:cs typeface="等线" panose="02010600030101010101" charset="-122"/>
                <a:sym typeface="等线" panose="02010600030101010101" charset="-122"/>
              </a:rPr>
              <a:t>The method is insensitive to tuning, has extremely low communication costs, and is extremely robust to parameter changes such as feature correlation, sample size, and number of sites, adapting to various real application scenarios.</a:t>
            </a:r>
            <a:endParaRPr lang="en-US" sz="1000" b="0" i="0" u="none" strike="noStrike">
              <a:solidFill>
                <a:srgbClr val="555555"/>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14" name="AutoShape 14"/>
          <p:cNvSpPr/>
          <p:nvPr/>
        </p:nvSpPr>
        <p:spPr>
          <a:xfrm>
            <a:off x="4673600" y="3340100"/>
            <a:ext cx="3911600" cy="1435100"/>
          </a:xfrm>
          <a:prstGeom prst="roundRect">
            <a:avLst>
              <a:gd name="adj" fmla="val 0"/>
            </a:avLst>
          </a:prstGeom>
          <a:solidFill>
            <a:srgbClr val="F7F8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864100" y="3619500"/>
            <a:ext cx="673100" cy="8636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16" name="AutoShape 16"/>
          <p:cNvSpPr/>
          <p:nvPr/>
        </p:nvSpPr>
        <p:spPr>
          <a:xfrm>
            <a:off x="5715000" y="3454400"/>
            <a:ext cx="2667000" cy="12065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Clear Clinical Value</a:t>
            </a:r>
            <a:endParaRPr lang="en-US" sz="1100"/>
          </a:p>
          <a:p>
            <a:pPr indent="0" algn="l">
              <a:lnSpc>
                <a:spcPct val="125000"/>
              </a:lnSpc>
              <a:spcBef>
                <a:spcPts val="750"/>
              </a:spcBef>
            </a:pPr>
            <a:r>
              <a:rPr lang="en-US" sz="1000" b="0" i="0" u="none" strike="noStrike">
                <a:solidFill>
                  <a:srgbClr val="555555"/>
                </a:solidFill>
                <a:latin typeface="等线" panose="02010600030101010101" charset="-122"/>
                <a:ea typeface="等线" panose="02010600030101010101" charset="-122"/>
                <a:cs typeface="等线" panose="02010600030101010101" charset="-122"/>
                <a:sym typeface="等线" panose="02010600030101010101" charset="-122"/>
              </a:rPr>
              <a:t>In real multi-center clinical research, Fed-FDR successfully identified risk factors with clear clinical significance under the premise of protecting data privacy, with reliable results that can be directly applied in practice.</a:t>
            </a:r>
            <a:endParaRPr lang="en-US" sz="1000" b="0" i="0" u="none" strike="noStrike">
              <a:solidFill>
                <a:srgbClr val="555555"/>
              </a:solidFill>
              <a:latin typeface="等线" panose="02010600030101010101" charset="-122"/>
              <a:ea typeface="等线" panose="02010600030101010101" charset="-122"/>
              <a:cs typeface="等线" panose="02010600030101010101" charset="-122"/>
              <a:sym typeface="等线" panose="02010600030101010101"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9276" r="9276"/>
          <a:stretch>
            <a:fillRect/>
          </a:stretch>
        </p:blipFill>
        <p:spPr>
          <a:xfrm>
            <a:off x="0" y="0"/>
            <a:ext cx="9144000" cy="1028700"/>
          </a:xfrm>
          <a:prstGeom prst="rect">
            <a:avLst/>
          </a:prstGeom>
          <a:noFill/>
          <a:ln w="25400" cap="flat" cmpd="sng">
            <a:noFill/>
            <a:prstDash val="solid"/>
            <a:round/>
          </a:ln>
        </p:spPr>
      </p:pic>
      <p:sp>
        <p:nvSpPr>
          <p:cNvPr id="3" name="AutoShape 3"/>
          <p:cNvSpPr/>
          <p:nvPr/>
        </p:nvSpPr>
        <p:spPr>
          <a:xfrm>
            <a:off x="571500" y="381000"/>
            <a:ext cx="8001000" cy="4826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Technical Innovations</a:t>
            </a:r>
            <a:endParaRPr lang="en-US" sz="1100"/>
          </a:p>
        </p:txBody>
      </p:sp>
      <p:grpSp>
        <p:nvGrpSpPr>
          <p:cNvPr id="17" name="组合 16"/>
          <p:cNvGrpSpPr/>
          <p:nvPr>
            <p:custDataLst>
              <p:tags r:id="rId2"/>
            </p:custDataLst>
          </p:nvPr>
        </p:nvGrpSpPr>
        <p:grpSpPr>
          <a:xfrm>
            <a:off x="490855" y="1170305"/>
            <a:ext cx="3911600" cy="1699895"/>
            <a:chOff x="900" y="2700"/>
            <a:chExt cx="6160" cy="2260"/>
          </a:xfrm>
        </p:grpSpPr>
        <p:sp>
          <p:nvSpPr>
            <p:cNvPr id="5" name="AutoShape 5"/>
            <p:cNvSpPr/>
            <p:nvPr>
              <p:custDataLst>
                <p:tags r:id="rId3"/>
              </p:custDataLst>
            </p:nvPr>
          </p:nvSpPr>
          <p:spPr>
            <a:xfrm>
              <a:off x="900" y="2700"/>
              <a:ext cx="6160" cy="2260"/>
            </a:xfrm>
            <a:prstGeom prst="roundRect">
              <a:avLst>
                <a:gd name="adj" fmla="val 0"/>
              </a:avLst>
            </a:prstGeom>
            <a:solidFill>
              <a:srgbClr val="F7F8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4"/>
              </p:custDataLst>
            </p:nvPr>
          </p:nvSpPr>
          <p:spPr>
            <a:xfrm>
              <a:off x="1200" y="3160"/>
              <a:ext cx="1060" cy="136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grpSp>
      <p:sp>
        <p:nvSpPr>
          <p:cNvPr id="7" name="AutoShape 7"/>
          <p:cNvSpPr/>
          <p:nvPr>
            <p:custDataLst>
              <p:tags r:id="rId5"/>
            </p:custDataLst>
          </p:nvPr>
        </p:nvSpPr>
        <p:spPr>
          <a:xfrm>
            <a:off x="1559560" y="1551305"/>
            <a:ext cx="2667000" cy="1054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Generalized Mirror Statistic</a:t>
            </a:r>
            <a:endParaRPr lang="en-US" sz="1100"/>
          </a:p>
          <a:p>
            <a:pPr indent="0" algn="l">
              <a:lnSpc>
                <a:spcPct val="125000"/>
              </a:lnSpc>
              <a:spcBef>
                <a:spcPts val="750"/>
              </a:spcBef>
            </a:pPr>
            <a:r>
              <a:rPr lang="en-US" sz="1000" b="0" i="0" u="none" strike="noStrike">
                <a:solidFill>
                  <a:srgbClr val="555555"/>
                </a:solidFill>
                <a:latin typeface="等线" panose="02010600030101010101" charset="-122"/>
                <a:ea typeface="等线" panose="02010600030101010101" charset="-122"/>
                <a:cs typeface="等线" panose="02010600030101010101" charset="-122"/>
                <a:sym typeface="等线" panose="02010600030101010101" charset="-122"/>
              </a:rPr>
              <a:t>Proposes a cross-site pairwise generalized mirror statistic to achieve precise distributed FDR control. It leverages the natural independence between sites to ensure the symmetry of the null distribution.</a:t>
            </a:r>
            <a:endParaRPr lang="en-US" sz="1000" b="0" i="0" u="none" strike="noStrike">
              <a:solidFill>
                <a:srgbClr val="555555"/>
              </a:solidFill>
              <a:latin typeface="等线" panose="02010600030101010101" charset="-122"/>
              <a:ea typeface="等线" panose="02010600030101010101" charset="-122"/>
              <a:cs typeface="等线" panose="02010600030101010101" charset="-122"/>
              <a:sym typeface="等线" panose="02010600030101010101" charset="-122"/>
            </a:endParaRPr>
          </a:p>
        </p:txBody>
      </p:sp>
      <p:grpSp>
        <p:nvGrpSpPr>
          <p:cNvPr id="18" name="组合 17"/>
          <p:cNvGrpSpPr/>
          <p:nvPr>
            <p:custDataLst>
              <p:tags r:id="rId6"/>
            </p:custDataLst>
          </p:nvPr>
        </p:nvGrpSpPr>
        <p:grpSpPr>
          <a:xfrm>
            <a:off x="4607560" y="1170305"/>
            <a:ext cx="3911600" cy="1699260"/>
            <a:chOff x="7360" y="2700"/>
            <a:chExt cx="6160" cy="2260"/>
          </a:xfrm>
        </p:grpSpPr>
        <p:sp>
          <p:nvSpPr>
            <p:cNvPr id="8" name="AutoShape 8"/>
            <p:cNvSpPr/>
            <p:nvPr>
              <p:custDataLst>
                <p:tags r:id="rId7"/>
              </p:custDataLst>
            </p:nvPr>
          </p:nvSpPr>
          <p:spPr>
            <a:xfrm>
              <a:off x="7360" y="2700"/>
              <a:ext cx="6160" cy="2260"/>
            </a:xfrm>
            <a:prstGeom prst="roundRect">
              <a:avLst>
                <a:gd name="adj" fmla="val 0"/>
              </a:avLst>
            </a:prstGeom>
            <a:solidFill>
              <a:srgbClr val="F7F8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custDataLst>
                <p:tags r:id="rId8"/>
              </p:custDataLst>
            </p:nvPr>
          </p:nvSpPr>
          <p:spPr>
            <a:xfrm>
              <a:off x="7660" y="3160"/>
              <a:ext cx="1060" cy="136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grpSp>
      <p:sp>
        <p:nvSpPr>
          <p:cNvPr id="10" name="AutoShape 10"/>
          <p:cNvSpPr/>
          <p:nvPr>
            <p:custDataLst>
              <p:tags r:id="rId9"/>
            </p:custDataLst>
          </p:nvPr>
        </p:nvSpPr>
        <p:spPr>
          <a:xfrm>
            <a:off x="5686425" y="1360805"/>
            <a:ext cx="2667000" cy="1318895"/>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Inter-site Feature Exchange</a:t>
            </a:r>
            <a:endParaRPr lang="en-US" sz="1100"/>
          </a:p>
          <a:p>
            <a:pPr indent="0" algn="l">
              <a:lnSpc>
                <a:spcPct val="125000"/>
              </a:lnSpc>
              <a:spcBef>
                <a:spcPts val="750"/>
              </a:spcBef>
            </a:pPr>
            <a:r>
              <a:rPr lang="en-US" sz="1000" b="0" i="0" u="none" strike="noStrike">
                <a:solidFill>
                  <a:srgbClr val="555555"/>
                </a:solidFill>
                <a:latin typeface="等线" panose="02010600030101010101" charset="-122"/>
                <a:ea typeface="等线" panose="02010600030101010101" charset="-122"/>
                <a:cs typeface="等线" panose="02010600030101010101" charset="-122"/>
                <a:sym typeface="等线" panose="02010600030101010101" charset="-122"/>
              </a:rPr>
              <a:t>Only feature indices and low-dimensional coefficients are exchanged, with raw data never leaving local sites. This drastically reduces communication costs and ensures privacy compliance.</a:t>
            </a:r>
            <a:endParaRPr lang="en-US" sz="1000" b="0" i="0" u="none" strike="noStrike">
              <a:solidFill>
                <a:srgbClr val="555555"/>
              </a:solidFill>
              <a:latin typeface="等线" panose="02010600030101010101" charset="-122"/>
              <a:ea typeface="等线" panose="02010600030101010101" charset="-122"/>
              <a:cs typeface="等线" panose="02010600030101010101" charset="-122"/>
              <a:sym typeface="等线" panose="02010600030101010101" charset="-122"/>
            </a:endParaRPr>
          </a:p>
        </p:txBody>
      </p:sp>
      <p:grpSp>
        <p:nvGrpSpPr>
          <p:cNvPr id="19" name="组合 18"/>
          <p:cNvGrpSpPr/>
          <p:nvPr>
            <p:custDataLst>
              <p:tags r:id="rId10"/>
            </p:custDataLst>
          </p:nvPr>
        </p:nvGrpSpPr>
        <p:grpSpPr>
          <a:xfrm>
            <a:off x="490855" y="3026410"/>
            <a:ext cx="3912235" cy="1748790"/>
            <a:chOff x="900" y="5260"/>
            <a:chExt cx="6160" cy="2260"/>
          </a:xfrm>
        </p:grpSpPr>
        <p:sp>
          <p:nvSpPr>
            <p:cNvPr id="11" name="AutoShape 11"/>
            <p:cNvSpPr/>
            <p:nvPr>
              <p:custDataLst>
                <p:tags r:id="rId11"/>
              </p:custDataLst>
            </p:nvPr>
          </p:nvSpPr>
          <p:spPr>
            <a:xfrm>
              <a:off x="900" y="5260"/>
              <a:ext cx="6160" cy="2260"/>
            </a:xfrm>
            <a:prstGeom prst="roundRect">
              <a:avLst>
                <a:gd name="adj" fmla="val 0"/>
              </a:avLst>
            </a:prstGeom>
            <a:solidFill>
              <a:srgbClr val="F7F8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custDataLst>
                <p:tags r:id="rId12"/>
              </p:custDataLst>
            </p:nvPr>
          </p:nvSpPr>
          <p:spPr>
            <a:xfrm>
              <a:off x="1200" y="5700"/>
              <a:ext cx="1060" cy="136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grpSp>
      <p:sp>
        <p:nvSpPr>
          <p:cNvPr id="13" name="AutoShape 13"/>
          <p:cNvSpPr/>
          <p:nvPr>
            <p:custDataLst>
              <p:tags r:id="rId13"/>
            </p:custDataLst>
          </p:nvPr>
        </p:nvSpPr>
        <p:spPr>
          <a:xfrm>
            <a:off x="1407795" y="3012440"/>
            <a:ext cx="3063875" cy="1722755"/>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Inclusion Rate Weighted Aggregation</a:t>
            </a:r>
            <a:endParaRPr lang="en-US" sz="1100"/>
          </a:p>
          <a:p>
            <a:pPr indent="0" algn="l">
              <a:lnSpc>
                <a:spcPct val="125000"/>
              </a:lnSpc>
              <a:spcBef>
                <a:spcPts val="750"/>
              </a:spcBef>
            </a:pPr>
            <a:r>
              <a:rPr lang="en-US" sz="1000" b="0" i="0" u="none" strike="noStrike">
                <a:solidFill>
                  <a:srgbClr val="555555"/>
                </a:solidFill>
                <a:latin typeface="等线" panose="02010600030101010101" charset="-122"/>
                <a:ea typeface="等线" panose="02010600030101010101" charset="-122"/>
                <a:cs typeface="等线" panose="02010600030101010101" charset="-122"/>
                <a:sym typeface="等线" panose="02010600030101010101" charset="-122"/>
              </a:rPr>
              <a:t>Achieves adaptive threshold selection through global inclusion rate ranking. This mechanism automatically balances FDR control and statistical power, adapting to varying levels of data heterogeneity.</a:t>
            </a:r>
            <a:endParaRPr lang="en-US" sz="1000" b="0" i="0" u="none" strike="noStrike">
              <a:solidFill>
                <a:srgbClr val="555555"/>
              </a:solidFill>
              <a:latin typeface="等线" panose="02010600030101010101" charset="-122"/>
              <a:ea typeface="等线" panose="02010600030101010101" charset="-122"/>
              <a:cs typeface="等线" panose="02010600030101010101" charset="-122"/>
              <a:sym typeface="等线" panose="02010600030101010101" charset="-122"/>
            </a:endParaRPr>
          </a:p>
        </p:txBody>
      </p:sp>
      <p:grpSp>
        <p:nvGrpSpPr>
          <p:cNvPr id="20" name="组合 19"/>
          <p:cNvGrpSpPr/>
          <p:nvPr>
            <p:custDataLst>
              <p:tags r:id="rId14"/>
            </p:custDataLst>
          </p:nvPr>
        </p:nvGrpSpPr>
        <p:grpSpPr>
          <a:xfrm>
            <a:off x="4608195" y="3011805"/>
            <a:ext cx="3910330" cy="1763395"/>
            <a:chOff x="7360" y="5260"/>
            <a:chExt cx="6160" cy="2260"/>
          </a:xfrm>
        </p:grpSpPr>
        <p:sp>
          <p:nvSpPr>
            <p:cNvPr id="14" name="AutoShape 14"/>
            <p:cNvSpPr/>
            <p:nvPr>
              <p:custDataLst>
                <p:tags r:id="rId15"/>
              </p:custDataLst>
            </p:nvPr>
          </p:nvSpPr>
          <p:spPr>
            <a:xfrm>
              <a:off x="7360" y="5260"/>
              <a:ext cx="6160" cy="2260"/>
            </a:xfrm>
            <a:prstGeom prst="roundRect">
              <a:avLst>
                <a:gd name="adj" fmla="val 0"/>
              </a:avLst>
            </a:prstGeom>
            <a:solidFill>
              <a:srgbClr val="F7F8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custDataLst>
                <p:tags r:id="rId16"/>
              </p:custDataLst>
            </p:nvPr>
          </p:nvSpPr>
          <p:spPr>
            <a:xfrm>
              <a:off x="7660" y="5700"/>
              <a:ext cx="1060" cy="136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005A9C"/>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grpSp>
      <p:sp>
        <p:nvSpPr>
          <p:cNvPr id="16" name="AutoShape 16"/>
          <p:cNvSpPr/>
          <p:nvPr>
            <p:custDataLst>
              <p:tags r:id="rId17"/>
            </p:custDataLst>
          </p:nvPr>
        </p:nvSpPr>
        <p:spPr>
          <a:xfrm>
            <a:off x="5715000" y="3023870"/>
            <a:ext cx="2667000" cy="1760855"/>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Theoretical Foundation</a:t>
            </a:r>
            <a:endParaRPr lang="en-US" sz="1100"/>
          </a:p>
          <a:p>
            <a:pPr indent="0" algn="l">
              <a:lnSpc>
                <a:spcPct val="125000"/>
              </a:lnSpc>
              <a:spcBef>
                <a:spcPts val="750"/>
              </a:spcBef>
            </a:pPr>
            <a:r>
              <a:rPr lang="en-US" sz="1000" b="0" i="0" u="none" strike="noStrike">
                <a:solidFill>
                  <a:srgbClr val="555555"/>
                </a:solidFill>
                <a:latin typeface="等线" panose="02010600030101010101" charset="-122"/>
                <a:ea typeface="等线" panose="02010600030101010101" charset="-122"/>
                <a:cs typeface="等线" panose="02010600030101010101" charset="-122"/>
                <a:sym typeface="等线" panose="02010600030101010101" charset="-122"/>
              </a:rPr>
              <a:t>Provides rigorous theoretical guarantees for FDR control and statistical power under both ideal and heterogeneous scenarios, ensuring the method's validity and reliability.</a:t>
            </a:r>
            <a:endParaRPr lang="en-US" sz="1000" b="0" i="0" u="none" strike="noStrike">
              <a:solidFill>
                <a:srgbClr val="555555"/>
              </a:solidFill>
              <a:latin typeface="等线" panose="02010600030101010101" charset="-122"/>
              <a:ea typeface="等线" panose="02010600030101010101" charset="-122"/>
              <a:cs typeface="等线" panose="02010600030101010101" charset="-122"/>
              <a:sym typeface="等线" panose="02010600030101010101"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9276" r="9276"/>
          <a:stretch>
            <a:fillRect/>
          </a:stretch>
        </p:blipFill>
        <p:spPr>
          <a:xfrm>
            <a:off x="0" y="0"/>
            <a:ext cx="9144000" cy="1028700"/>
          </a:xfrm>
          <a:prstGeom prst="rect">
            <a:avLst/>
          </a:prstGeom>
          <a:noFill/>
          <a:ln w="25400" cap="flat" cmpd="sng">
            <a:noFill/>
            <a:prstDash val="solid"/>
            <a:round/>
          </a:ln>
        </p:spPr>
      </p:pic>
      <p:sp>
        <p:nvSpPr>
          <p:cNvPr id="3" name="AutoShape 3"/>
          <p:cNvSpPr/>
          <p:nvPr/>
        </p:nvSpPr>
        <p:spPr>
          <a:xfrm>
            <a:off x="508000" y="127000"/>
            <a:ext cx="7620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Conclusion: Fed-FDR Summary</a:t>
            </a:r>
            <a:endParaRPr lang="en-US" sz="24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nvGrpSpPr>
          <p:cNvPr id="23" name="组合 22"/>
          <p:cNvGrpSpPr/>
          <p:nvPr/>
        </p:nvGrpSpPr>
        <p:grpSpPr>
          <a:xfrm>
            <a:off x="292100" y="1043940"/>
            <a:ext cx="2959100" cy="3423837"/>
            <a:chOff x="460" y="1900"/>
            <a:chExt cx="4660" cy="5399"/>
          </a:xfrm>
        </p:grpSpPr>
        <p:sp>
          <p:nvSpPr>
            <p:cNvPr id="4" name="AutoShape 4"/>
            <p:cNvSpPr/>
            <p:nvPr/>
          </p:nvSpPr>
          <p:spPr>
            <a:xfrm>
              <a:off x="460" y="1900"/>
              <a:ext cx="4660" cy="5399"/>
            </a:xfrm>
            <a:prstGeom prst="roundRect">
              <a:avLst>
                <a:gd name="adj" fmla="val 3004"/>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680" y="2100"/>
              <a:ext cx="4200" cy="6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Why Fed-FDR?</a:t>
              </a:r>
              <a:endParaRPr lang="en-US" sz="1100"/>
            </a:p>
          </p:txBody>
        </p:sp>
        <p:sp>
          <p:nvSpPr>
            <p:cNvPr id="6" name="AutoShape 6"/>
            <p:cNvSpPr/>
            <p:nvPr/>
          </p:nvSpPr>
          <p:spPr>
            <a:xfrm>
              <a:off x="680" y="2900"/>
              <a:ext cx="4200" cy="1300"/>
            </a:xfrm>
            <a:prstGeom prst="roundRect">
              <a:avLst>
                <a:gd name="adj" fmla="val 6153"/>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7" name="AutoShape 7"/>
            <p:cNvSpPr/>
            <p:nvPr/>
          </p:nvSpPr>
          <p:spPr>
            <a:xfrm>
              <a:off x="820" y="3000"/>
              <a:ext cx="3900" cy="1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Heterogeneity-Adaptive</a:t>
              </a:r>
              <a:endParaRPr lang="en-US" sz="1200">
                <a:latin typeface="Times New Roman" panose="02020603050405020304" pitchFamily="18" charset="0"/>
                <a:cs typeface="Times New Roman" panose="02020603050405020304" pitchFamily="18" charset="0"/>
              </a:endParaRPr>
            </a:p>
            <a:p>
              <a:pPr indent="0" algn="l">
                <a:lnSpc>
                  <a:spcPct val="100000"/>
                </a:lnSpc>
              </a:pPr>
              <a:r>
                <a:rPr lang="en-US" sz="1200" b="0" i="0" u="none" strike="noStrike">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Automatically adjusts to cross-site support set differences without pre-specified levels.</a:t>
              </a:r>
              <a:endParaRPr lang="en-US" sz="1200" b="0" i="0" u="none" strike="noStrike">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p:txBody>
        </p:sp>
        <p:sp>
          <p:nvSpPr>
            <p:cNvPr id="8" name="AutoShape 8"/>
            <p:cNvSpPr/>
            <p:nvPr/>
          </p:nvSpPr>
          <p:spPr>
            <a:xfrm>
              <a:off x="680" y="4400"/>
              <a:ext cx="4200" cy="1300"/>
            </a:xfrm>
            <a:prstGeom prst="roundRect">
              <a:avLst>
                <a:gd name="adj" fmla="val 6153"/>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p>
          </p:txBody>
        </p:sp>
        <p:sp>
          <p:nvSpPr>
            <p:cNvPr id="9" name="AutoShape 9"/>
            <p:cNvSpPr/>
            <p:nvPr/>
          </p:nvSpPr>
          <p:spPr>
            <a:xfrm>
              <a:off x="820" y="4500"/>
              <a:ext cx="3900" cy="1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Robust to Misspecification</a:t>
              </a:r>
              <a:endParaRPr lang="en-US" sz="1200">
                <a:latin typeface="Times New Roman" panose="02020603050405020304" pitchFamily="18" charset="0"/>
                <a:cs typeface="Times New Roman" panose="02020603050405020304" pitchFamily="18" charset="0"/>
              </a:endParaRPr>
            </a:p>
            <a:p>
              <a:pPr indent="0" algn="l">
                <a:lnSpc>
                  <a:spcPct val="100000"/>
                </a:lnSpc>
              </a:pPr>
              <a:r>
                <a:rPr lang="en-US" sz="1200" b="0" i="0" u="none" strike="noStrike">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QMLE-based framework avoids strict exponential family distribution assumptions.</a:t>
              </a:r>
              <a:endParaRPr lang="en-US" sz="1200" b="0" i="0" u="none" strike="noStrike">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p:txBody>
        </p:sp>
        <p:sp>
          <p:nvSpPr>
            <p:cNvPr id="10" name="AutoShape 10"/>
            <p:cNvSpPr/>
            <p:nvPr/>
          </p:nvSpPr>
          <p:spPr>
            <a:xfrm>
              <a:off x="680" y="5900"/>
              <a:ext cx="4200" cy="1300"/>
            </a:xfrm>
            <a:prstGeom prst="roundRect">
              <a:avLst>
                <a:gd name="adj" fmla="val 6153"/>
              </a:avLst>
            </a:prstGeom>
            <a:solidFill>
              <a:srgbClr val="FFFFFF">
                <a:alpha val="100000"/>
              </a:srgbClr>
            </a:solidFill>
            <a:ln w="25400" cap="flat" cmpd="sng">
              <a:noFill/>
              <a:prstDash val="solid"/>
              <a:round/>
            </a:ln>
            <a:effectLst>
              <a:outerShdw blurRad="50800" dist="25400" dir="2700000" algn="tl" rotWithShape="0">
                <a:srgbClr val="000000">
                  <a:alpha val="5000"/>
                </a:srgbClr>
              </a:outerShdw>
            </a:effectLst>
          </p:spPr>
          <p:txBody>
            <a:bodyPr vert="horz" wrap="square" lIns="63500" tIns="63500" rIns="63500" bIns="63500" rtlCol="0" anchor="ctr"/>
            <a:lstStyle/>
            <a:p>
              <a:pPr algn="ctr">
                <a:defRPr/>
              </a:pPr>
            </a:p>
          </p:txBody>
        </p:sp>
      </p:grpSp>
      <p:sp>
        <p:nvSpPr>
          <p:cNvPr id="11" name="AutoShape 11"/>
          <p:cNvSpPr/>
          <p:nvPr/>
        </p:nvSpPr>
        <p:spPr>
          <a:xfrm>
            <a:off x="520700" y="3606800"/>
            <a:ext cx="2476500" cy="6985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Statistically Rigorous</a:t>
            </a:r>
            <a:endParaRPr lang="en-US" sz="1200">
              <a:latin typeface="Times New Roman" panose="02020603050405020304" pitchFamily="18" charset="0"/>
              <a:cs typeface="Times New Roman" panose="02020603050405020304" pitchFamily="18" charset="0"/>
            </a:endParaRPr>
          </a:p>
          <a:p>
            <a:pPr indent="0" algn="l">
              <a:lnSpc>
                <a:spcPct val="100000"/>
              </a:lnSpc>
            </a:pPr>
            <a:r>
              <a:rPr lang="en-US" sz="1200" b="0" i="0" u="none" strike="noStrike">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Strict large-sample FDR control with power approaching the centralized BHq standard</a:t>
            </a:r>
            <a:r>
              <a:rPr 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9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3429000" y="1206500"/>
            <a:ext cx="5461000" cy="1270000"/>
          </a:xfrm>
          <a:prstGeom prst="roundRect">
            <a:avLst>
              <a:gd name="adj" fmla="val 700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56000" y="1333500"/>
            <a:ext cx="304800" cy="304800"/>
          </a:xfrm>
          <a:prstGeom prst="rect">
            <a:avLst/>
          </a:prstGeom>
        </p:spPr>
      </p:pic>
      <p:sp>
        <p:nvSpPr>
          <p:cNvPr id="14" name="AutoShape 14"/>
          <p:cNvSpPr/>
          <p:nvPr/>
        </p:nvSpPr>
        <p:spPr>
          <a:xfrm>
            <a:off x="3937000" y="1333500"/>
            <a:ext cx="4826000" cy="1016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1E40AF"/>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Key Takeaway</a:t>
            </a:r>
            <a:endParaRPr lang="en-US" sz="1200">
              <a:latin typeface="Times New Roman" panose="02020603050405020304" pitchFamily="18" charset="0"/>
              <a:cs typeface="Times New Roman" panose="02020603050405020304" pitchFamily="18" charset="0"/>
            </a:endParaRPr>
          </a:p>
          <a:p>
            <a:pPr indent="0" algn="l">
              <a:lnSpc>
                <a:spcPct val="108000"/>
              </a:lnSpc>
            </a:pPr>
            <a:r>
              <a:rPr lang="en-US" sz="1200" b="0" i="0" u="none" strike="noStrike">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Fed-FDR provides a </a:t>
            </a:r>
            <a:r>
              <a:rPr lang="en-US" sz="1200" b="1" i="0" u="none" strike="noStrike">
                <a:solidFill>
                  <a:srgbClr val="2563EB"/>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privacy-safe, statistically reliable, and computationally efficient </a:t>
            </a:r>
            <a:r>
              <a:rPr lang="en-US" sz="1200" b="0" i="0" u="none" strike="noStrike">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unified feature selection framework for heterogeneous multi-center data, resolving the contradiction between "data silos" and rigorous inference.</a:t>
            </a:r>
            <a:endParaRPr lang="en-US" sz="1200" b="0" i="0" u="none" strike="noStrike">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p:txBody>
      </p:sp>
      <p:sp>
        <p:nvSpPr>
          <p:cNvPr id="15" name="AutoShape 15"/>
          <p:cNvSpPr/>
          <p:nvPr/>
        </p:nvSpPr>
        <p:spPr>
          <a:xfrm>
            <a:off x="3429000" y="2667000"/>
            <a:ext cx="2667000" cy="1714500"/>
          </a:xfrm>
          <a:prstGeom prst="roundRect">
            <a:avLst>
              <a:gd name="adj" fmla="val 5185"/>
            </a:avLst>
          </a:prstGeom>
          <a:solidFill>
            <a:srgbClr val="ECFDF5">
              <a:alpha val="100000"/>
            </a:srgbClr>
          </a:solidFill>
          <a:ln w="12700" cap="flat" cmpd="sng">
            <a:solidFill>
              <a:srgbClr val="A7F3D0">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56000" y="2794000"/>
            <a:ext cx="279400" cy="279400"/>
          </a:xfrm>
          <a:prstGeom prst="rect">
            <a:avLst/>
          </a:prstGeom>
        </p:spPr>
      </p:pic>
      <p:sp>
        <p:nvSpPr>
          <p:cNvPr id="17" name="AutoShape 17"/>
          <p:cNvSpPr/>
          <p:nvPr/>
        </p:nvSpPr>
        <p:spPr>
          <a:xfrm>
            <a:off x="3937000" y="2794000"/>
            <a:ext cx="2095500" cy="1397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065F46"/>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Future Work</a:t>
            </a:r>
            <a:endParaRPr lang="en-US" sz="1200">
              <a:latin typeface="Times New Roman" panose="02020603050405020304" pitchFamily="18" charset="0"/>
              <a:cs typeface="Times New Roman" panose="02020603050405020304" pitchFamily="18" charset="0"/>
            </a:endParaRPr>
          </a:p>
          <a:p>
            <a:pPr indent="0" algn="l">
              <a:lnSpc>
                <a:spcPct val="117000"/>
              </a:lnSpc>
            </a:pPr>
            <a:r>
              <a:rPr lang="en-US" sz="1200" b="0" i="0" u="none" strike="noStrike">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Extend to model free </a:t>
            </a:r>
            <a:r>
              <a:rPr lang="en-US" sz="1200" b="0" i="0" u="none" strike="noStrike">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scenario</a:t>
            </a:r>
            <a:endParaRPr lang="en-US" sz="1200" b="0" i="0" u="none" strike="noStrike">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a:p>
            <a:pPr indent="0" algn="l">
              <a:lnSpc>
                <a:spcPct val="117000"/>
              </a:lnSpc>
            </a:pPr>
            <a:r>
              <a:rPr lang="en-US" sz="1200" b="0" i="0" u="none" strike="noStrike">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Support nonlinear models </a:t>
            </a:r>
            <a:endParaRPr lang="en-US" sz="1200" b="0" i="0" u="none" strike="noStrike">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a:p>
            <a:pPr indent="0" algn="l">
              <a:lnSpc>
                <a:spcPct val="117000"/>
              </a:lnSpc>
            </a:pPr>
            <a:r>
              <a:rPr lang="en-US" sz="1200" b="0" i="0" u="none" strike="noStrike">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t>
            </a:r>
            <a:endParaRPr lang="en-US" sz="1200" b="0" i="0" u="none" strike="noStrike">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a:p>
            <a:pPr indent="0" algn="l">
              <a:lnSpc>
                <a:spcPct val="117000"/>
              </a:lnSpc>
            </a:pPr>
            <a:endParaRPr lang="en-US" sz="1200" b="0" i="0" u="none" strike="noStrike">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p:txBody>
      </p:sp>
      <p:sp>
        <p:nvSpPr>
          <p:cNvPr id="18" name="AutoShape 18"/>
          <p:cNvSpPr/>
          <p:nvPr/>
        </p:nvSpPr>
        <p:spPr>
          <a:xfrm>
            <a:off x="6223000" y="2667000"/>
            <a:ext cx="2667000" cy="1714500"/>
          </a:xfrm>
          <a:prstGeom prst="roundRect">
            <a:avLst>
              <a:gd name="adj" fmla="val 5185"/>
            </a:avLst>
          </a:prstGeom>
          <a:solidFill>
            <a:srgbClr val="FFFBEB">
              <a:alpha val="100000"/>
            </a:srgbClr>
          </a:solidFill>
          <a:ln w="12700" cap="flat" cmpd="sng">
            <a:solidFill>
              <a:srgbClr val="FDE68A">
                <a:alpha val="10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50000" y="2794000"/>
            <a:ext cx="279400" cy="279400"/>
          </a:xfrm>
          <a:prstGeom prst="rect">
            <a:avLst/>
          </a:prstGeom>
        </p:spPr>
      </p:pic>
      <p:sp>
        <p:nvSpPr>
          <p:cNvPr id="20" name="AutoShape 20"/>
          <p:cNvSpPr/>
          <p:nvPr/>
        </p:nvSpPr>
        <p:spPr>
          <a:xfrm>
            <a:off x="6731000" y="2794000"/>
            <a:ext cx="2095500" cy="1397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92400E"/>
                </a:solidFill>
                <a:latin typeface="Noto Sans SC" panose="020B0200000000000000" charset="-122"/>
                <a:ea typeface="Noto Sans SC" panose="020B0200000000000000" charset="-122"/>
                <a:cs typeface="Noto Sans SC" panose="020B0200000000000000" charset="-122"/>
                <a:sym typeface="Noto Sans SC" panose="020B0200000000000000" charset="-122"/>
              </a:rPr>
              <a:t>Application Areas</a:t>
            </a:r>
            <a:endParaRPr lang="en-US" sz="1100"/>
          </a:p>
          <a:p>
            <a:pPr indent="0" algn="l">
              <a:lnSpc>
                <a:spcPct val="117000"/>
              </a:lnSpc>
            </a:pPr>
            <a:r>
              <a:rPr lang="en-US" sz="10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Multi-center medical research</a:t>
            </a:r>
            <a:br>
              <a:rPr lang="en-US" sz="10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0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Biomarker discovery</a:t>
            </a:r>
            <a:br>
              <a:rPr lang="en-US" sz="10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0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Financial risk control</a:t>
            </a:r>
            <a:br>
              <a:rPr lang="en-US" sz="10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0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Cross-institutional data collaboration</a:t>
            </a:r>
            <a:endParaRPr lang="en-US" sz="10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nvSpPr>
        <p:spPr>
          <a:xfrm>
            <a:off x="214630" y="4572000"/>
            <a:ext cx="8766810" cy="495300"/>
          </a:xfrm>
          <a:prstGeom prst="roundRect">
            <a:avLst>
              <a:gd name="adj" fmla="val 11666"/>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302895" y="4531360"/>
            <a:ext cx="8503920" cy="47244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Fed-FDR bridges the gap between data privacy protection and the need for statistically sound inference in high-dimensional collaborative research.</a:t>
            </a:r>
            <a:endParaRPr lang="en-US" sz="1100">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9144000" cy="5143500"/>
          </a:xfrm>
          <a:prstGeom prst="rect">
            <a:avLst/>
          </a:prstGeom>
          <a:noFill/>
          <a:ln w="25400" cap="flat" cmpd="sng">
            <a:noFill/>
            <a:prstDash val="solid"/>
            <a:round/>
          </a:ln>
        </p:spPr>
      </p:pic>
      <p:sp>
        <p:nvSpPr>
          <p:cNvPr id="3" name="AutoShape 3"/>
          <p:cNvSpPr/>
          <p:nvPr/>
        </p:nvSpPr>
        <p:spPr>
          <a:xfrm>
            <a:off x="0" y="1651000"/>
            <a:ext cx="9144000" cy="1778000"/>
          </a:xfrm>
          <a:prstGeom prst="rect">
            <a:avLst/>
          </a:prstGeom>
          <a:noFill/>
          <a:ln w="9525" cap="flat" cmpd="sng">
            <a:noFill/>
            <a:prstDash val="solid"/>
            <a:round/>
          </a:ln>
        </p:spPr>
        <p:txBody>
          <a:bodyPr vert="horz" wrap="square" lIns="0" tIns="0" rIns="0" bIns="0" rtlCol="0" anchor="ctr" anchorCtr="0"/>
          <a:lstStyle/>
          <a:p>
            <a:pPr indent="0" algn="ctr">
              <a:lnSpc>
                <a:spcPct val="125000"/>
              </a:lnSpc>
              <a:defRPr/>
            </a:pPr>
            <a:r>
              <a:rPr lang="en-US" sz="7200" b="1" i="0" u="none" strike="noStrike">
                <a:solidFill>
                  <a:srgbClr val="0F172A"/>
                </a:solidFill>
                <a:latin typeface="微软雅黑" panose="020B0503020204020204" charset="-122"/>
                <a:ea typeface="微软雅黑" panose="020B0503020204020204" charset="-122"/>
                <a:cs typeface="微软雅黑" panose="020B0503020204020204" charset="-122"/>
                <a:sym typeface="微软雅黑" panose="020B0503020204020204" charset="-122"/>
              </a:rPr>
              <a:t>THANKS</a:t>
            </a:r>
            <a:endParaRPr lang="en-US" sz="1100"/>
          </a:p>
        </p:txBody>
      </p:sp>
      <p:sp>
        <p:nvSpPr>
          <p:cNvPr id="4" name="AutoShape 4"/>
          <p:cNvSpPr/>
          <p:nvPr/>
        </p:nvSpPr>
        <p:spPr>
          <a:xfrm>
            <a:off x="0" y="3683000"/>
            <a:ext cx="9144000" cy="1016000"/>
          </a:xfrm>
          <a:prstGeom prst="rect">
            <a:avLst/>
          </a:prstGeom>
          <a:noFill/>
          <a:ln w="9525" cap="flat" cmpd="sng">
            <a:noFill/>
            <a:prstDash val="solid"/>
            <a:round/>
          </a:ln>
        </p:spPr>
        <p:txBody>
          <a:bodyPr vert="horz" wrap="square" lIns="0" tIns="0" rIns="0" bIns="0" rtlCol="0" anchor="ctr" anchorCtr="0"/>
          <a:lstStyle/>
          <a:p>
            <a:pPr indent="0" algn="ctr">
              <a:lnSpc>
                <a:spcPct val="117000"/>
              </a:lnSpc>
              <a:defRPr/>
            </a:pPr>
            <a:r>
              <a:rPr lang="en-US" sz="20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感谢您的聆听 | 欢迎提问</a:t>
            </a:r>
            <a:endParaRPr lang="en-US" sz="1100"/>
          </a:p>
        </p:txBody>
      </p:sp>
      <p:pic>
        <p:nvPicPr>
          <p:cNvPr id="5" name="Picture 5"/>
          <p:cNvPicPr>
            <a:picLocks noChangeAspect="1"/>
          </p:cNvPicPr>
          <p:nvPr/>
        </p:nvPicPr>
        <p:blipFill>
          <a:blip r:embed="rId2"/>
          <a:stretch>
            <a:fillRect/>
          </a:stretch>
        </p:blipFill>
        <p:spPr>
          <a:xfrm>
            <a:off x="8001000" y="4642584"/>
            <a:ext cx="1143000" cy="500916"/>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9276" r="9276"/>
          <a:stretch>
            <a:fillRect/>
          </a:stretch>
        </p:blipFill>
        <p:spPr>
          <a:xfrm>
            <a:off x="0" y="0"/>
            <a:ext cx="9144000" cy="1028700"/>
          </a:xfrm>
          <a:prstGeom prst="rect">
            <a:avLst/>
          </a:prstGeom>
          <a:noFill/>
          <a:ln w="25400" cap="flat" cmpd="sng">
            <a:noFill/>
            <a:prstDash val="solid"/>
            <a:round/>
          </a:ln>
        </p:spPr>
      </p:pic>
      <p:sp>
        <p:nvSpPr>
          <p:cNvPr id="3" name="AutoShape 3"/>
          <p:cNvSpPr/>
          <p:nvPr/>
        </p:nvSpPr>
        <p:spPr>
          <a:xfrm>
            <a:off x="292100" y="1143000"/>
            <a:ext cx="2667000" cy="1435100"/>
          </a:xfrm>
          <a:prstGeom prst="roundRect">
            <a:avLst>
              <a:gd name="adj" fmla="val 6194"/>
            </a:avLst>
          </a:prstGeom>
          <a:solidFill>
            <a:srgbClr val="FFFFFF">
              <a:alpha val="100000"/>
            </a:srgbClr>
          </a:solidFill>
          <a:ln w="25400" cap="flat" cmpd="sng">
            <a:noFill/>
            <a:prstDash val="solid"/>
            <a:round/>
          </a:ln>
          <a:effectLst>
            <a:outerShdw blurRad="1016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4" name="AutoShape 4"/>
          <p:cNvSpPr/>
          <p:nvPr/>
        </p:nvSpPr>
        <p:spPr>
          <a:xfrm>
            <a:off x="381000" y="1244600"/>
            <a:ext cx="2476500" cy="2413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CC0000"/>
                </a:solidFill>
                <a:latin typeface="等线" panose="02010600030101010101" charset="-122"/>
                <a:ea typeface="等线" panose="02010600030101010101" charset="-122"/>
                <a:cs typeface="等线" panose="02010600030101010101" charset="-122"/>
                <a:sym typeface="等线" panose="02010600030101010101" charset="-122"/>
              </a:rPr>
              <a:t>Solving the Legitimacy Problem</a:t>
            </a:r>
            <a:endParaRPr lang="en-US" sz="1100"/>
          </a:p>
        </p:txBody>
      </p:sp>
      <p:sp>
        <p:nvSpPr>
          <p:cNvPr id="5" name="AutoShape 5"/>
          <p:cNvSpPr/>
          <p:nvPr/>
        </p:nvSpPr>
        <p:spPr>
          <a:xfrm>
            <a:off x="381000" y="1524000"/>
            <a:ext cx="2476500" cy="9525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92000"/>
              </a:lnSpc>
              <a:defRPr/>
            </a:pPr>
            <a:r>
              <a:rPr lang="en-US" sz="900" b="1" i="0" u="none" strike="noStrike">
                <a:solidFill>
                  <a:srgbClr val="333333"/>
                </a:solidFill>
                <a:latin typeface="等线" panose="02010600030101010101" charset="-122"/>
                <a:ea typeface="等线" panose="02010600030101010101" charset="-122"/>
                <a:cs typeface="等线" panose="02010600030101010101" charset="-122"/>
                <a:sym typeface="等线" panose="02010600030101010101" charset="-122"/>
              </a:rPr>
              <a:t>Problem:</a:t>
            </a:r>
            <a:r>
              <a:rPr lang="en-US" sz="900" b="0" i="0" u="none" strike="noStrike">
                <a:solidFill>
                  <a:srgbClr val="525252"/>
                </a:solidFill>
                <a:latin typeface="等线" panose="02010600030101010101" charset="-122"/>
                <a:ea typeface="等线" panose="02010600030101010101" charset="-122"/>
                <a:cs typeface="等线" panose="02010600030101010101" charset="-122"/>
                <a:sym typeface="等线" panose="02010600030101010101" charset="-122"/>
              </a:rPr>
              <a:t>Feature selection + inference within one site leads to severe selection bias, breaking symmetry and inflating FDR.</a:t>
            </a:r>
            <a:endParaRPr lang="en-US" sz="1100"/>
          </a:p>
          <a:p>
            <a:pPr indent="0" algn="l">
              <a:lnSpc>
                <a:spcPct val="92000"/>
              </a:lnSpc>
              <a:spcBef>
                <a:spcPts val="200"/>
              </a:spcBef>
            </a:pPr>
            <a:r>
              <a:rPr lang="en-US" sz="900" b="1" i="0" u="none" strike="noStrike">
                <a:solidFill>
                  <a:srgbClr val="333333"/>
                </a:solidFill>
                <a:latin typeface="等线" panose="02010600030101010101" charset="-122"/>
                <a:ea typeface="等线" panose="02010600030101010101" charset="-122"/>
                <a:cs typeface="等线" panose="02010600030101010101" charset="-122"/>
                <a:sym typeface="等线" panose="02010600030101010101" charset="-122"/>
              </a:rPr>
              <a:t>Solution:</a:t>
            </a:r>
            <a:r>
              <a:rPr lang="en-US" sz="900" b="0" i="0" u="none" strike="noStrike">
                <a:solidFill>
                  <a:srgbClr val="525252"/>
                </a:solidFill>
                <a:latin typeface="等线" panose="02010600030101010101" charset="-122"/>
                <a:ea typeface="等线" panose="02010600030101010101" charset="-122"/>
                <a:cs typeface="等线" panose="02010600030101010101" charset="-122"/>
                <a:sym typeface="等线" panose="02010600030101010101" charset="-122"/>
              </a:rPr>
              <a:t>Use the union of features from</a:t>
            </a:r>
            <a:r>
              <a:rPr lang="en-US" sz="900" b="1" i="0" u="none" strike="noStrike">
                <a:solidFill>
                  <a:srgbClr val="525252"/>
                </a:solidFill>
                <a:latin typeface="等线" panose="02010600030101010101" charset="-122"/>
                <a:ea typeface="等线" panose="02010600030101010101" charset="-122"/>
                <a:cs typeface="等线" panose="02010600030101010101" charset="-122"/>
                <a:sym typeface="等线" panose="02010600030101010101" charset="-122"/>
              </a:rPr>
              <a:t>other independent sites</a:t>
            </a:r>
            <a:r>
              <a:rPr lang="en-US" sz="900" b="0" i="0" u="none" strike="noStrike">
                <a:solidFill>
                  <a:srgbClr val="525252"/>
                </a:solidFill>
                <a:latin typeface="等线" panose="02010600030101010101" charset="-122"/>
                <a:ea typeface="等线" panose="02010600030101010101" charset="-122"/>
                <a:cs typeface="等线" panose="02010600030101010101" charset="-122"/>
                <a:sym typeface="等线" panose="02010600030101010101" charset="-122"/>
              </a:rPr>
              <a:t>for inference, achieving full independence.</a:t>
            </a:r>
            <a:endParaRPr lang="en-US" sz="900" b="0" i="0" u="none" strike="noStrike">
              <a:solidFill>
                <a:srgbClr val="525252"/>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AutoShape 6"/>
          <p:cNvSpPr/>
          <p:nvPr/>
        </p:nvSpPr>
        <p:spPr>
          <a:xfrm>
            <a:off x="3238500" y="1143000"/>
            <a:ext cx="2667000" cy="1435100"/>
          </a:xfrm>
          <a:prstGeom prst="roundRect">
            <a:avLst>
              <a:gd name="adj" fmla="val 6194"/>
            </a:avLst>
          </a:prstGeom>
          <a:solidFill>
            <a:srgbClr val="FFFFFF">
              <a:alpha val="100000"/>
            </a:srgbClr>
          </a:solidFill>
          <a:ln w="25400" cap="flat" cmpd="sng">
            <a:noFill/>
            <a:prstDash val="solid"/>
            <a:round/>
          </a:ln>
          <a:effectLst>
            <a:outerShdw blurRad="1016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7" name="AutoShape 7"/>
          <p:cNvSpPr/>
          <p:nvPr/>
        </p:nvSpPr>
        <p:spPr>
          <a:xfrm>
            <a:off x="3340100" y="1244600"/>
            <a:ext cx="2476500" cy="2413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Reducing Computational Complexity</a:t>
            </a:r>
            <a:endParaRPr lang="en-US" sz="1100"/>
          </a:p>
        </p:txBody>
      </p:sp>
      <p:sp>
        <p:nvSpPr>
          <p:cNvPr id="8" name="AutoShape 8"/>
          <p:cNvSpPr/>
          <p:nvPr/>
        </p:nvSpPr>
        <p:spPr>
          <a:xfrm>
            <a:off x="3340100" y="1524000"/>
            <a:ext cx="2476500" cy="9525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92000"/>
              </a:lnSpc>
              <a:defRPr/>
            </a:pPr>
            <a:r>
              <a:rPr lang="en-US" sz="900" b="1" i="0" u="none" strike="noStrike">
                <a:solidFill>
                  <a:srgbClr val="333333"/>
                </a:solidFill>
                <a:latin typeface="等线" panose="02010600030101010101" charset="-122"/>
                <a:ea typeface="等线" panose="02010600030101010101" charset="-122"/>
                <a:cs typeface="等线" panose="02010600030101010101" charset="-122"/>
                <a:sym typeface="等线" panose="02010600030101010101" charset="-122"/>
              </a:rPr>
              <a:t>Problem:</a:t>
            </a:r>
            <a:r>
              <a:rPr lang="en-US" sz="900" b="0" i="0" u="none" strike="noStrike">
                <a:solidFill>
                  <a:srgbClr val="525252"/>
                </a:solidFill>
                <a:latin typeface="等线" panose="02010600030101010101" charset="-122"/>
                <a:ea typeface="等线" panose="02010600030101010101" charset="-122"/>
                <a:cs typeface="等线" panose="02010600030101010101" charset="-122"/>
                <a:sym typeface="等线" panose="02010600030101010101" charset="-122"/>
              </a:rPr>
              <a:t>Traditional methods require p node-wise regressions, causing an explosion in computational load.</a:t>
            </a:r>
            <a:endParaRPr lang="en-US" sz="1100"/>
          </a:p>
          <a:p>
            <a:pPr indent="0" algn="l">
              <a:lnSpc>
                <a:spcPct val="92000"/>
              </a:lnSpc>
              <a:spcBef>
                <a:spcPts val="200"/>
              </a:spcBef>
            </a:pPr>
            <a:r>
              <a:rPr lang="en-US" sz="900" b="1" i="0" u="none" strike="noStrike">
                <a:solidFill>
                  <a:srgbClr val="333333"/>
                </a:solidFill>
                <a:latin typeface="等线" panose="02010600030101010101" charset="-122"/>
                <a:ea typeface="等线" panose="02010600030101010101" charset="-122"/>
                <a:cs typeface="等线" panose="02010600030101010101" charset="-122"/>
                <a:sym typeface="等线" panose="02010600030101010101" charset="-122"/>
              </a:rPr>
              <a:t>Solution:</a:t>
            </a:r>
            <a:r>
              <a:rPr lang="en-US" sz="900" b="0" i="0" u="none" strike="noStrike">
                <a:solidFill>
                  <a:srgbClr val="525252"/>
                </a:solidFill>
                <a:latin typeface="等线" panose="02010600030101010101" charset="-122"/>
                <a:ea typeface="等线" panose="02010600030101010101" charset="-122"/>
                <a:cs typeface="等线" panose="02010600030101010101" charset="-122"/>
                <a:sym typeface="等线" panose="02010600030101010101" charset="-122"/>
              </a:rPr>
              <a:t>Low-dimensional matrices are full-rank and invertible, reducing cost from O(p²) to O(p₁²).</a:t>
            </a:r>
            <a:endParaRPr lang="en-US" sz="900" b="0" i="0" u="none" strike="noStrike">
              <a:solidFill>
                <a:srgbClr val="525252"/>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9" name="AutoShape 9"/>
          <p:cNvSpPr/>
          <p:nvPr/>
        </p:nvSpPr>
        <p:spPr>
          <a:xfrm>
            <a:off x="6197600" y="1143000"/>
            <a:ext cx="2667000" cy="1435100"/>
          </a:xfrm>
          <a:prstGeom prst="roundRect">
            <a:avLst>
              <a:gd name="adj" fmla="val 6194"/>
            </a:avLst>
          </a:prstGeom>
          <a:solidFill>
            <a:srgbClr val="FFFFFF">
              <a:alpha val="100000"/>
            </a:srgbClr>
          </a:solidFill>
          <a:ln w="25400" cap="flat" cmpd="sng">
            <a:noFill/>
            <a:prstDash val="solid"/>
            <a:round/>
          </a:ln>
          <a:effectLst>
            <a:outerShdw blurRad="1016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10" name="AutoShape 10"/>
          <p:cNvSpPr/>
          <p:nvPr/>
        </p:nvSpPr>
        <p:spPr>
          <a:xfrm>
            <a:off x="6286500" y="1244600"/>
            <a:ext cx="2476500" cy="2413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Reducing Communication Costs</a:t>
            </a:r>
            <a:endParaRPr lang="en-US" sz="1100"/>
          </a:p>
        </p:txBody>
      </p:sp>
      <p:sp>
        <p:nvSpPr>
          <p:cNvPr id="11" name="AutoShape 11"/>
          <p:cNvSpPr/>
          <p:nvPr/>
        </p:nvSpPr>
        <p:spPr>
          <a:xfrm>
            <a:off x="6286500" y="1524000"/>
            <a:ext cx="2476500" cy="9525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92000"/>
              </a:lnSpc>
              <a:defRPr/>
            </a:pPr>
            <a:r>
              <a:rPr lang="en-US" sz="900" b="1" i="0" u="none" strike="noStrike">
                <a:solidFill>
                  <a:srgbClr val="333333"/>
                </a:solidFill>
                <a:latin typeface="等线" panose="02010600030101010101" charset="-122"/>
                <a:ea typeface="等线" panose="02010600030101010101" charset="-122"/>
                <a:cs typeface="等线" panose="02010600030101010101" charset="-122"/>
                <a:sym typeface="等线" panose="02010600030101010101" charset="-122"/>
              </a:rPr>
              <a:t>Problem:</a:t>
            </a:r>
            <a:r>
              <a:rPr lang="en-US" sz="900" b="0" i="0" u="none" strike="noStrike">
                <a:solidFill>
                  <a:srgbClr val="525252"/>
                </a:solidFill>
                <a:latin typeface="等线" panose="02010600030101010101" charset="-122"/>
                <a:ea typeface="等线" panose="02010600030101010101" charset="-122"/>
                <a:cs typeface="等线" panose="02010600030101010101" charset="-122"/>
                <a:sym typeface="等线" panose="02010600030101010101" charset="-122"/>
              </a:rPr>
              <a:t>Debiased estimators are non-sparse, requiring transmission of the full p-dimensional vector.</a:t>
            </a:r>
            <a:endParaRPr lang="en-US" sz="1100"/>
          </a:p>
          <a:p>
            <a:pPr indent="0" algn="l">
              <a:lnSpc>
                <a:spcPct val="92000"/>
              </a:lnSpc>
              <a:spcBef>
                <a:spcPts val="200"/>
              </a:spcBef>
            </a:pPr>
            <a:r>
              <a:rPr lang="en-US" sz="900" b="1" i="0" u="none" strike="noStrike">
                <a:solidFill>
                  <a:srgbClr val="333333"/>
                </a:solidFill>
                <a:latin typeface="等线" panose="02010600030101010101" charset="-122"/>
                <a:ea typeface="等线" panose="02010600030101010101" charset="-122"/>
                <a:cs typeface="等线" panose="02010600030101010101" charset="-122"/>
                <a:sym typeface="等线" panose="02010600030101010101" charset="-122"/>
              </a:rPr>
              <a:t>Solution:</a:t>
            </a:r>
            <a:r>
              <a:rPr lang="en-US" sz="900" b="0" i="0" u="none" strike="noStrike">
                <a:solidFill>
                  <a:srgbClr val="525252"/>
                </a:solidFill>
                <a:latin typeface="等线" panose="02010600030101010101" charset="-122"/>
                <a:ea typeface="等线" panose="02010600030101010101" charset="-122"/>
                <a:cs typeface="等线" panose="02010600030101010101" charset="-122"/>
                <a:sym typeface="等线" panose="02010600030101010101" charset="-122"/>
              </a:rPr>
              <a:t>Transmit only feature indices and low-dimensional coefficients, lowering cost to O(Kp₁).</a:t>
            </a:r>
            <a:endParaRPr lang="en-US" sz="900" b="0" i="0" u="none" strike="noStrike">
              <a:solidFill>
                <a:srgbClr val="525252"/>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12" name="AutoShape 12"/>
          <p:cNvSpPr/>
          <p:nvPr/>
        </p:nvSpPr>
        <p:spPr>
          <a:xfrm>
            <a:off x="381000" y="2578100"/>
            <a:ext cx="8572500" cy="2527300"/>
          </a:xfrm>
          <a:prstGeom prst="roundRect">
            <a:avLst>
              <a:gd name="adj" fmla="val 6030"/>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864100" y="3149600"/>
            <a:ext cx="3911600" cy="10541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508000" y="25400"/>
            <a:ext cx="8001000" cy="8001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ts val="3150"/>
              </a:lnSpc>
              <a:defRPr/>
            </a:pPr>
            <a:r>
              <a:rPr lang="en-US" sz="2300" b="1" i="0" u="none" strike="noStrike" dirty="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The Swap Strategy</a:t>
            </a:r>
            <a:endParaRPr lang="en-US" sz="1100" dirty="0"/>
          </a:p>
        </p:txBody>
      </p:sp>
      <p:graphicFrame>
        <p:nvGraphicFramePr>
          <p:cNvPr id="15" name="Table 15"/>
          <p:cNvGraphicFramePr>
            <a:graphicFrameLocks noGrp="1"/>
          </p:cNvGraphicFramePr>
          <p:nvPr/>
        </p:nvGraphicFramePr>
        <p:xfrm>
          <a:off x="596900" y="2667000"/>
          <a:ext cx="8305800" cy="2355994"/>
        </p:xfrm>
        <a:graphic>
          <a:graphicData uri="http://schemas.openxmlformats.org/drawingml/2006/table">
            <a:tbl>
              <a:tblPr>
                <a:effectLst/>
              </a:tblPr>
              <a:tblGrid>
                <a:gridCol w="787400"/>
                <a:gridCol w="3492500"/>
                <a:gridCol w="4025900"/>
              </a:tblGrid>
              <a:tr h="0">
                <a:tc gridSpan="2">
                  <a:txBody>
                    <a:bodyPr/>
                    <a:lstStyle/>
                    <a:p>
                      <a:pPr indent="0" algn="ctr">
                        <a:lnSpc>
                          <a:spcPct val="100000"/>
                        </a:lnSpc>
                        <a:defRPr/>
                      </a:pPr>
                      <a:r>
                        <a:rPr lang="en-US" sz="9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Key Concept</a:t>
                      </a:r>
                      <a:endParaRPr lang="en-US" sz="1100" dirty="0"/>
                    </a:p>
                  </a:txBody>
                  <a:tcPr marL="2921" marR="2921" marT="2921" marB="2921">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noFill/>
                  </a:tcPr>
                </a:tc>
                <a:tc hMerge="1">
                  <a:tcPr marL="101600" marR="101600" marT="101600" marB="10160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noFill/>
                  </a:tcPr>
                </a:tc>
                <a:tc>
                  <a:txBody>
                    <a:bodyPr/>
                    <a:lstStyle/>
                    <a:p>
                      <a:pPr indent="0" algn="ctr">
                        <a:lnSpc>
                          <a:spcPct val="100000"/>
                        </a:lnSpc>
                        <a:defRPr/>
                      </a:pPr>
                      <a:r>
                        <a:rPr lang="en-US" sz="900" b="1"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Significance &amp; Value</a:t>
                      </a:r>
                      <a:endParaRPr lang="en-US" sz="1100" dirty="0"/>
                    </a:p>
                  </a:txBody>
                  <a:tcPr marL="2921" marR="2921" marT="2921" marB="2921">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noFill/>
                  </a:tcPr>
                </a:tc>
              </a:tr>
              <a:tr h="1019192">
                <a:tc>
                  <a:txBody>
                    <a:bodyPr/>
                    <a:lstStyle/>
                    <a:p>
                      <a:pPr indent="0" algn="ctr">
                        <a:lnSpc>
                          <a:spcPct val="100000"/>
                        </a:lnSpc>
                        <a:defRPr/>
                      </a:pPr>
                      <a:r>
                        <a:rPr lang="en-US" sz="900" b="1" i="0" u="none" strike="noStrike" dirty="0">
                          <a:solidFill>
                            <a:srgbClr val="CC0000"/>
                          </a:solidFill>
                          <a:latin typeface="Calibri" panose="020F0502020204030204"/>
                          <a:ea typeface="Calibri" panose="020F0502020204030204"/>
                          <a:cs typeface="Calibri" panose="020F0502020204030204"/>
                          <a:sym typeface="Calibri" panose="020F0502020204030204"/>
                        </a:rPr>
                        <a:t>proposition2</a:t>
                      </a:r>
                      <a:endParaRPr lang="en-US" sz="1100" dirty="0"/>
                    </a:p>
                  </a:txBody>
                  <a:tcPr marL="2921" marR="2921" marT="2921" marB="2921"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noFill/>
                  </a:tcPr>
                </a:tc>
                <a:tc>
                  <a:txBody>
                    <a:bodyPr/>
                    <a:lstStyle/>
                    <a:p>
                      <a:pPr indent="0" algn="ctr">
                        <a:lnSpc>
                          <a:spcPct val="100000"/>
                        </a:lnSpc>
                        <a:defRPr/>
                      </a:pPr>
                      <a:endParaRPr lang="en-US" sz="800" b="0" i="0" u="none" strike="noStrike" dirty="0">
                        <a:solidFill>
                          <a:srgbClr val="525252"/>
                        </a:solidFill>
                        <a:latin typeface="等线" panose="02010600030101010101" charset="-122"/>
                        <a:ea typeface="等线" panose="02010600030101010101" charset="-122"/>
                        <a:cs typeface="等线" panose="02010600030101010101" charset="-122"/>
                        <a:sym typeface="等线" panose="02010600030101010101" charset="-122"/>
                      </a:endParaRPr>
                    </a:p>
                  </a:txBody>
                  <a:tcPr marL="2921" marR="2921" marT="2921" marB="2921">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noFill/>
                  </a:tcPr>
                </a:tc>
                <a:tc>
                  <a:txBody>
                    <a:bodyPr/>
                    <a:lstStyle/>
                    <a:p>
                      <a:pPr indent="0" algn="l">
                        <a:lnSpc>
                          <a:spcPct val="100000"/>
                        </a:lnSpc>
                        <a:defRPr/>
                      </a:pPr>
                      <a:r>
                        <a:rPr lang="en-US" sz="9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This separation fundamentally solves the selection bias problem and restores the validity of FDR control by preserving the statistical symmetry.</a:t>
                      </a:r>
                      <a:endParaRPr lang="en-US" sz="1100" dirty="0"/>
                    </a:p>
                  </a:txBody>
                  <a:tcPr marL="2921" marR="2921" marT="2921" marB="2921">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noFill/>
                  </a:tcPr>
                </a:tc>
              </a:tr>
              <a:tr h="1193800">
                <a:tc>
                  <a:txBody>
                    <a:bodyPr/>
                    <a:lstStyle/>
                    <a:p>
                      <a:pPr indent="0" algn="ctr">
                        <a:lnSpc>
                          <a:spcPct val="100000"/>
                        </a:lnSpc>
                        <a:defRPr/>
                      </a:pPr>
                      <a:r>
                        <a:rPr lang="en-US" sz="900" b="1" i="0" u="none" strike="noStrike" dirty="0">
                          <a:solidFill>
                            <a:srgbClr val="3B82F6"/>
                          </a:solidFill>
                          <a:latin typeface="Calibri" panose="020F0502020204030204"/>
                          <a:ea typeface="Calibri" panose="020F0502020204030204"/>
                          <a:cs typeface="Calibri" panose="020F0502020204030204"/>
                          <a:sym typeface="Calibri" panose="020F0502020204030204"/>
                        </a:rPr>
                        <a:t>proposition3</a:t>
                      </a:r>
                      <a:endParaRPr lang="en-US" sz="1100" dirty="0"/>
                    </a:p>
                  </a:txBody>
                  <a:tcPr marL="2921" marR="2921" marT="2921" marB="2921"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noFill/>
                  </a:tcPr>
                </a:tc>
                <a:tc>
                  <a:txBody>
                    <a:bodyPr/>
                    <a:lstStyle/>
                    <a:p>
                      <a:pPr indent="0" algn="ctr">
                        <a:lnSpc>
                          <a:spcPct val="100000"/>
                        </a:lnSpc>
                        <a:defRPr/>
                      </a:pPr>
                      <a:endParaRPr lang="en-US" sz="800" b="0" i="0" u="none" strike="noStrike" dirty="0">
                        <a:solidFill>
                          <a:srgbClr val="525252"/>
                        </a:solidFill>
                        <a:latin typeface="等线" panose="02010600030101010101" charset="-122"/>
                        <a:ea typeface="等线" panose="02010600030101010101" charset="-122"/>
                        <a:cs typeface="等线" panose="02010600030101010101" charset="-122"/>
                        <a:sym typeface="等线" panose="02010600030101010101" charset="-122"/>
                      </a:endParaRPr>
                    </a:p>
                  </a:txBody>
                  <a:tcPr marL="2921" marR="2921" marT="2921" marB="2921">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noFill/>
                  </a:tcPr>
                </a:tc>
                <a:tc>
                  <a:txBody>
                    <a:bodyPr/>
                    <a:lstStyle/>
                    <a:p>
                      <a:pPr indent="0" algn="l">
                        <a:lnSpc>
                          <a:spcPct val="100000"/>
                        </a:lnSpc>
                        <a:defRPr/>
                      </a:pPr>
                      <a:r>
                        <a:rPr lang="en-US" sz="9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Enables practical application on high-dimensional data by avoiding node-wise regression. The lightweight communication protocol (sending indices only) makes it suitable for real-world distributed systems.</a:t>
                      </a:r>
                      <a:endParaRPr lang="en-US" sz="1100" dirty="0"/>
                    </a:p>
                  </a:txBody>
                  <a:tcPr marL="2921" marR="2921" marT="2921" marB="2921">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noFill/>
                  </a:tcPr>
                </a:tc>
              </a:tr>
            </a:tbl>
          </a:graphicData>
        </a:graphic>
      </p:graphicFrame>
      <p:pic>
        <p:nvPicPr>
          <p:cNvPr id="16" name="Picture 16"/>
          <p:cNvPicPr>
            <a:picLocks noChangeAspect="1"/>
          </p:cNvPicPr>
          <p:nvPr/>
        </p:nvPicPr>
        <p:blipFill>
          <a:blip r:embed="rId2"/>
          <a:srcRect/>
          <a:stretch>
            <a:fillRect/>
          </a:stretch>
        </p:blipFill>
        <p:spPr>
          <a:xfrm>
            <a:off x="1409700" y="2870200"/>
            <a:ext cx="3441700" cy="914400"/>
          </a:xfrm>
          <a:prstGeom prst="rect">
            <a:avLst/>
          </a:prstGeom>
          <a:noFill/>
          <a:ln w="25400" cap="flat" cmpd="sng">
            <a:noFill/>
            <a:prstDash val="solid"/>
            <a:round/>
          </a:ln>
        </p:spPr>
      </p:pic>
      <p:pic>
        <p:nvPicPr>
          <p:cNvPr id="17" name="Picture 17"/>
          <p:cNvPicPr>
            <a:picLocks noChangeAspect="1"/>
          </p:cNvPicPr>
          <p:nvPr/>
        </p:nvPicPr>
        <p:blipFill>
          <a:blip r:embed="rId3"/>
          <a:srcRect/>
          <a:stretch>
            <a:fillRect/>
          </a:stretch>
        </p:blipFill>
        <p:spPr>
          <a:xfrm>
            <a:off x="1390650" y="3875672"/>
            <a:ext cx="3429000" cy="1181100"/>
          </a:xfrm>
          <a:prstGeom prst="rect">
            <a:avLst/>
          </a:prstGeom>
          <a:noFill/>
          <a:ln w="25400" cap="flat" cmpd="sng">
            <a:noFill/>
            <a:prstDash val="solid"/>
            <a:round/>
          </a:ln>
        </p:spPr>
      </p:pic>
    </p:spTree>
  </p:cSld>
  <p:clrMapOvr>
    <a:masterClrMapping/>
  </p:clrMapOvr>
</p:sld>
</file>

<file path=ppt/tags/tag1.xml><?xml version="1.0" encoding="utf-8"?>
<p:tagLst xmlns:p="http://schemas.openxmlformats.org/presentationml/2006/main">
  <p:tag name="KSO_WM_DIAGRAM_VIRTUALLY_FRAME" val="{&quot;height&quot;:255,&quot;left&quot;:23,&quot;top&quot;:83,&quot;width&quot;:646}"/>
</p:tagLst>
</file>

<file path=ppt/tags/tag2.xml><?xml version="1.0" encoding="utf-8"?>
<p:tagLst xmlns:p="http://schemas.openxmlformats.org/presentationml/2006/main">
  <p:tag name="KSO_WM_DIAGRAM_VIRTUALLY_FRAME" val="{&quot;height&quot;:255,&quot;left&quot;:23,&quot;top&quot;:83,&quot;width&quot;:646}"/>
</p:tagLst>
</file>

<file path=ppt/tags/tag3.xml><?xml version="1.0" encoding="utf-8"?>
<p:tagLst xmlns:p="http://schemas.openxmlformats.org/presentationml/2006/main">
  <p:tag name="KSO_WM_DIAGRAM_VIRTUALLY_FRAME" val="{&quot;height&quot;:255,&quot;left&quot;:23,&quot;top&quot;:83,&quot;width&quot;:646}"/>
</p:tagLst>
</file>

<file path=ppt/tags/tag4.xml><?xml version="1.0" encoding="utf-8"?>
<p:tagLst xmlns:p="http://schemas.openxmlformats.org/presentationml/2006/main">
  <p:tag name="KSO_WM_DIAGRAM_VIRTUALLY_FRAME" val="{&quot;height&quot;:255,&quot;left&quot;:23,&quot;top&quot;:83,&quot;width&quot;:646}"/>
</p:tagLst>
</file>

<file path=ppt/tags/tag5.xml><?xml version="1.0" encoding="utf-8"?>
<p:tagLst xmlns:p="http://schemas.openxmlformats.org/presentationml/2006/main">
  <p:tag name="KSO_WM_DIAGRAM_VIRTUALLY_FRAME" val="{&quot;height&quot;:255,&quot;left&quot;:23,&quot;top&quot;:83,&quot;width&quot;:646}"/>
</p:tagLst>
</file>

<file path=ppt/tags/tag6.xml><?xml version="1.0" encoding="utf-8"?>
<p:tagLst xmlns:p="http://schemas.openxmlformats.org/presentationml/2006/main">
  <p:tag name="KSO_WM_DIAGRAM_VIRTUALLY_FRAME" val="{&quot;height&quot;:255,&quot;left&quot;:23,&quot;top&quot;:83,&quot;width&quot;:646}"/>
</p:tagLst>
</file>

<file path=ppt/tags/tag7.xml><?xml version="1.0" encoding="utf-8"?>
<p:tagLst xmlns:p="http://schemas.openxmlformats.org/presentationml/2006/main">
  <p:tag name="KSO_WM_DIAGRAM_VIRTUALLY_FRAME" val="{&quot;height&quot;:255,&quot;left&quot;:23,&quot;top&quot;:83,&quot;width&quot;:646}"/>
</p:tagLst>
</file>

<file path=ppt/tags/tag8.xml><?xml version="1.0" encoding="utf-8"?>
<p:tagLst xmlns:p="http://schemas.openxmlformats.org/presentationml/2006/main">
  <p:tag name="KSO_WM_DIAGRAM_VIRTUALLY_FRAME" val="{&quot;height&quot;:255,&quot;left&quot;:23,&quot;top&quot;:83,&quot;width&quot;:646}"/>
</p:tagLst>
</file>

<file path=ppt/tags/tag9.xml><?xml version="1.0" encoding="utf-8"?>
<p:tagLst xmlns:p="http://schemas.openxmlformats.org/presentationml/2006/main">
  <p:tag name="KSO_WM_DIAGRAM_VIRTUALLY_FRAME" val="{&quot;height&quot;:255,&quot;left&quot;:23,&quot;top&quot;:83,&quot;width&quot;:646}"/>
</p:tagLst>
</file>

<file path=ppt/tags/tag10.xml><?xml version="1.0" encoding="utf-8"?>
<p:tagLst xmlns:p="http://schemas.openxmlformats.org/presentationml/2006/main">
  <p:tag name="KSO_WM_DIAGRAM_VIRTUALLY_FRAME" val="{&quot;height&quot;:255,&quot;left&quot;:23,&quot;top&quot;:83,&quot;width&quot;:646}"/>
</p:tagLst>
</file>

<file path=ppt/tags/tag11.xml><?xml version="1.0" encoding="utf-8"?>
<p:tagLst xmlns:p="http://schemas.openxmlformats.org/presentationml/2006/main">
  <p:tag name="KSO_WM_DIAGRAM_VIRTUALLY_FRAME" val="{&quot;height&quot;:255,&quot;left&quot;:23,&quot;top&quot;:83,&quot;width&quot;:646}"/>
</p:tagLst>
</file>

<file path=ppt/tags/tag12.xml><?xml version="1.0" encoding="utf-8"?>
<p:tagLst xmlns:p="http://schemas.openxmlformats.org/presentationml/2006/main">
  <p:tag name="KSO_WM_DIAGRAM_VIRTUALLY_FRAME" val="{&quot;height&quot;:255,&quot;left&quot;:23,&quot;top&quot;:83,&quot;width&quot;:646}"/>
</p:tagLst>
</file>

<file path=ppt/tags/tag13.xml><?xml version="1.0" encoding="utf-8"?>
<p:tagLst xmlns:p="http://schemas.openxmlformats.org/presentationml/2006/main">
  <p:tag name="KSO_WM_DIAGRAM_VIRTUALLY_FRAME" val="{&quot;height&quot;:255,&quot;left&quot;:23,&quot;top&quot;:83,&quot;width&quot;:646}"/>
</p:tagLst>
</file>

<file path=ppt/tags/tag14.xml><?xml version="1.0" encoding="utf-8"?>
<p:tagLst xmlns:p="http://schemas.openxmlformats.org/presentationml/2006/main">
  <p:tag name="KSO_WM_DIAGRAM_VIRTUALLY_FRAME" val="{&quot;height&quot;:255,&quot;left&quot;:23,&quot;top&quot;:83,&quot;width&quot;:646}"/>
</p:tagLst>
</file>

<file path=ppt/tags/tag15.xml><?xml version="1.0" encoding="utf-8"?>
<p:tagLst xmlns:p="http://schemas.openxmlformats.org/presentationml/2006/main">
  <p:tag name="KSO_WM_DIAGRAM_VIRTUALLY_FRAME" val="{&quot;height&quot;:138.75000000000006,&quot;left&quot;:45,&quot;top&quot;:104.65,&quot;width&quot;:632.55}"/>
</p:tagLst>
</file>

<file path=ppt/tags/tag16.xml><?xml version="1.0" encoding="utf-8"?>
<p:tagLst xmlns:p="http://schemas.openxmlformats.org/presentationml/2006/main">
  <p:tag name="KSO_WM_DIAGRAM_VIRTUALLY_FRAME" val="{&quot;height&quot;:138.75000000000006,&quot;left&quot;:45,&quot;top&quot;:104.65,&quot;width&quot;:632.55}"/>
</p:tagLst>
</file>

<file path=ppt/tags/tag17.xml><?xml version="1.0" encoding="utf-8"?>
<p:tagLst xmlns:p="http://schemas.openxmlformats.org/presentationml/2006/main">
  <p:tag name="KSO_WM_DIAGRAM_VIRTUALLY_FRAME" val="{&quot;height&quot;:138.75000000000006,&quot;left&quot;:45,&quot;top&quot;:104.65,&quot;width&quot;:632.55}"/>
</p:tagLst>
</file>

<file path=ppt/tags/tag18.xml><?xml version="1.0" encoding="utf-8"?>
<p:tagLst xmlns:p="http://schemas.openxmlformats.org/presentationml/2006/main">
  <p:tag name="KSO_WM_DIAGRAM_VIRTUALLY_FRAME" val="{&quot;height&quot;:138.75000000000006,&quot;left&quot;:45,&quot;top&quot;:104.65,&quot;width&quot;:632.55}"/>
</p:tagLst>
</file>

<file path=ppt/tags/tag19.xml><?xml version="1.0" encoding="utf-8"?>
<p:tagLst xmlns:p="http://schemas.openxmlformats.org/presentationml/2006/main">
  <p:tag name="KSO_WM_DIAGRAM_VIRTUALLY_FRAME" val="{&quot;height&quot;:138.75000000000006,&quot;left&quot;:45,&quot;top&quot;:104.65,&quot;width&quot;:632.55}"/>
</p:tagLst>
</file>

<file path=ppt/tags/tag20.xml><?xml version="1.0" encoding="utf-8"?>
<p:tagLst xmlns:p="http://schemas.openxmlformats.org/presentationml/2006/main">
  <p:tag name="KSO_WM_DIAGRAM_VIRTUALLY_FRAME" val="{&quot;height&quot;:138.75000000000006,&quot;left&quot;:45,&quot;top&quot;:104.65,&quot;width&quot;:632.55}"/>
</p:tagLst>
</file>

<file path=ppt/tags/tag21.xml><?xml version="1.0" encoding="utf-8"?>
<p:tagLst xmlns:p="http://schemas.openxmlformats.org/presentationml/2006/main">
  <p:tag name="KSO_WM_DIAGRAM_VIRTUALLY_FRAME" val="{&quot;height&quot;:138.75000000000006,&quot;left&quot;:45,&quot;top&quot;:104.65,&quot;width&quot;:632.55}"/>
</p:tagLst>
</file>

<file path=ppt/tags/tag22.xml><?xml version="1.0" encoding="utf-8"?>
<p:tagLst xmlns:p="http://schemas.openxmlformats.org/presentationml/2006/main">
  <p:tag name="KSO_WM_DIAGRAM_VIRTUALLY_FRAME" val="{&quot;height&quot;:138.75000000000006,&quot;left&quot;:45,&quot;top&quot;:104.65,&quot;width&quot;:632.55}"/>
</p:tagLst>
</file>

<file path=ppt/tags/tag23.xml><?xml version="1.0" encoding="utf-8"?>
<p:tagLst xmlns:p="http://schemas.openxmlformats.org/presentationml/2006/main">
  <p:tag name="KSO_WM_DIAGRAM_VIRTUALLY_FRAME" val="{&quot;height&quot;:138.75000000000006,&quot;left&quot;:45,&quot;top&quot;:104.65,&quot;width&quot;:632.55}"/>
</p:tagLst>
</file>

<file path=ppt/tags/tag24.xml><?xml version="1.0" encoding="utf-8"?>
<p:tagLst xmlns:p="http://schemas.openxmlformats.org/presentationml/2006/main">
  <p:tag name="KSO_WM_DIAGRAM_VIRTUALLY_FRAME" val="{&quot;height&quot;:195,&quot;left&quot;:45,&quot;top&quot;:82.5,&quot;width&quot;:630}"/>
</p:tagLst>
</file>

<file path=ppt/tags/tag25.xml><?xml version="1.0" encoding="utf-8"?>
<p:tagLst xmlns:p="http://schemas.openxmlformats.org/presentationml/2006/main">
  <p:tag name="KSO_WM_DIAGRAM_VIRTUALLY_FRAME" val="{&quot;height&quot;:195,&quot;left&quot;:45,&quot;top&quot;:82.5,&quot;width&quot;:630}"/>
</p:tagLst>
</file>

<file path=ppt/tags/tag26.xml><?xml version="1.0" encoding="utf-8"?>
<p:tagLst xmlns:p="http://schemas.openxmlformats.org/presentationml/2006/main">
  <p:tag name="KSO_WM_DIAGRAM_VIRTUALLY_FRAME" val="{&quot;height&quot;:195,&quot;left&quot;:45,&quot;top&quot;:82.5,&quot;width&quot;:630}"/>
</p:tagLst>
</file>

<file path=ppt/tags/tag27.xml><?xml version="1.0" encoding="utf-8"?>
<p:tagLst xmlns:p="http://schemas.openxmlformats.org/presentationml/2006/main">
  <p:tag name="KSO_WM_DIAGRAM_VIRTUALLY_FRAME" val="{&quot;height&quot;:195,&quot;left&quot;:45,&quot;top&quot;:82.5,&quot;width&quot;:630}"/>
</p:tagLst>
</file>

<file path=ppt/tags/tag28.xml><?xml version="1.0" encoding="utf-8"?>
<p:tagLst xmlns:p="http://schemas.openxmlformats.org/presentationml/2006/main">
  <p:tag name="KSO_WM_DIAGRAM_VIRTUALLY_FRAME" val="{&quot;height&quot;:195,&quot;left&quot;:45,&quot;top&quot;:82.5,&quot;width&quot;:630}"/>
</p:tagLst>
</file>

<file path=ppt/tags/tag29.xml><?xml version="1.0" encoding="utf-8"?>
<p:tagLst xmlns:p="http://schemas.openxmlformats.org/presentationml/2006/main">
  <p:tag name="KSO_WM_DIAGRAM_VIRTUALLY_FRAME" val="{&quot;height&quot;:195,&quot;left&quot;:45,&quot;top&quot;:82.5,&quot;width&quot;:630}"/>
</p:tagLst>
</file>

<file path=ppt/tags/tag30.xml><?xml version="1.0" encoding="utf-8"?>
<p:tagLst xmlns:p="http://schemas.openxmlformats.org/presentationml/2006/main">
  <p:tag name="KSO_WM_DIAGRAM_VIRTUALLY_FRAME" val="{&quot;height&quot;:195,&quot;left&quot;:45,&quot;top&quot;:82.5,&quot;width&quot;:630}"/>
</p:tagLst>
</file>

<file path=ppt/tags/tag31.xml><?xml version="1.0" encoding="utf-8"?>
<p:tagLst xmlns:p="http://schemas.openxmlformats.org/presentationml/2006/main">
  <p:tag name="KSO_WM_DIAGRAM_VIRTUALLY_FRAME" val="{&quot;height&quot;:195,&quot;left&quot;:45,&quot;top&quot;:82.5,&quot;width&quot;:630}"/>
</p:tagLst>
</file>

<file path=ppt/tags/tag32.xml><?xml version="1.0" encoding="utf-8"?>
<p:tagLst xmlns:p="http://schemas.openxmlformats.org/presentationml/2006/main">
  <p:tag name="KSO_WM_DIAGRAM_VIRTUALLY_FRAME" val="{&quot;height&quot;:195,&quot;left&quot;:45,&quot;top&quot;:82.5,&quot;width&quot;:630}"/>
</p:tagLst>
</file>

<file path=ppt/tags/tag33.xml><?xml version="1.0" encoding="utf-8"?>
<p:tagLst xmlns:p="http://schemas.openxmlformats.org/presentationml/2006/main">
  <p:tag name="KSO_WM_DIAGRAM_VIRTUALLY_FRAME" val="{&quot;height&quot;:284.6,&quot;left&quot;:38.65,&quot;top&quot;:92.15,&quot;width&quot;:637.35}"/>
</p:tagLst>
</file>

<file path=ppt/tags/tag34.xml><?xml version="1.0" encoding="utf-8"?>
<p:tagLst xmlns:p="http://schemas.openxmlformats.org/presentationml/2006/main">
  <p:tag name="KSO_WM_DIAGRAM_VIRTUALLY_FRAME" val="{&quot;height&quot;:284.6,&quot;left&quot;:38.65,&quot;top&quot;:92.15,&quot;width&quot;:637.35}"/>
</p:tagLst>
</file>

<file path=ppt/tags/tag35.xml><?xml version="1.0" encoding="utf-8"?>
<p:tagLst xmlns:p="http://schemas.openxmlformats.org/presentationml/2006/main">
  <p:tag name="KSO_WM_DIAGRAM_VIRTUALLY_FRAME" val="{&quot;height&quot;:284.6,&quot;left&quot;:38.65,&quot;top&quot;:92.15,&quot;width&quot;:637.35}"/>
</p:tagLst>
</file>

<file path=ppt/tags/tag36.xml><?xml version="1.0" encoding="utf-8"?>
<p:tagLst xmlns:p="http://schemas.openxmlformats.org/presentationml/2006/main">
  <p:tag name="KSO_WM_DIAGRAM_VIRTUALLY_FRAME" val="{&quot;height&quot;:284.6,&quot;left&quot;:38.65,&quot;top&quot;:92.15,&quot;width&quot;:637.35}"/>
</p:tagLst>
</file>

<file path=ppt/tags/tag37.xml><?xml version="1.0" encoding="utf-8"?>
<p:tagLst xmlns:p="http://schemas.openxmlformats.org/presentationml/2006/main">
  <p:tag name="KSO_WM_DIAGRAM_VIRTUALLY_FRAME" val="{&quot;height&quot;:284.6,&quot;left&quot;:38.65,&quot;top&quot;:92.15,&quot;width&quot;:637.35}"/>
</p:tagLst>
</file>

<file path=ppt/tags/tag38.xml><?xml version="1.0" encoding="utf-8"?>
<p:tagLst xmlns:p="http://schemas.openxmlformats.org/presentationml/2006/main">
  <p:tag name="KSO_WM_DIAGRAM_VIRTUALLY_FRAME" val="{&quot;height&quot;:284.6,&quot;left&quot;:38.65,&quot;top&quot;:92.15,&quot;width&quot;:637.35}"/>
</p:tagLst>
</file>

<file path=ppt/tags/tag39.xml><?xml version="1.0" encoding="utf-8"?>
<p:tagLst xmlns:p="http://schemas.openxmlformats.org/presentationml/2006/main">
  <p:tag name="KSO_WM_DIAGRAM_VIRTUALLY_FRAME" val="{&quot;height&quot;:284.6,&quot;left&quot;:38.65,&quot;top&quot;:92.15,&quot;width&quot;:637.35}"/>
</p:tagLst>
</file>

<file path=ppt/tags/tag40.xml><?xml version="1.0" encoding="utf-8"?>
<p:tagLst xmlns:p="http://schemas.openxmlformats.org/presentationml/2006/main">
  <p:tag name="KSO_WM_DIAGRAM_VIRTUALLY_FRAME" val="{&quot;height&quot;:284.6,&quot;left&quot;:38.65,&quot;top&quot;:92.15,&quot;width&quot;:637.35}"/>
</p:tagLst>
</file>

<file path=ppt/tags/tag41.xml><?xml version="1.0" encoding="utf-8"?>
<p:tagLst xmlns:p="http://schemas.openxmlformats.org/presentationml/2006/main">
  <p:tag name="KSO_WM_DIAGRAM_VIRTUALLY_FRAME" val="{&quot;height&quot;:284.6,&quot;left&quot;:38.65,&quot;top&quot;:92.15,&quot;width&quot;:637.35}"/>
</p:tagLst>
</file>

<file path=ppt/tags/tag42.xml><?xml version="1.0" encoding="utf-8"?>
<p:tagLst xmlns:p="http://schemas.openxmlformats.org/presentationml/2006/main">
  <p:tag name="KSO_WM_DIAGRAM_VIRTUALLY_FRAME" val="{&quot;height&quot;:284.6,&quot;left&quot;:38.65,&quot;top&quot;:92.15,&quot;width&quot;:637.35}"/>
</p:tagLst>
</file>

<file path=ppt/tags/tag43.xml><?xml version="1.0" encoding="utf-8"?>
<p:tagLst xmlns:p="http://schemas.openxmlformats.org/presentationml/2006/main">
  <p:tag name="KSO_WM_DIAGRAM_VIRTUALLY_FRAME" val="{&quot;height&quot;:284.6,&quot;left&quot;:38.65,&quot;top&quot;:92.15,&quot;width&quot;:637.35}"/>
</p:tagLst>
</file>

<file path=ppt/tags/tag44.xml><?xml version="1.0" encoding="utf-8"?>
<p:tagLst xmlns:p="http://schemas.openxmlformats.org/presentationml/2006/main">
  <p:tag name="KSO_WM_DIAGRAM_VIRTUALLY_FRAME" val="{&quot;height&quot;:284.6,&quot;left&quot;:38.65,&quot;top&quot;:92.15,&quot;width&quot;:637.35}"/>
</p:tagLst>
</file>

<file path=ppt/tags/tag45.xml><?xml version="1.0" encoding="utf-8"?>
<p:tagLst xmlns:p="http://schemas.openxmlformats.org/presentationml/2006/main">
  <p:tag name="KSO_WM_DIAGRAM_VIRTUALLY_FRAME" val="{&quot;height&quot;:284.6,&quot;left&quot;:38.65,&quot;top&quot;:92.15,&quot;width&quot;:637.35}"/>
</p:tagLst>
</file>

<file path=ppt/tags/tag46.xml><?xml version="1.0" encoding="utf-8"?>
<p:tagLst xmlns:p="http://schemas.openxmlformats.org/presentationml/2006/main">
  <p:tag name="KSO_WM_DIAGRAM_VIRTUALLY_FRAME" val="{&quot;height&quot;:284.6,&quot;left&quot;:38.65,&quot;top&quot;:92.15,&quot;width&quot;:637.35}"/>
</p:tagLst>
</file>

<file path=ppt/tags/tag47.xml><?xml version="1.0" encoding="utf-8"?>
<p:tagLst xmlns:p="http://schemas.openxmlformats.org/presentationml/2006/main">
  <p:tag name="KSO_WM_DIAGRAM_VIRTUALLY_FRAME" val="{&quot;height&quot;:284.6,&quot;left&quot;:38.65,&quot;top&quot;:92.15,&quot;width&quot;:637.35}"/>
</p:tagLst>
</file>

<file path=ppt/tags/tag48.xml><?xml version="1.0" encoding="utf-8"?>
<p:tagLst xmlns:p="http://schemas.openxmlformats.org/presentationml/2006/main">
  <p:tag name="KSO_WM_DIAGRAM_VIRTUALLY_FRAME" val="{&quot;height&quot;:284.6,&quot;left&quot;:38.65,&quot;top&quot;:92.15,&quot;width&quot;:637.35}"/>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43363</Words>
  <Application>WPS 演示</Application>
  <PresentationFormat>全屏显示(16:9)</PresentationFormat>
  <Paragraphs>830</Paragraphs>
  <Slides>38</Slides>
  <Notes>37</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38</vt:i4>
      </vt:variant>
    </vt:vector>
  </HeadingPairs>
  <TitlesOfParts>
    <vt:vector size="52" baseType="lpstr">
      <vt:lpstr>Arial</vt:lpstr>
      <vt:lpstr>宋体</vt:lpstr>
      <vt:lpstr>Wingdings</vt:lpstr>
      <vt:lpstr>Arial</vt:lpstr>
      <vt:lpstr>Calibri</vt:lpstr>
      <vt:lpstr>Noto Sans SC</vt:lpstr>
      <vt:lpstr>Times New Roman</vt:lpstr>
      <vt:lpstr>微软雅黑</vt:lpstr>
      <vt:lpstr>Cambria Math</vt:lpstr>
      <vt:lpstr>等线</vt:lpstr>
      <vt:lpstr>Arial Unicode MS</vt:lpstr>
      <vt:lpstr>MS PGothic</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WPS_1605834983</cp:lastModifiedBy>
  <cp:revision>34</cp:revision>
  <dcterms:created xsi:type="dcterms:W3CDTF">2026-05-17T06:17:00Z</dcterms:created>
  <dcterms:modified xsi:type="dcterms:W3CDTF">2026-05-18T08:57:33Z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4902EB89A53B4E6EAD29E2E1FA69BA4F_12</vt:lpwstr>
  </property>
</Properties>
</file>